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70" r:id="rId6"/>
    <p:sldId id="260" r:id="rId7"/>
    <p:sldId id="275" r:id="rId8"/>
    <p:sldId id="267" r:id="rId9"/>
    <p:sldId id="261" r:id="rId10"/>
    <p:sldId id="262" r:id="rId11"/>
    <p:sldId id="263" r:id="rId12"/>
    <p:sldId id="264" r:id="rId13"/>
    <p:sldId id="265" r:id="rId14"/>
    <p:sldId id="269" r:id="rId15"/>
    <p:sldId id="274" r:id="rId16"/>
    <p:sldId id="279" r:id="rId17"/>
    <p:sldId id="280" r:id="rId18"/>
    <p:sldId id="287" r:id="rId19"/>
    <p:sldId id="286" r:id="rId20"/>
    <p:sldId id="281" r:id="rId21"/>
    <p:sldId id="283" r:id="rId22"/>
    <p:sldId id="271" r:id="rId23"/>
    <p:sldId id="282" r:id="rId24"/>
    <p:sldId id="284" r:id="rId25"/>
    <p:sldId id="273" r:id="rId26"/>
    <p:sldId id="276" r:id="rId27"/>
  </p:sldIdLst>
  <p:sldSz cx="12192000" cy="6858000"/>
  <p:notesSz cx="6858000" cy="12192000"/>
  <p:embeddedFontLst>
    <p:embeddedFont>
      <p:font typeface="MiSans" panose="020B0604020202020204" charset="-122"/>
      <p:regular r:id="rId29"/>
    </p:embeddedFont>
    <p:embeddedFont>
      <p:font typeface="Hedvig Letters Sans" panose="020B0604020202020204" charset="0"/>
      <p:regular r:id="rId30"/>
    </p:embeddedFont>
    <p:embeddedFont>
      <p:font typeface="Liter"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FE6806-79E4-4D16-8501-57CB9BEB053B}">
          <p14:sldIdLst>
            <p14:sldId id="256"/>
            <p14:sldId id="257"/>
            <p14:sldId id="258"/>
            <p14:sldId id="259"/>
            <p14:sldId id="270"/>
            <p14:sldId id="260"/>
            <p14:sldId id="275"/>
            <p14:sldId id="267"/>
            <p14:sldId id="261"/>
            <p14:sldId id="262"/>
            <p14:sldId id="263"/>
            <p14:sldId id="264"/>
            <p14:sldId id="265"/>
            <p14:sldId id="269"/>
            <p14:sldId id="274"/>
            <p14:sldId id="279"/>
            <p14:sldId id="280"/>
            <p14:sldId id="287"/>
            <p14:sldId id="286"/>
            <p14:sldId id="281"/>
            <p14:sldId id="283"/>
            <p14:sldId id="271"/>
            <p14:sldId id="282"/>
            <p14:sldId id="284"/>
            <p14:sldId id="273"/>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F4900D-E849-4DD3-A22F-96AD0640B796}" v="469" dt="2026-02-09T02:41:25.801"/>
    <p1510:client id="{356DF8C0-08B1-442C-9EEE-CEF8D336C1ED}" v="11" dt="2026-02-09T01:25:02.706"/>
    <p1510:client id="{5E50A6D6-4E08-4276-9DB5-5AE761A3FA10}" v="5" dt="2026-02-09T01:52:51"/>
    <p1510:client id="{6FD19571-BDC9-39D0-C73E-682CED27869F}" v="74" dt="2026-02-09T01:57:05.194"/>
    <p1510:client id="{7F6CDDDF-A3EE-F179-DD67-0F9F308A8892}" v="146" dt="2026-02-09T02:41:40.158"/>
    <p1510:client id="{9A8BDAD1-7859-ACA3-D2BC-5E7B7B7ABDFB}" v="1059" dt="2026-02-09T02:42:54.390"/>
    <p1510:client id="{E47B452A-28AC-F8D8-A6D3-82AF60E94F3C}" v="704" dt="2026-02-09T00:45:32.2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524B297-7BA3-4D84-A5B8-99E0A54D9F92}" type="datetimeFigureOut">
              <a:t>2/8/2026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1A17B4C-47D0-4CBD-A5B6-715F0C7C4D02}" type="slidenum">
              <a:t>‹#›</a:t>
            </a:fld>
            <a:endParaRPr lang="en-GB"/>
          </a:p>
        </p:txBody>
      </p:sp>
    </p:spTree>
    <p:extLst>
      <p:ext uri="{BB962C8B-B14F-4D97-AF65-F5344CB8AC3E}">
        <p14:creationId xmlns:p14="http://schemas.microsoft.com/office/powerpoint/2010/main" val="209158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Management’s core objective is to increase paid subscriptions quickly using a data-driven approach.</a:t>
            </a:r>
          </a:p>
          <a:p>
            <a:r>
              <a:rPr lang="en-US"/>
              <a:t>However, the freemium model creates important constraints. Free users still generate advertising revenue, so targeting the wrong users has an opportunity cost.</a:t>
            </a:r>
            <a:endParaRPr lang="en-US">
              <a:ea typeface="Calibri"/>
              <a:cs typeface="Calibri"/>
            </a:endParaRPr>
          </a:p>
          <a:p>
            <a:r>
              <a:rPr lang="en-US"/>
              <a:t>Additionally, the promotional offer, three months free with an assumed one-year retention if converted - means profitability depends heavily on </a:t>
            </a:r>
            <a:r>
              <a:rPr lang="en-US" i="1"/>
              <a:t>who</a:t>
            </a:r>
            <a:r>
              <a:rPr lang="en-US"/>
              <a:t> we target, not just how many.</a:t>
            </a:r>
            <a:endParaRPr lang="en-US">
              <a:ea typeface="Calibri"/>
              <a:cs typeface="Calibri"/>
            </a:endParaRPr>
          </a:p>
          <a:p>
            <a:r>
              <a:rPr lang="en-US"/>
              <a:t>Our analysis is designed to explicitly account for these trade-offs and support evidence-based decision-making.</a:t>
            </a:r>
            <a:endParaRPr lang="en-US">
              <a:ea typeface="Calibri" panose="020F0502020204030204"/>
              <a:cs typeface="Calibri" panose="020F0502020204030204"/>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dataset has a natural temporal structure that allows us to examine user behavior over time.</a:t>
            </a:r>
            <a:endParaRPr lang="en-US">
              <a:ea typeface="Calibri"/>
              <a:cs typeface="Calibri"/>
            </a:endParaRPr>
          </a:p>
          <a:p>
            <a:r>
              <a:rPr lang="en-US"/>
              <a:t>We observe behavior before the current period (PRE), engagement levels during the current period, and outcomes after the decision window (POST).</a:t>
            </a:r>
            <a:endParaRPr lang="en-US">
              <a:ea typeface="Calibri"/>
              <a:cs typeface="Calibri"/>
            </a:endParaRPr>
          </a:p>
          <a:p>
            <a:r>
              <a:rPr lang="en-US"/>
              <a:t>This enables two modeling perspectives:</a:t>
            </a:r>
            <a:br>
              <a:rPr lang="en-US" dirty="0">
                <a:cs typeface="+mn-lt"/>
              </a:rPr>
            </a:br>
            <a:r>
              <a:rPr lang="en-US"/>
              <a:t> – A Level model, which captures how engaged users are right now</a:t>
            </a:r>
            <a:br>
              <a:rPr lang="en-US" dirty="0">
                <a:cs typeface="+mn-lt"/>
              </a:rPr>
            </a:br>
            <a:r>
              <a:rPr lang="en-US"/>
              <a:t> – A Delta model, which captures how user behavior is changing over time</a:t>
            </a:r>
            <a:endParaRPr lang="en-US">
              <a:ea typeface="Calibri"/>
              <a:cs typeface="Calibri"/>
            </a:endParaRPr>
          </a:p>
          <a:p>
            <a:r>
              <a:rPr lang="en-US"/>
              <a:t>This distinction matters because growth momentum may signal future intent even when current usage is moderate.</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exploratory analysis shows that subscription decisions are driven primarily by </a:t>
            </a:r>
            <a:r>
              <a:rPr lang="en-US" i="1"/>
              <a:t>behavioral intensity</a:t>
            </a:r>
            <a:r>
              <a:rPr lang="en-US"/>
              <a:t> and </a:t>
            </a:r>
            <a:r>
              <a:rPr lang="en-US" i="1"/>
              <a:t>social embeddedness</a:t>
            </a:r>
            <a:r>
              <a:rPr lang="en-US"/>
              <a:t>, rather than demographics alone.</a:t>
            </a:r>
          </a:p>
          <a:p>
            <a:r>
              <a:rPr lang="en-US"/>
              <a:t>Users who listen to more songs, actively curate playlists, and mark tracks as loved are much more likely to convert.</a:t>
            </a:r>
            <a:endParaRPr lang="en-US">
              <a:ea typeface="Calibri"/>
              <a:cs typeface="Calibri"/>
            </a:endParaRPr>
          </a:p>
          <a:p>
            <a:r>
              <a:rPr lang="en-US"/>
              <a:t>Social exposure, especially having friends who are already subscribers - further increases conversion likelihood.</a:t>
            </a:r>
          </a:p>
          <a:p>
            <a:r>
              <a:rPr lang="en-US"/>
              <a:t>Importantly, users who show increasing engagement over time often signal latent intent, reinforcing the value of behavioral trends.</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understand who we should target, we first needed a way to rank customers by how likely they are to subscribe, not by intuition, but by data.</a:t>
            </a:r>
            <a:endParaRPr lang="en-US">
              <a:ea typeface="Calibri"/>
              <a:cs typeface="Calibri"/>
            </a:endParaRPr>
          </a:p>
          <a:p>
            <a:r>
              <a:rPr lang="en-US"/>
              <a:t>Instead of labeling users as “good” or “bad” upfront, we let the model do the ordering.</a:t>
            </a:r>
            <a:br>
              <a:rPr lang="en-US" dirty="0">
                <a:cs typeface="+mn-lt"/>
              </a:rPr>
            </a:br>
            <a:r>
              <a:rPr lang="en-US"/>
              <a:t> Each user receives a predicted probability of subscription from our logistic regression model. We then sort all users from lowest to highest predicted probability and split them into 10 equal-sized groups, called deciles.</a:t>
            </a:r>
            <a:endParaRPr lang="en-US">
              <a:ea typeface="Calibri"/>
              <a:cs typeface="Calibri"/>
            </a:endParaRPr>
          </a:p>
          <a:p>
            <a:r>
              <a:rPr lang="en-US"/>
              <a:t>Each decile contains 10% of users, ranked purely by model score, nothing else.</a:t>
            </a:r>
            <a:endParaRPr lang="en-US">
              <a:ea typeface="Calibri"/>
              <a:cs typeface="Calibri"/>
            </a:endParaRPr>
          </a:p>
          <a:p>
            <a:r>
              <a:rPr lang="en-US"/>
              <a:t>This step is important because:</a:t>
            </a:r>
            <a:endParaRPr lang="en-US">
              <a:ea typeface="Calibri"/>
              <a:cs typeface="Calibri"/>
            </a:endParaRPr>
          </a:p>
          <a:p>
            <a:pPr marL="285750" indent="-285750">
              <a:buFont typeface="Arial"/>
              <a:buChar char="•"/>
            </a:pPr>
            <a:r>
              <a:rPr lang="en-US"/>
              <a:t>It converts a complex model into clear customer segments</a:t>
            </a:r>
            <a:endParaRPr lang="en-US">
              <a:ea typeface="Calibri"/>
              <a:cs typeface="Calibri"/>
            </a:endParaRPr>
          </a:p>
          <a:p>
            <a:pPr marL="285750" indent="-285750">
              <a:buFont typeface="Arial"/>
              <a:buChar char="•"/>
            </a:pPr>
            <a:r>
              <a:rPr lang="en-US"/>
              <a:t>It allows us to compare behavioral patterns across risk tiers</a:t>
            </a:r>
            <a:endParaRPr lang="en-US">
              <a:ea typeface="Calibri"/>
              <a:cs typeface="Calibri"/>
            </a:endParaRPr>
          </a:p>
          <a:p>
            <a:pPr marL="285750" indent="-285750">
              <a:buFont typeface="Arial"/>
              <a:buChar char="•"/>
            </a:pPr>
            <a:r>
              <a:rPr lang="en-US"/>
              <a:t>And it directly supports targeting and profit decisions</a:t>
            </a:r>
            <a:endParaRPr lang="en-US">
              <a:ea typeface="Calibri"/>
              <a:cs typeface="Calibri"/>
            </a:endParaRPr>
          </a:p>
          <a:p>
            <a:r>
              <a:rPr lang="en-US"/>
              <a:t>Once the deciles were created, we did not assume what types of users they contained.</a:t>
            </a:r>
            <a:br>
              <a:rPr lang="en-US" dirty="0">
                <a:cs typeface="+mn-lt"/>
              </a:rPr>
            </a:br>
            <a:r>
              <a:rPr lang="en-US"/>
              <a:t> Instead, we profiled each decile after the fact by averaging key behavioral variables:</a:t>
            </a:r>
            <a:endParaRPr lang="en-US">
              <a:ea typeface="Calibri"/>
              <a:cs typeface="Calibri"/>
            </a:endParaRPr>
          </a:p>
          <a:p>
            <a:pPr marL="285750" indent="-285750">
              <a:buFont typeface="Arial"/>
              <a:buChar char="•"/>
            </a:pPr>
            <a:r>
              <a:rPr lang="en-US"/>
              <a:t>Songs listened</a:t>
            </a:r>
            <a:endParaRPr lang="en-US">
              <a:ea typeface="Calibri"/>
              <a:cs typeface="Calibri"/>
            </a:endParaRPr>
          </a:p>
          <a:p>
            <a:pPr marL="285750" indent="-285750">
              <a:buFont typeface="Arial"/>
              <a:buChar char="•"/>
            </a:pPr>
            <a:r>
              <a:rPr lang="en-US"/>
              <a:t>Loved tracks</a:t>
            </a:r>
            <a:endParaRPr lang="en-US">
              <a:ea typeface="Calibri"/>
              <a:cs typeface="Calibri"/>
            </a:endParaRPr>
          </a:p>
          <a:p>
            <a:pPr marL="285750" indent="-285750">
              <a:buFont typeface="Arial"/>
              <a:buChar char="•"/>
            </a:pPr>
            <a:r>
              <a:rPr lang="en-US"/>
              <a:t>Number of subscriber friends</a:t>
            </a:r>
            <a:endParaRPr lang="en-US">
              <a:ea typeface="Calibri"/>
              <a:cs typeface="Calibri"/>
            </a:endParaRPr>
          </a:p>
          <a:p>
            <a:pPr marL="285750" indent="-285750">
              <a:buFont typeface="Arial"/>
              <a:buChar char="•"/>
            </a:pPr>
            <a:r>
              <a:rPr lang="en-US"/>
              <a:t>And actual adoption rate</a:t>
            </a:r>
            <a:endParaRPr lang="en-US">
              <a:ea typeface="Calibri"/>
              <a:cs typeface="Calibri"/>
            </a:endParaRPr>
          </a:p>
          <a:p>
            <a:r>
              <a:rPr lang="en-US"/>
              <a:t>That’s how these patterns emerge.</a:t>
            </a:r>
            <a:endParaRPr lang="en-US">
              <a:ea typeface="Calibri"/>
              <a:cs typeface="Calibri"/>
            </a:endParaRPr>
          </a:p>
          <a:p>
            <a:r>
              <a:rPr lang="en-US"/>
              <a:t>At the bottom deciles (1–5), we see:</a:t>
            </a:r>
            <a:endParaRPr lang="en-US">
              <a:ea typeface="Calibri"/>
              <a:cs typeface="Calibri"/>
            </a:endParaRPr>
          </a:p>
          <a:p>
            <a:pPr marL="285750" indent="-285750">
              <a:buFont typeface="Arial"/>
              <a:buChar char="•"/>
            </a:pPr>
            <a:r>
              <a:rPr lang="en-US"/>
              <a:t>Very low engagement</a:t>
            </a:r>
            <a:endParaRPr lang="en-US">
              <a:ea typeface="Calibri"/>
              <a:cs typeface="Calibri"/>
            </a:endParaRPr>
          </a:p>
          <a:p>
            <a:pPr marL="285750" indent="-285750">
              <a:buFont typeface="Arial"/>
              <a:buChar char="•"/>
            </a:pPr>
            <a:r>
              <a:rPr lang="en-US"/>
              <a:t>Very weak social exposure</a:t>
            </a:r>
            <a:endParaRPr lang="en-US">
              <a:ea typeface="Calibri"/>
              <a:cs typeface="Calibri"/>
            </a:endParaRPr>
          </a:p>
          <a:p>
            <a:pPr marL="285750" indent="-285750">
              <a:buFont typeface="Arial"/>
              <a:buChar char="•"/>
            </a:pPr>
            <a:r>
              <a:rPr lang="en-US"/>
              <a:t>Almost no conversions</a:t>
            </a:r>
            <a:endParaRPr lang="en-US">
              <a:ea typeface="Calibri"/>
              <a:cs typeface="Calibri"/>
            </a:endParaRPr>
          </a:p>
          <a:p>
            <a:r>
              <a:rPr lang="en-US"/>
              <a:t>These users are not good candidates for paid offers, even if we target them, the likelihood of conversion is extremely low.</a:t>
            </a:r>
            <a:endParaRPr lang="en-US">
              <a:ea typeface="Calibri"/>
              <a:cs typeface="Calibri"/>
            </a:endParaRPr>
          </a:p>
          <a:p>
            <a:r>
              <a:rPr lang="en-US"/>
              <a:t>As we move into the middle and upper deciles (7–9):</a:t>
            </a:r>
            <a:endParaRPr lang="en-US">
              <a:ea typeface="Calibri"/>
              <a:cs typeface="Calibri"/>
            </a:endParaRPr>
          </a:p>
          <a:p>
            <a:pPr marL="285750" indent="-285750">
              <a:buFont typeface="Arial"/>
              <a:buChar char="•"/>
            </a:pPr>
            <a:r>
              <a:rPr lang="en-US"/>
              <a:t>Engagement rises sharply</a:t>
            </a:r>
            <a:endParaRPr lang="en-US">
              <a:ea typeface="Calibri"/>
              <a:cs typeface="Calibri"/>
            </a:endParaRPr>
          </a:p>
          <a:p>
            <a:pPr marL="285750" indent="-285750">
              <a:buFont typeface="Arial"/>
              <a:buChar char="•"/>
            </a:pPr>
            <a:r>
              <a:rPr lang="en-US"/>
              <a:t>Social exposure increases</a:t>
            </a:r>
            <a:endParaRPr lang="en-US">
              <a:ea typeface="Calibri"/>
              <a:cs typeface="Calibri"/>
            </a:endParaRPr>
          </a:p>
          <a:p>
            <a:pPr marL="285750" indent="-285750">
              <a:buFont typeface="Arial"/>
              <a:buChar char="•"/>
            </a:pPr>
            <a:r>
              <a:rPr lang="en-US"/>
              <a:t>Adoption rates jump meaningfully</a:t>
            </a:r>
            <a:endParaRPr lang="en-US">
              <a:ea typeface="Calibri"/>
              <a:cs typeface="Calibri"/>
            </a:endParaRPr>
          </a:p>
          <a:p>
            <a:r>
              <a:rPr lang="en-US"/>
              <a:t>This tells us something important: usage intensity alone isn’t enough, subscription likelihood accelerates when high engagement is paired with social influence.</a:t>
            </a:r>
            <a:endParaRPr lang="en-US">
              <a:ea typeface="Calibri"/>
              <a:cs typeface="Calibri"/>
            </a:endParaRPr>
          </a:p>
          <a:p>
            <a:r>
              <a:rPr lang="en-US"/>
              <a:t>Finally, in the top decile:</a:t>
            </a:r>
            <a:endParaRPr lang="en-US">
              <a:ea typeface="Calibri"/>
              <a:cs typeface="Calibri"/>
            </a:endParaRPr>
          </a:p>
          <a:p>
            <a:pPr marL="285750" indent="-285750">
              <a:buFont typeface="Arial"/>
              <a:buChar char="•"/>
            </a:pPr>
            <a:r>
              <a:rPr lang="en-US"/>
              <a:t>Users are heavy listeners</a:t>
            </a:r>
            <a:endParaRPr lang="en-US">
              <a:ea typeface="Calibri"/>
              <a:cs typeface="Calibri"/>
            </a:endParaRPr>
          </a:p>
          <a:p>
            <a:pPr marL="285750" indent="-285750">
              <a:buFont typeface="Arial"/>
              <a:buChar char="•"/>
            </a:pPr>
            <a:r>
              <a:rPr lang="en-US"/>
              <a:t>They actively curate music</a:t>
            </a:r>
            <a:endParaRPr lang="en-US">
              <a:ea typeface="Calibri"/>
              <a:cs typeface="Calibri"/>
            </a:endParaRPr>
          </a:p>
          <a:p>
            <a:pPr marL="285750" indent="-285750">
              <a:buFont typeface="Arial"/>
              <a:buChar char="•"/>
            </a:pPr>
            <a:r>
              <a:rPr lang="en-US"/>
              <a:t>And they are surrounded by paying subscribers</a:t>
            </a:r>
            <a:endParaRPr lang="en-US">
              <a:ea typeface="Calibri"/>
              <a:cs typeface="Calibri"/>
            </a:endParaRPr>
          </a:p>
          <a:p>
            <a:r>
              <a:rPr lang="en-US"/>
              <a:t>These users are already close to converting. The model is effectively identifying latent subscribers, people behaving like paid users, just not paying yet.</a:t>
            </a:r>
            <a:endParaRPr lang="en-US">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1A17B4C-47D0-4CBD-A5B6-715F0C7C4D02}" type="slidenum">
              <a:rPr lang="en-US"/>
              <a:t>5</a:t>
            </a:fld>
            <a:endParaRPr lang="en-US"/>
          </a:p>
        </p:txBody>
      </p:sp>
    </p:spTree>
    <p:extLst>
      <p:ext uri="{BB962C8B-B14F-4D97-AF65-F5344CB8AC3E}">
        <p14:creationId xmlns:p14="http://schemas.microsoft.com/office/powerpoint/2010/main" val="3181872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ultimately select logistic regression as the primary model for this task.</a:t>
            </a:r>
          </a:p>
          <a:p>
            <a:r>
              <a:rPr lang="en-US"/>
              <a:t>While decision trees perform well in some metrics, logistic regression offers calibrated probabilities, which are essential for profit and ROI calculations.</a:t>
            </a:r>
          </a:p>
          <a:p>
            <a:r>
              <a:rPr lang="en-US"/>
              <a:t>The model is stable in the presence of noisy behavioral data and produces interpretable outputs that are easier to explain to management.</a:t>
            </a:r>
          </a:p>
          <a:p>
            <a:r>
              <a:rPr lang="en-US"/>
              <a:t>The odds ratio visualization highlights which behaviors meaningfully increase or decrease the likelihood of conversion, making the results both actionable and defensible.</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also looked at decision trees since they are a popular alternative to logistic regression and are often considered more powerful because they can capture complex patterns.</a:t>
            </a:r>
          </a:p>
          <a:p>
            <a:r>
              <a:rPr lang="en-US"/>
              <a:t>In terms of raw performance, the decision tree does slightly better on metrics like AUC and recall, meaning it identifies more potential converters.</a:t>
            </a:r>
            <a:endParaRPr lang="en-US">
              <a:ea typeface="Calibri"/>
              <a:cs typeface="Calibri"/>
            </a:endParaRPr>
          </a:p>
          <a:p>
            <a:r>
              <a:rPr lang="en-US"/>
              <a:t>However, this comes with a downside. The decision tree produces a higher number of false positives, which from a marketing perspective means spending money on users who are unlikely to convert.</a:t>
            </a:r>
            <a:endParaRPr lang="en-US">
              <a:ea typeface="Calibri"/>
              <a:cs typeface="Calibri"/>
            </a:endParaRPr>
          </a:p>
          <a:p>
            <a:r>
              <a:rPr lang="en-US"/>
              <a:t>Logistic regression provides cleaner targeting. It has higher accuracy and a much lower false positive rate, so marketing efforts remain focused on high-intent users.</a:t>
            </a:r>
            <a:endParaRPr lang="en-US">
              <a:ea typeface="Calibri"/>
              <a:cs typeface="Calibri"/>
            </a:endParaRPr>
          </a:p>
          <a:p>
            <a:r>
              <a:rPr lang="en-US"/>
              <a:t>It is also easier to explain and defend to leadership, which is important when these insights are used to drive real business decisions.</a:t>
            </a:r>
            <a:endParaRPr lang="en-US">
              <a:ea typeface="Calibri"/>
              <a:cs typeface="Calibri"/>
            </a:endParaRPr>
          </a:p>
          <a:p>
            <a:r>
              <a:rPr lang="en-US"/>
              <a:t>Overall, for marketing execution, logistic regression offers a better balance between performance, cost control, and interpretability.</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1A17B4C-47D0-4CBD-A5B6-715F0C7C4D02}" type="slidenum">
              <a:rPr lang="en-US"/>
              <a:t>7</a:t>
            </a:fld>
            <a:endParaRPr lang="en-US"/>
          </a:p>
        </p:txBody>
      </p:sp>
    </p:spTree>
    <p:extLst>
      <p:ext uri="{BB962C8B-B14F-4D97-AF65-F5344CB8AC3E}">
        <p14:creationId xmlns:p14="http://schemas.microsoft.com/office/powerpoint/2010/main" val="2139315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why we chose logistic regression over decision trees.</a:t>
            </a:r>
          </a:p>
          <a:p>
            <a:r>
              <a:rPr lang="en-US"/>
              <a:t>Decision trees are useful for exploration and can capture complex patterns, but they have limitations when it comes to execution. They create step-like probability jumps, tend to overfit small segments, and often produce poorly calibrated probabilities.</a:t>
            </a:r>
            <a:endParaRPr lang="en-US">
              <a:ea typeface="Calibri"/>
              <a:cs typeface="Calibri"/>
            </a:endParaRPr>
          </a:p>
          <a:p>
            <a:r>
              <a:rPr lang="en-US"/>
              <a:t>That’s a problem for marketing, because unstable or </a:t>
            </a:r>
            <a:r>
              <a:rPr lang="en-US" err="1"/>
              <a:t>miscalibrated</a:t>
            </a:r>
            <a:r>
              <a:rPr lang="en-US"/>
              <a:t> probabilities lead to inefficient targeting and wasted spend.</a:t>
            </a:r>
            <a:endParaRPr lang="en-US">
              <a:ea typeface="Calibri"/>
              <a:cs typeface="Calibri"/>
            </a:endParaRPr>
          </a:p>
          <a:p>
            <a:r>
              <a:rPr lang="en-US"/>
              <a:t>Logistic regression avoids these issues. It produces smooth, stable probability rankings that are easier to interpret, explain, and defend, especially when decisions need to be justified to leadership.</a:t>
            </a:r>
          </a:p>
          <a:p>
            <a:r>
              <a:rPr lang="en-US"/>
              <a:t>Overall, while trees are helpful for insights, logistic regression is better suited for decision-making.</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compare two ways of modeling behavior: current levels versus changes over time.</a:t>
            </a:r>
          </a:p>
          <a:p>
            <a:r>
              <a:rPr lang="en-US"/>
              <a:t>The level model slightly outperforms the delta model in terms of AUC, which tells us that absolute usage levels are still the strongest signal for predicting adoption.</a:t>
            </a:r>
            <a:endParaRPr lang="en-US">
              <a:ea typeface="Calibri"/>
              <a:cs typeface="Calibri"/>
            </a:endParaRPr>
          </a:p>
          <a:p>
            <a:r>
              <a:rPr lang="en-US"/>
              <a:t>At the same time, the delta model performs very similarly overall. This tells us that changes in behavior  or momentum - still contain meaningful information about user intent.</a:t>
            </a:r>
          </a:p>
          <a:p>
            <a:r>
              <a:rPr lang="en-US"/>
              <a:t>The key takeaway is that this is not an either-or decision. Level features capture where a user is today, while delta features capture where they’re headed.</a:t>
            </a:r>
            <a:endParaRPr lang="en-US">
              <a:ea typeface="Calibri"/>
              <a:cs typeface="Calibri"/>
            </a:endParaRPr>
          </a:p>
          <a:p>
            <a:r>
              <a:rPr lang="en-US"/>
              <a:t>Because the performance gap is small, the best approach is to combine both. Using level and delta features together allows us to model both current engagement and growth trajectory more effectively.</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evaluates how well the model ranks users for targeting.</a:t>
            </a:r>
          </a:p>
          <a:p>
            <a:r>
              <a:rPr lang="en-US"/>
              <a:t>Users are sorted into deciles based on predicted adoption probability, with higher deciles representing higher predicted intent. Ideally, we want to see adoption rates increase steadily as we move toward the top deciles.</a:t>
            </a:r>
            <a:endParaRPr lang="en-US">
              <a:ea typeface="Calibri"/>
              <a:cs typeface="Calibri"/>
            </a:endParaRPr>
          </a:p>
          <a:p>
            <a:r>
              <a:rPr lang="en-US"/>
              <a:t>That is exactly what we observe here. Both the level and delta logistic models show a clear upward trend, indicating strong and consistent ranking quality.</a:t>
            </a:r>
            <a:endParaRPr lang="en-US">
              <a:ea typeface="Calibri"/>
              <a:cs typeface="Calibri"/>
            </a:endParaRPr>
          </a:p>
          <a:p>
            <a:r>
              <a:rPr lang="en-US"/>
              <a:t>In the top decile, adoption rates are roughly three to four times higher than the overall average. This shows that the model is effectively concentrating high intent users at the top.</a:t>
            </a:r>
            <a:endParaRPr lang="en-US">
              <a:ea typeface="Calibri"/>
              <a:cs typeface="Calibri"/>
            </a:endParaRPr>
          </a:p>
          <a:p>
            <a:r>
              <a:rPr lang="en-US"/>
              <a:t>The delta model closely follows the level model across deciles, which confirms that changes in user behavior add meaningful signal rather than noise.</a:t>
            </a:r>
          </a:p>
          <a:p>
            <a:r>
              <a:rPr lang="en-US"/>
              <a:t>From a business perspective, this validates that the model supports effective targeting and allows marketing efforts to focus on users most likely to convert, improving efficiency and return on spend.</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how we translate model predictions into actual business value.</a:t>
            </a:r>
          </a:p>
          <a:p>
            <a:r>
              <a:rPr lang="en-US"/>
              <a:t>On the left, we start with a few simple revenue assumptions. A paid user generates three dollars per month, while a free user generates ad revenue of about twelve and a half cents per month. We assume a three-month free trial and an expected paid retention of twelve months.</a:t>
            </a:r>
            <a:endParaRPr lang="en-US">
              <a:ea typeface="Calibri"/>
              <a:cs typeface="Calibri"/>
            </a:endParaRPr>
          </a:p>
          <a:p>
            <a:r>
              <a:rPr lang="en-US"/>
              <a:t>On the right is the core idea behind the profit framework. We calculate incremental profit by comparing two scenarios for the same user: what we expect to earn if we target them with a promotion versus if we do not.</a:t>
            </a:r>
          </a:p>
          <a:p>
            <a:r>
              <a:rPr lang="en-US"/>
              <a:t>If a targeted user converts, we earn twelve months of paid revenue, but we also give up three months of subscription revenue and three months of ad revenue during the free trial. If the user does not convert, they remain free, and we still lose ad revenue during those three months.</a:t>
            </a:r>
          </a:p>
          <a:p>
            <a:r>
              <a:rPr lang="en-US"/>
              <a:t>In the no-target scenario, there is no promotion, so users either convert naturally or remain free and continue generating ad revenue.</a:t>
            </a:r>
          </a:p>
          <a:p>
            <a:r>
              <a:rPr lang="en-US"/>
              <a:t>The key insight is that targeting is only profitable when the probability of adoption is high enough to offset the cost of the free trial and the lost ad revenue. This creates a clear threshold that tells us which users are worth targeting.</a:t>
            </a:r>
          </a:p>
          <a:p>
            <a:r>
              <a:rPr lang="en-US"/>
              <a:t>Overall, this framework allows us to directly connect model scores to expected profit and make marketing decisions that are both data-driven and economically sound.</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looks at how profit changes as we vary who we target and how strong the promotion is.</a:t>
            </a:r>
          </a:p>
          <a:p>
            <a:r>
              <a:rPr lang="en-US"/>
              <a:t>On the x-axis, we have the percentage of users we target, ranked by predicted adoption probability. On the y-axis, we see the total incremental expected value. Each panel represents a different assumed uplift from the promotion.</a:t>
            </a:r>
            <a:endParaRPr lang="en-US">
              <a:ea typeface="Calibri"/>
              <a:cs typeface="Calibri"/>
            </a:endParaRPr>
          </a:p>
          <a:p>
            <a:r>
              <a:rPr lang="en-US"/>
              <a:t>Across scenarios, we see that profit increases as we expand targeting, but only up to a point. Targeting too broadly starts to include many low-intent users, which reduces profitability.</a:t>
            </a:r>
            <a:endParaRPr lang="en-US">
              <a:ea typeface="Calibri"/>
              <a:cs typeface="Calibri"/>
            </a:endParaRPr>
          </a:p>
          <a:p>
            <a:r>
              <a:rPr lang="en-US"/>
              <a:t>The key pattern here is that the delta model consistently generates higher incremental profit, especially at moderate targeting sizes around twenty to forty percent.</a:t>
            </a:r>
            <a:endParaRPr lang="en-US">
              <a:ea typeface="Calibri"/>
              <a:cs typeface="Calibri"/>
            </a:endParaRPr>
          </a:p>
          <a:p>
            <a:r>
              <a:rPr lang="en-US"/>
              <a:t>This happens because the delta model captures momentum. It identifies users whose behavior is changing, rather than users who would have subscribed anyway.</a:t>
            </a:r>
            <a:endParaRPr lang="en-US">
              <a:ea typeface="Calibri"/>
              <a:cs typeface="Calibri"/>
            </a:endParaRPr>
          </a:p>
          <a:p>
            <a:r>
              <a:rPr lang="en-US"/>
              <a:t>The level model includes more users who already had a high baseline probability of converting, which limits the incremental value of targeting them.</a:t>
            </a:r>
            <a:endParaRPr lang="en-US">
              <a:ea typeface="Calibri"/>
              <a:cs typeface="Calibri"/>
            </a:endParaRPr>
          </a:p>
          <a:p>
            <a:r>
              <a:rPr lang="en-US"/>
              <a:t>Overall, this slide shows that the optimal targeting size depends on the assumed uplift, and that momentum-based targeting can improve profit efficiency under realistic promotion scenarios.</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brings everything together into a clear targeting recommendation.</a:t>
            </a:r>
          </a:p>
          <a:p>
            <a:r>
              <a:rPr lang="en-US"/>
              <a:t>First, who should receive the offer. We recommend targeting users in roughly the top twenty to thirty percent of predicted conversion probability. These users are the most likely to respond to promotions based on our logistic regression scores.</a:t>
            </a:r>
          </a:p>
          <a:p>
            <a:r>
              <a:rPr lang="en-US"/>
              <a:t>Importantly, we are not just using current engagement levels. We also include delta features, which capture momentum and recent changes in behavior. This helps us identify users who are moving toward conversion, not just those who are already heavy users.</a:t>
            </a:r>
            <a:endParaRPr lang="en-US">
              <a:ea typeface="Calibri"/>
              <a:cs typeface="Calibri"/>
            </a:endParaRPr>
          </a:p>
          <a:p>
            <a:r>
              <a:rPr lang="en-US"/>
              <a:t>We also emphasize continuous monitoring. As real conversion data comes in, thresholds should be adjusted so targeting remains profitable over time.</a:t>
            </a:r>
            <a:endParaRPr lang="en-US">
              <a:ea typeface="Calibri"/>
              <a:cs typeface="Calibri"/>
            </a:endParaRPr>
          </a:p>
          <a:p>
            <a:r>
              <a:rPr lang="en-US"/>
              <a:t>On the right, this slide explains why we should not target everyone. Low-probability users generate very little value and mostly consume promotional resources without converting. At the other extreme, very high-probability users often would have subscribed anyway, so giving them free months creates unnecessary opportunity cost.</a:t>
            </a:r>
            <a:endParaRPr lang="en-US">
              <a:ea typeface="Calibri"/>
              <a:cs typeface="Calibri"/>
            </a:endParaRPr>
          </a:p>
          <a:p>
            <a:r>
              <a:rPr lang="en-US"/>
              <a:t>That leads to the sweet spot. The biggest gains come from targeting the middle-high deciles, specifically deciles seven, eight, and nine. These users have meaningful conversion potential, but still need a nudge.</a:t>
            </a:r>
            <a:endParaRPr lang="en-US">
              <a:ea typeface="Calibri"/>
              <a:cs typeface="Calibri"/>
            </a:endParaRPr>
          </a:p>
          <a:p>
            <a:r>
              <a:rPr lang="en-US"/>
              <a:t>Overall, this strategy balances conversion lift, cost control, and long-term profitability, making it both data-driven and practical to execute.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summarizes our final recommendation.</a:t>
            </a:r>
          </a:p>
          <a:p>
            <a:r>
              <a:rPr lang="en-US"/>
              <a:t>We recommend using logistic regression with both current engagement and delta features. This allows us to capture not only how engaged a user is today, but also how their behavior is changing over time.</a:t>
            </a:r>
            <a:endParaRPr lang="en-US">
              <a:ea typeface="Calibri"/>
              <a:cs typeface="Calibri"/>
            </a:endParaRPr>
          </a:p>
          <a:p>
            <a:r>
              <a:rPr lang="en-US"/>
              <a:t>For targeting, the highest returns come from deciles seven through nine. These users are engaged enough to respond to promotions, but not so likely to convert on their own that discounts are wasted.</a:t>
            </a:r>
            <a:endParaRPr lang="en-US">
              <a:ea typeface="Calibri"/>
              <a:cs typeface="Calibri"/>
            </a:endParaRPr>
          </a:p>
          <a:p>
            <a:r>
              <a:rPr lang="en-US"/>
              <a:t>Lower deciles are difficult to convert and deliver low ROI, while the top decile often subscribes organically, making promotions unnecessary.</a:t>
            </a:r>
            <a:endParaRPr lang="en-US">
              <a:ea typeface="Calibri"/>
              <a:cs typeface="Calibri"/>
            </a:endParaRPr>
          </a:p>
          <a:p>
            <a:r>
              <a:rPr lang="en-US"/>
              <a:t>Success should be measured by profit and ROI, not just conversion rates, to ensure marketing spend creates real business value.</a:t>
            </a:r>
            <a:endParaRPr lang="en-US">
              <a:ea typeface="Calibri"/>
              <a:cs typeface="Calibri"/>
            </a:endParaRPr>
          </a:p>
          <a:p>
            <a:r>
              <a:rPr lang="en-US"/>
              <a:t>Overall, this strategy drives faster subscriber growth, higher promotional ROI, and remains transparent and defensible for leadership.</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how that choice performs in practice.</a:t>
            </a:r>
          </a:p>
          <a:p>
            <a:r>
              <a:rPr lang="en-US"/>
              <a:t>Users are ranked by predicted probability and split into deciles, with the top deciles representing the users we would target.</a:t>
            </a:r>
          </a:p>
          <a:p>
            <a:r>
              <a:rPr lang="en-US"/>
              <a:t>Both models separate high- and low-value users reasonably well, but logistic regression does so more smoothly and consistently across deciles.</a:t>
            </a:r>
          </a:p>
          <a:p>
            <a:r>
              <a:rPr lang="en-US"/>
              <a:t>Most importantly, in the top deciles where marketing action happens, logistic regression performs just as well or better, without the volatility seen in the decision tree.</a:t>
            </a:r>
          </a:p>
          <a:p>
            <a:r>
              <a:rPr lang="en-US"/>
              <a:t>This confirms that logistic regression is not only easier to explain, but also more reliable for real-world targeting.</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91A17B4C-47D0-4CBD-A5B6-715F0C7C4D02}" type="slidenum">
              <a:rPr lang="en-US"/>
              <a:t>9</a:t>
            </a:fld>
            <a:endParaRPr lang="en-US"/>
          </a:p>
        </p:txBody>
      </p:sp>
    </p:spTree>
    <p:extLst>
      <p:ext uri="{BB962C8B-B14F-4D97-AF65-F5344CB8AC3E}">
        <p14:creationId xmlns:p14="http://schemas.microsoft.com/office/powerpoint/2010/main" val="439102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8F5B8-417E-9F0B-DF8D-43BD5B577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06EA6-B86E-1AA0-6AAE-D15301C81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69225-463A-D2F5-EE62-988199F825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559910-2C86-FF83-4085-008934898AF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64033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hyperlink" Target="mailto:auc%22)@y.value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a:effectLst/>
      </p:bgPr>
    </p:bg>
    <p:spTree>
      <p:nvGrpSpPr>
        <p:cNvPr id="1" name=""/>
        <p:cNvGrpSpPr/>
        <p:nvPr/>
      </p:nvGrpSpPr>
      <p:grpSpPr>
        <a:xfrm>
          <a:off x="0" y="0"/>
          <a:ext cx="0" cy="0"/>
          <a:chOff x="0" y="0"/>
          <a:chExt cx="0" cy="0"/>
        </a:xfrm>
      </p:grpSpPr>
      <p:pic>
        <p:nvPicPr>
          <p:cNvPr id="2" name="Image 0" descr="https://kimi-web-img.moonshot.cn/img/img.freepik.com/586b9a86d1201f325e59f7d963759bac4fde248a.jpg"/>
          <p:cNvPicPr>
            <a:picLocks noChangeAspect="1"/>
          </p:cNvPicPr>
          <p:nvPr/>
        </p:nvPicPr>
        <p:blipFill>
          <a:blip r:embed="rId3">
            <a:alphaModFix amt="30000"/>
          </a:blip>
          <a:srcRect t="7779" b="777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D1D1F">
                  <a:alpha val="95000"/>
                </a:srgbClr>
              </a:gs>
              <a:gs pos="50000">
                <a:srgbClr val="1D1D1F">
                  <a:alpha val="85000"/>
                </a:srgbClr>
              </a:gs>
              <a:gs pos="100000">
                <a:srgbClr val="0071E3">
                  <a:alpha val="40000"/>
                </a:srgbClr>
              </a:gs>
            </a:gsLst>
            <a:lin ang="2700000" scaled="1"/>
          </a:gradFill>
          <a:ln/>
        </p:spPr>
      </p:sp>
      <p:sp>
        <p:nvSpPr>
          <p:cNvPr id="4" name="Shape 1"/>
          <p:cNvSpPr/>
          <p:nvPr/>
        </p:nvSpPr>
        <p:spPr>
          <a:xfrm>
            <a:off x="377878" y="1324342"/>
            <a:ext cx="1892300" cy="387350"/>
          </a:xfrm>
          <a:custGeom>
            <a:avLst/>
            <a:gdLst/>
            <a:ahLst/>
            <a:cxnLst/>
            <a:rect l="l" t="t" r="r" b="b"/>
            <a:pathLst>
              <a:path w="1892300" h="387350">
                <a:moveTo>
                  <a:pt x="193675" y="0"/>
                </a:moveTo>
                <a:lnTo>
                  <a:pt x="1698625" y="0"/>
                </a:lnTo>
                <a:cubicBezTo>
                  <a:pt x="1805589" y="0"/>
                  <a:pt x="1892300" y="86711"/>
                  <a:pt x="1892300" y="193675"/>
                </a:cubicBezTo>
                <a:lnTo>
                  <a:pt x="1892300" y="193675"/>
                </a:lnTo>
                <a:cubicBezTo>
                  <a:pt x="1892300" y="300639"/>
                  <a:pt x="1805589" y="387350"/>
                  <a:pt x="1698625" y="387350"/>
                </a:cubicBezTo>
                <a:lnTo>
                  <a:pt x="193675" y="387350"/>
                </a:lnTo>
                <a:cubicBezTo>
                  <a:pt x="86711" y="387350"/>
                  <a:pt x="0" y="300639"/>
                  <a:pt x="0" y="193675"/>
                </a:cubicBezTo>
                <a:lnTo>
                  <a:pt x="0" y="193675"/>
                </a:lnTo>
                <a:cubicBezTo>
                  <a:pt x="0" y="86711"/>
                  <a:pt x="86711" y="0"/>
                  <a:pt x="193675" y="0"/>
                </a:cubicBezTo>
                <a:close/>
              </a:path>
            </a:pathLst>
          </a:custGeom>
          <a:solidFill>
            <a:srgbClr val="0071E3">
              <a:alpha val="20000"/>
            </a:srgbClr>
          </a:solidFill>
          <a:ln w="8467">
            <a:solidFill>
              <a:srgbClr val="0071E3">
                <a:alpha val="40000"/>
              </a:srgbClr>
            </a:solidFill>
            <a:prstDash val="solid"/>
          </a:ln>
        </p:spPr>
      </p:sp>
      <p:sp>
        <p:nvSpPr>
          <p:cNvPr id="5" name="Text 2"/>
          <p:cNvSpPr/>
          <p:nvPr/>
        </p:nvSpPr>
        <p:spPr>
          <a:xfrm>
            <a:off x="539750" y="1466850"/>
            <a:ext cx="1645047"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High Note Analytics</a:t>
            </a:r>
            <a:endParaRPr lang="en-US" sz="1600" dirty="0"/>
          </a:p>
        </p:txBody>
      </p:sp>
      <p:sp>
        <p:nvSpPr>
          <p:cNvPr id="6" name="Text 3"/>
          <p:cNvSpPr/>
          <p:nvPr/>
        </p:nvSpPr>
        <p:spPr>
          <a:xfrm>
            <a:off x="381000" y="2115390"/>
            <a:ext cx="11791792" cy="1815260"/>
          </a:xfrm>
          <a:prstGeom prst="rect">
            <a:avLst/>
          </a:prstGeom>
          <a:noFill/>
          <a:ln/>
        </p:spPr>
        <p:txBody>
          <a:bodyPr wrap="square" lIns="0" tIns="0" rIns="0" bIns="0" rtlCol="0" anchor="ctr"/>
          <a:lstStyle/>
          <a:p>
            <a:pPr>
              <a:lnSpc>
                <a:spcPct val="100000"/>
              </a:lnSpc>
            </a:pPr>
            <a:r>
              <a:rPr lang="en-US" sz="5400" b="1" dirty="0">
                <a:solidFill>
                  <a:srgbClr val="F5F5F7"/>
                </a:solidFill>
                <a:latin typeface="Hedvig Letters Sans" pitchFamily="34" charset="0"/>
                <a:ea typeface="Hedvig Letters Sans" pitchFamily="34" charset="-122"/>
                <a:cs typeface="Hedvig Letters Sans" pitchFamily="34" charset="-120"/>
              </a:rPr>
              <a:t>Data-Driven Targeting to</a:t>
            </a:r>
            <a:endParaRPr lang="en-US" sz="1600" dirty="0"/>
          </a:p>
          <a:p>
            <a:pPr>
              <a:lnSpc>
                <a:spcPct val="100000"/>
              </a:lnSpc>
            </a:pPr>
            <a:r>
              <a:rPr lang="en-US" sz="5400" b="1" dirty="0">
                <a:solidFill>
                  <a:srgbClr val="F5F5F7"/>
                </a:solidFill>
                <a:latin typeface="Hedvig Letters Sans" pitchFamily="34" charset="0"/>
                <a:ea typeface="Hedvig Letters Sans" pitchFamily="34" charset="-122"/>
                <a:cs typeface="Hedvig Letters Sans" pitchFamily="34" charset="-120"/>
              </a:rPr>
              <a:t>Increase Paid Subscriptions</a:t>
            </a:r>
            <a:endParaRPr lang="en-US" sz="1600" dirty="0"/>
          </a:p>
        </p:txBody>
      </p:sp>
      <p:sp>
        <p:nvSpPr>
          <p:cNvPr id="7" name="Text 4"/>
          <p:cNvSpPr/>
          <p:nvPr/>
        </p:nvSpPr>
        <p:spPr>
          <a:xfrm>
            <a:off x="381000" y="4159250"/>
            <a:ext cx="8544161" cy="609600"/>
          </a:xfrm>
          <a:prstGeom prst="rect">
            <a:avLst/>
          </a:prstGeom>
          <a:noFill/>
          <a:ln/>
        </p:spPr>
        <p:txBody>
          <a:bodyPr wrap="square" lIns="0" tIns="0" rIns="0" bIns="0" rtlCol="0" anchor="ctr"/>
          <a:lstStyle/>
          <a:p>
            <a:pPr>
              <a:lnSpc>
                <a:spcPct val="110000"/>
              </a:lnSpc>
            </a:pPr>
            <a:r>
              <a:rPr lang="en-US" sz="1800" b="1" dirty="0">
                <a:solidFill>
                  <a:srgbClr val="86868B"/>
                </a:solidFill>
                <a:latin typeface="Liter"/>
                <a:ea typeface="Liter" pitchFamily="34" charset="-122"/>
                <a:cs typeface="Liter" pitchFamily="34" charset="-120"/>
              </a:rPr>
              <a:t>Logistic Regression vs Decision Trees | Level vs Delta | Profit-Based Targeting</a:t>
            </a:r>
            <a:endParaRPr lang="en-US" sz="1600" b="1">
              <a:latin typeface="Liter"/>
              <a:ea typeface="Calibri"/>
              <a:cs typeface="Calibri"/>
            </a:endParaRPr>
          </a:p>
        </p:txBody>
      </p:sp>
      <p:sp>
        <p:nvSpPr>
          <p:cNvPr id="8" name="Shape 5"/>
          <p:cNvSpPr/>
          <p:nvPr/>
        </p:nvSpPr>
        <p:spPr>
          <a:xfrm>
            <a:off x="404813" y="52641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0071E3"/>
          </a:solidFill>
          <a:ln/>
        </p:spPr>
      </p:sp>
      <p:sp>
        <p:nvSpPr>
          <p:cNvPr id="9" name="Text 6"/>
          <p:cNvSpPr/>
          <p:nvPr/>
        </p:nvSpPr>
        <p:spPr>
          <a:xfrm>
            <a:off x="733425" y="5226050"/>
            <a:ext cx="160020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Predictive Modeling</a:t>
            </a:r>
            <a:endParaRPr lang="en-US" sz="1600" dirty="0"/>
          </a:p>
        </p:txBody>
      </p:sp>
      <p:sp>
        <p:nvSpPr>
          <p:cNvPr id="10" name="Shape 7"/>
          <p:cNvSpPr/>
          <p:nvPr/>
        </p:nvSpPr>
        <p:spPr>
          <a:xfrm>
            <a:off x="2607766" y="5264150"/>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0071E3"/>
          </a:solidFill>
          <a:ln/>
        </p:spPr>
      </p:sp>
      <p:sp>
        <p:nvSpPr>
          <p:cNvPr id="11" name="Text 8"/>
          <p:cNvSpPr/>
          <p:nvPr/>
        </p:nvSpPr>
        <p:spPr>
          <a:xfrm>
            <a:off x="2900660" y="5226050"/>
            <a:ext cx="150495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Profit Optimization</a:t>
            </a:r>
            <a:endParaRPr lang="en-US" sz="1600" dirty="0"/>
          </a:p>
        </p:txBody>
      </p:sp>
      <p:sp>
        <p:nvSpPr>
          <p:cNvPr id="12" name="Shape 9"/>
          <p:cNvSpPr/>
          <p:nvPr/>
        </p:nvSpPr>
        <p:spPr>
          <a:xfrm>
            <a:off x="4647208" y="5264150"/>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0071E3"/>
          </a:solidFill>
          <a:ln/>
        </p:spPr>
      </p:sp>
      <p:sp>
        <p:nvSpPr>
          <p:cNvPr id="13" name="Text 10"/>
          <p:cNvSpPr/>
          <p:nvPr/>
        </p:nvSpPr>
        <p:spPr>
          <a:xfrm>
            <a:off x="4975821" y="5226050"/>
            <a:ext cx="154305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Liter" pitchFamily="34" charset="0"/>
                <a:ea typeface="Liter" pitchFamily="34" charset="-122"/>
                <a:cs typeface="Liter" pitchFamily="34" charset="-120"/>
              </a:rPr>
              <a:t>Strategic Targeting</a:t>
            </a:r>
            <a:endParaRPr lang="en-US" sz="1600" dirty="0"/>
          </a:p>
        </p:txBody>
      </p:sp>
      <p:pic>
        <p:nvPicPr>
          <p:cNvPr id="14" name="Picture 13" descr="A logo on a glass wall&#10;&#10;AI-generated content may be incorrect.">
            <a:extLst>
              <a:ext uri="{FF2B5EF4-FFF2-40B4-BE49-F238E27FC236}">
                <a16:creationId xmlns:a16="http://schemas.microsoft.com/office/drawing/2014/main" id="{07A94C00-2CFD-1F9F-3F81-0F923D00915A}"/>
              </a:ext>
            </a:extLst>
          </p:cNvPr>
          <p:cNvPicPr>
            <a:picLocks noChangeAspect="1"/>
          </p:cNvPicPr>
          <p:nvPr/>
        </p:nvPicPr>
        <p:blipFill>
          <a:blip r:embed="rId4"/>
          <a:stretch>
            <a:fillRect/>
          </a:stretch>
        </p:blipFill>
        <p:spPr>
          <a:xfrm>
            <a:off x="9134707" y="-1"/>
            <a:ext cx="3057294" cy="2722758"/>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Strategic Context</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Hedvig Letters Sans" pitchFamily="34" charset="0"/>
                <a:ea typeface="Hedvig Letters Sans" pitchFamily="34" charset="-122"/>
                <a:cs typeface="Hedvig Letters Sans" pitchFamily="34" charset="-120"/>
              </a:rPr>
              <a:t>Business Problem &amp; Constraints</a:t>
            </a:r>
            <a:endParaRPr lang="en-US" sz="1600" dirty="0"/>
          </a:p>
        </p:txBody>
      </p:sp>
      <p:sp>
        <p:nvSpPr>
          <p:cNvPr id="4" name="Shape 2"/>
          <p:cNvSpPr/>
          <p:nvPr/>
        </p:nvSpPr>
        <p:spPr>
          <a:xfrm>
            <a:off x="384175" y="1336675"/>
            <a:ext cx="5559425" cy="5140325"/>
          </a:xfrm>
          <a:custGeom>
            <a:avLst/>
            <a:gdLst/>
            <a:ahLst/>
            <a:cxnLst/>
            <a:rect l="l" t="t" r="r" b="b"/>
            <a:pathLst>
              <a:path w="5559425" h="5140325">
                <a:moveTo>
                  <a:pt x="152411" y="0"/>
                </a:moveTo>
                <a:lnTo>
                  <a:pt x="5407014" y="0"/>
                </a:lnTo>
                <a:cubicBezTo>
                  <a:pt x="5491188" y="0"/>
                  <a:pt x="5559425" y="68237"/>
                  <a:pt x="5559425" y="152411"/>
                </a:cubicBezTo>
                <a:lnTo>
                  <a:pt x="5559425" y="4987914"/>
                </a:lnTo>
                <a:cubicBezTo>
                  <a:pt x="5559425" y="5072088"/>
                  <a:pt x="5491188" y="5140325"/>
                  <a:pt x="5407014" y="5140325"/>
                </a:cubicBezTo>
                <a:lnTo>
                  <a:pt x="152411" y="5140325"/>
                </a:lnTo>
                <a:cubicBezTo>
                  <a:pt x="68237" y="5140325"/>
                  <a:pt x="0" y="5072088"/>
                  <a:pt x="0" y="4987914"/>
                </a:cubicBezTo>
                <a:lnTo>
                  <a:pt x="0" y="152411"/>
                </a:lnTo>
                <a:cubicBezTo>
                  <a:pt x="0" y="68293"/>
                  <a:pt x="68293" y="0"/>
                  <a:pt x="152411"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5" name="Shape 3"/>
          <p:cNvSpPr/>
          <p:nvPr/>
        </p:nvSpPr>
        <p:spPr>
          <a:xfrm>
            <a:off x="692150" y="164465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alpha val="10196"/>
            </a:srgbClr>
          </a:solidFill>
          <a:ln/>
        </p:spPr>
      </p:sp>
      <p:sp>
        <p:nvSpPr>
          <p:cNvPr id="6" name="Shape 4"/>
          <p:cNvSpPr/>
          <p:nvPr/>
        </p:nvSpPr>
        <p:spPr>
          <a:xfrm>
            <a:off x="844550" y="1797050"/>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0071E3"/>
          </a:solidFill>
          <a:ln/>
        </p:spPr>
      </p:sp>
      <p:sp>
        <p:nvSpPr>
          <p:cNvPr id="7" name="Text 5"/>
          <p:cNvSpPr/>
          <p:nvPr/>
        </p:nvSpPr>
        <p:spPr>
          <a:xfrm>
            <a:off x="1377950" y="1758950"/>
            <a:ext cx="2838450"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Hedvig Letters Sans" pitchFamily="34" charset="0"/>
                <a:ea typeface="Hedvig Letters Sans" pitchFamily="34" charset="-122"/>
                <a:cs typeface="Hedvig Letters Sans" pitchFamily="34" charset="-120"/>
              </a:rPr>
              <a:t>What Management Wants</a:t>
            </a:r>
            <a:endParaRPr lang="en-US" sz="1600" dirty="0"/>
          </a:p>
        </p:txBody>
      </p:sp>
      <p:sp>
        <p:nvSpPr>
          <p:cNvPr id="8" name="Shape 6"/>
          <p:cNvSpPr/>
          <p:nvPr/>
        </p:nvSpPr>
        <p:spPr>
          <a:xfrm>
            <a:off x="692150" y="2709267"/>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9" name="Text 7"/>
          <p:cNvSpPr/>
          <p:nvPr/>
        </p:nvSpPr>
        <p:spPr>
          <a:xfrm>
            <a:off x="817860" y="2766417"/>
            <a:ext cx="123825" cy="190500"/>
          </a:xfrm>
          <a:prstGeom prst="rect">
            <a:avLst/>
          </a:prstGeom>
          <a:noFill/>
          <a:ln/>
        </p:spPr>
        <p:txBody>
          <a:bodyPr wrap="square" lIns="0" tIns="0" rIns="0" bIns="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1</a:t>
            </a:r>
            <a:endParaRPr lang="en-US" sz="1600" dirty="0"/>
          </a:p>
        </p:txBody>
      </p:sp>
      <p:sp>
        <p:nvSpPr>
          <p:cNvPr id="10" name="Text 8"/>
          <p:cNvSpPr/>
          <p:nvPr/>
        </p:nvSpPr>
        <p:spPr>
          <a:xfrm>
            <a:off x="1149350" y="2671167"/>
            <a:ext cx="45815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Rapid Increase in Paid Subscribers</a:t>
            </a:r>
            <a:endParaRPr lang="en-US" sz="1600" dirty="0"/>
          </a:p>
        </p:txBody>
      </p:sp>
      <p:sp>
        <p:nvSpPr>
          <p:cNvPr id="11" name="Text 9"/>
          <p:cNvSpPr/>
          <p:nvPr/>
        </p:nvSpPr>
        <p:spPr>
          <a:xfrm>
            <a:off x="1149350" y="3014067"/>
            <a:ext cx="4562475"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Accelerate conversion from freemium to premium tier through targeted interventions</a:t>
            </a:r>
            <a:endParaRPr lang="en-US" sz="1600" dirty="0"/>
          </a:p>
        </p:txBody>
      </p:sp>
      <p:sp>
        <p:nvSpPr>
          <p:cNvPr id="12" name="Shape 10"/>
          <p:cNvSpPr/>
          <p:nvPr/>
        </p:nvSpPr>
        <p:spPr>
          <a:xfrm>
            <a:off x="692150" y="4038501"/>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13" name="Text 11"/>
          <p:cNvSpPr/>
          <p:nvPr/>
        </p:nvSpPr>
        <p:spPr>
          <a:xfrm>
            <a:off x="805755" y="4095651"/>
            <a:ext cx="142875" cy="190500"/>
          </a:xfrm>
          <a:prstGeom prst="rect">
            <a:avLst/>
          </a:prstGeom>
          <a:noFill/>
          <a:ln/>
        </p:spPr>
        <p:txBody>
          <a:bodyPr wrap="square" lIns="0" tIns="0" rIns="0" bIns="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1149350" y="4000401"/>
            <a:ext cx="4581525"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Evidence-Backed Targeting</a:t>
            </a:r>
            <a:endParaRPr lang="en-US" sz="1600" dirty="0"/>
          </a:p>
        </p:txBody>
      </p:sp>
      <p:sp>
        <p:nvSpPr>
          <p:cNvPr id="15" name="Text 13"/>
          <p:cNvSpPr/>
          <p:nvPr/>
        </p:nvSpPr>
        <p:spPr>
          <a:xfrm>
            <a:off x="1160556" y="4399330"/>
            <a:ext cx="4562475" cy="457200"/>
          </a:xfrm>
          <a:prstGeom prst="rect">
            <a:avLst/>
          </a:prstGeom>
          <a:noFill/>
          <a:ln/>
        </p:spPr>
        <p:txBody>
          <a:bodyPr wrap="square" lIns="0" tIns="0" rIns="0" bIns="0" rtlCol="0" anchor="ctr"/>
          <a:lstStyle/>
          <a:p>
            <a:pPr>
              <a:lnSpc>
                <a:spcPct val="130000"/>
              </a:lnSpc>
            </a:pPr>
            <a:r>
              <a:rPr lang="en-US" sz="1200">
                <a:solidFill>
                  <a:srgbClr val="86868B"/>
                </a:solidFill>
                <a:latin typeface="Liter"/>
                <a:ea typeface="+mn-lt"/>
                <a:cs typeface="+mn-lt"/>
              </a:rPr>
              <a:t>A data-backed marketing strategy grounded in measurable customer behavior</a:t>
            </a:r>
            <a:endParaRPr lang="en-US">
              <a:latin typeface="Liter"/>
            </a:endParaRPr>
          </a:p>
        </p:txBody>
      </p:sp>
      <p:sp>
        <p:nvSpPr>
          <p:cNvPr id="16" name="Shape 14"/>
          <p:cNvSpPr/>
          <p:nvPr/>
        </p:nvSpPr>
        <p:spPr>
          <a:xfrm>
            <a:off x="692150" y="5367834"/>
            <a:ext cx="304800" cy="304800"/>
          </a:xfrm>
          <a:custGeom>
            <a:avLst/>
            <a:gdLst/>
            <a:ahLst/>
            <a:cxnLst/>
            <a:rect l="l" t="t" r="r" b="b"/>
            <a:pathLst>
              <a:path w="304800" h="304800">
                <a:moveTo>
                  <a:pt x="76200" y="0"/>
                </a:moveTo>
                <a:lnTo>
                  <a:pt x="228600" y="0"/>
                </a:lnTo>
                <a:cubicBezTo>
                  <a:pt x="270656" y="0"/>
                  <a:pt x="304800" y="34144"/>
                  <a:pt x="304800" y="76200"/>
                </a:cubicBezTo>
                <a:lnTo>
                  <a:pt x="304800" y="228600"/>
                </a:lnTo>
                <a:cubicBezTo>
                  <a:pt x="304800" y="270656"/>
                  <a:pt x="270656" y="304800"/>
                  <a:pt x="228600" y="304800"/>
                </a:cubicBezTo>
                <a:lnTo>
                  <a:pt x="76200" y="304800"/>
                </a:lnTo>
                <a:cubicBezTo>
                  <a:pt x="34144" y="304800"/>
                  <a:pt x="0" y="270656"/>
                  <a:pt x="0" y="228600"/>
                </a:cubicBezTo>
                <a:lnTo>
                  <a:pt x="0" y="76200"/>
                </a:lnTo>
                <a:cubicBezTo>
                  <a:pt x="0" y="34144"/>
                  <a:pt x="34144" y="0"/>
                  <a:pt x="76200" y="0"/>
                </a:cubicBezTo>
                <a:close/>
              </a:path>
            </a:pathLst>
          </a:custGeom>
          <a:solidFill>
            <a:srgbClr val="0071E3"/>
          </a:solidFill>
          <a:ln/>
        </p:spPr>
      </p:sp>
      <p:sp>
        <p:nvSpPr>
          <p:cNvPr id="17" name="Text 15"/>
          <p:cNvSpPr/>
          <p:nvPr/>
        </p:nvSpPr>
        <p:spPr>
          <a:xfrm>
            <a:off x="805160" y="5424984"/>
            <a:ext cx="142875" cy="190500"/>
          </a:xfrm>
          <a:prstGeom prst="rect">
            <a:avLst/>
          </a:prstGeom>
          <a:noFill/>
          <a:ln/>
        </p:spPr>
        <p:txBody>
          <a:bodyPr wrap="square" lIns="0" tIns="0" rIns="0" bIns="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49350" y="5329734"/>
            <a:ext cx="401955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Liter" pitchFamily="34" charset="0"/>
                <a:ea typeface="Liter" pitchFamily="34" charset="-122"/>
                <a:cs typeface="Liter" pitchFamily="34" charset="-120"/>
              </a:rPr>
              <a:t>Clear Profitability Implications</a:t>
            </a:r>
            <a:endParaRPr lang="en-US" sz="1600" dirty="0"/>
          </a:p>
        </p:txBody>
      </p:sp>
      <p:sp>
        <p:nvSpPr>
          <p:cNvPr id="19" name="Text 17"/>
          <p:cNvSpPr/>
          <p:nvPr/>
        </p:nvSpPr>
        <p:spPr>
          <a:xfrm>
            <a:off x="1149350" y="5672634"/>
            <a:ext cx="40005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Demonstrate ROI and avoid wasteful promotional spending</a:t>
            </a:r>
            <a:endParaRPr lang="en-US" sz="1600" dirty="0"/>
          </a:p>
        </p:txBody>
      </p:sp>
      <p:sp>
        <p:nvSpPr>
          <p:cNvPr id="20" name="Shape 18"/>
          <p:cNvSpPr/>
          <p:nvPr/>
        </p:nvSpPr>
        <p:spPr>
          <a:xfrm>
            <a:off x="6251575" y="1336675"/>
            <a:ext cx="5559425" cy="5140325"/>
          </a:xfrm>
          <a:custGeom>
            <a:avLst/>
            <a:gdLst/>
            <a:ahLst/>
            <a:cxnLst/>
            <a:rect l="l" t="t" r="r" b="b"/>
            <a:pathLst>
              <a:path w="5559425" h="5140325">
                <a:moveTo>
                  <a:pt x="152411" y="0"/>
                </a:moveTo>
                <a:lnTo>
                  <a:pt x="5407014" y="0"/>
                </a:lnTo>
                <a:cubicBezTo>
                  <a:pt x="5491188" y="0"/>
                  <a:pt x="5559425" y="68237"/>
                  <a:pt x="5559425" y="152411"/>
                </a:cubicBezTo>
                <a:lnTo>
                  <a:pt x="5559425" y="4987914"/>
                </a:lnTo>
                <a:cubicBezTo>
                  <a:pt x="5559425" y="5072088"/>
                  <a:pt x="5491188" y="5140325"/>
                  <a:pt x="5407014" y="5140325"/>
                </a:cubicBezTo>
                <a:lnTo>
                  <a:pt x="152411" y="5140325"/>
                </a:lnTo>
                <a:cubicBezTo>
                  <a:pt x="68237" y="5140325"/>
                  <a:pt x="0" y="5072088"/>
                  <a:pt x="0" y="4987914"/>
                </a:cubicBezTo>
                <a:lnTo>
                  <a:pt x="0" y="152411"/>
                </a:lnTo>
                <a:cubicBezTo>
                  <a:pt x="0" y="68293"/>
                  <a:pt x="68293" y="0"/>
                  <a:pt x="152411"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21" name="Shape 19"/>
          <p:cNvSpPr/>
          <p:nvPr/>
        </p:nvSpPr>
        <p:spPr>
          <a:xfrm>
            <a:off x="6559550" y="164465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6868B">
              <a:alpha val="10196"/>
            </a:srgbClr>
          </a:solidFill>
          <a:ln/>
        </p:spPr>
      </p:sp>
      <p:sp>
        <p:nvSpPr>
          <p:cNvPr id="22" name="Shape 20"/>
          <p:cNvSpPr/>
          <p:nvPr/>
        </p:nvSpPr>
        <p:spPr>
          <a:xfrm>
            <a:off x="6711950" y="1797050"/>
            <a:ext cx="228600" cy="228600"/>
          </a:xfrm>
          <a:custGeom>
            <a:avLst/>
            <a:gdLst/>
            <a:ahLst/>
            <a:cxnLst/>
            <a:rect l="l" t="t" r="r" b="b"/>
            <a:pathLst>
              <a:path w="228600" h="228600">
                <a:moveTo>
                  <a:pt x="114300" y="0"/>
                </a:moveTo>
                <a:cubicBezTo>
                  <a:pt x="120863" y="0"/>
                  <a:pt x="126891" y="3617"/>
                  <a:pt x="130016" y="9376"/>
                </a:cubicBezTo>
                <a:lnTo>
                  <a:pt x="226457" y="187970"/>
                </a:lnTo>
                <a:cubicBezTo>
                  <a:pt x="229448" y="193506"/>
                  <a:pt x="229314" y="200204"/>
                  <a:pt x="226100" y="205606"/>
                </a:cubicBezTo>
                <a:cubicBezTo>
                  <a:pt x="222885" y="211009"/>
                  <a:pt x="217036" y="214313"/>
                  <a:pt x="210741" y="214313"/>
                </a:cubicBezTo>
                <a:lnTo>
                  <a:pt x="17859" y="214313"/>
                </a:lnTo>
                <a:cubicBezTo>
                  <a:pt x="11564" y="214313"/>
                  <a:pt x="5760" y="211009"/>
                  <a:pt x="2500" y="205606"/>
                </a:cubicBezTo>
                <a:cubicBezTo>
                  <a:pt x="-759" y="200204"/>
                  <a:pt x="-848" y="193506"/>
                  <a:pt x="2143" y="187970"/>
                </a:cubicBezTo>
                <a:lnTo>
                  <a:pt x="98584" y="9376"/>
                </a:lnTo>
                <a:cubicBezTo>
                  <a:pt x="101709" y="3617"/>
                  <a:pt x="107737" y="0"/>
                  <a:pt x="114300" y="0"/>
                </a:cubicBezTo>
                <a:close/>
                <a:moveTo>
                  <a:pt x="114300" y="75009"/>
                </a:moveTo>
                <a:cubicBezTo>
                  <a:pt x="108362" y="75009"/>
                  <a:pt x="103584" y="79787"/>
                  <a:pt x="103584" y="85725"/>
                </a:cubicBezTo>
                <a:lnTo>
                  <a:pt x="103584" y="135731"/>
                </a:lnTo>
                <a:cubicBezTo>
                  <a:pt x="103584" y="141669"/>
                  <a:pt x="108362" y="146447"/>
                  <a:pt x="114300" y="146447"/>
                </a:cubicBezTo>
                <a:cubicBezTo>
                  <a:pt x="120238" y="146447"/>
                  <a:pt x="125016" y="141669"/>
                  <a:pt x="125016" y="135731"/>
                </a:cubicBezTo>
                <a:lnTo>
                  <a:pt x="125016" y="85725"/>
                </a:lnTo>
                <a:cubicBezTo>
                  <a:pt x="125016" y="79787"/>
                  <a:pt x="120238" y="75009"/>
                  <a:pt x="114300" y="75009"/>
                </a:cubicBezTo>
                <a:close/>
                <a:moveTo>
                  <a:pt x="126221" y="171450"/>
                </a:moveTo>
                <a:cubicBezTo>
                  <a:pt x="126492" y="167025"/>
                  <a:pt x="124286" y="162815"/>
                  <a:pt x="120492" y="160521"/>
                </a:cubicBezTo>
                <a:cubicBezTo>
                  <a:pt x="116699" y="158226"/>
                  <a:pt x="111946" y="158226"/>
                  <a:pt x="108152" y="160521"/>
                </a:cubicBezTo>
                <a:cubicBezTo>
                  <a:pt x="104359" y="162815"/>
                  <a:pt x="102152" y="167025"/>
                  <a:pt x="102424" y="171450"/>
                </a:cubicBezTo>
                <a:cubicBezTo>
                  <a:pt x="102152" y="175875"/>
                  <a:pt x="104359" y="180085"/>
                  <a:pt x="108152" y="182379"/>
                </a:cubicBezTo>
                <a:cubicBezTo>
                  <a:pt x="111946" y="184674"/>
                  <a:pt x="116699" y="184674"/>
                  <a:pt x="120492" y="182379"/>
                </a:cubicBezTo>
                <a:cubicBezTo>
                  <a:pt x="124286" y="180085"/>
                  <a:pt x="126492" y="175875"/>
                  <a:pt x="126221" y="171450"/>
                </a:cubicBezTo>
                <a:close/>
              </a:path>
            </a:pathLst>
          </a:custGeom>
          <a:solidFill>
            <a:srgbClr val="86868B"/>
          </a:solidFill>
          <a:ln/>
        </p:spPr>
      </p:sp>
      <p:sp>
        <p:nvSpPr>
          <p:cNvPr id="23" name="Text 21"/>
          <p:cNvSpPr/>
          <p:nvPr/>
        </p:nvSpPr>
        <p:spPr>
          <a:xfrm>
            <a:off x="7245350" y="1758950"/>
            <a:ext cx="1762125" cy="304800"/>
          </a:xfrm>
          <a:prstGeom prst="rect">
            <a:avLst/>
          </a:prstGeom>
          <a:noFill/>
          <a:ln/>
        </p:spPr>
        <p:txBody>
          <a:bodyPr wrap="square" lIns="0" tIns="0" rIns="0" bIns="0" rtlCol="0" anchor="ctr"/>
          <a:lstStyle/>
          <a:p>
            <a:pPr>
              <a:lnSpc>
                <a:spcPct val="110000"/>
              </a:lnSpc>
            </a:pPr>
            <a:r>
              <a:rPr lang="en-US" sz="1800" b="1" dirty="0">
                <a:solidFill>
                  <a:srgbClr val="1D1D1F"/>
                </a:solidFill>
                <a:latin typeface="Hedvig Letters Sans" pitchFamily="34" charset="0"/>
                <a:ea typeface="Hedvig Letters Sans" pitchFamily="34" charset="-122"/>
                <a:cs typeface="Hedvig Letters Sans" pitchFamily="34" charset="-120"/>
              </a:rPr>
              <a:t>Key Constraints</a:t>
            </a:r>
            <a:endParaRPr lang="en-US" sz="1600" dirty="0"/>
          </a:p>
        </p:txBody>
      </p:sp>
      <p:sp>
        <p:nvSpPr>
          <p:cNvPr id="24" name="Shape 22"/>
          <p:cNvSpPr/>
          <p:nvPr/>
        </p:nvSpPr>
        <p:spPr>
          <a:xfrm>
            <a:off x="6578600" y="2671167"/>
            <a:ext cx="38100" cy="800100"/>
          </a:xfrm>
          <a:custGeom>
            <a:avLst/>
            <a:gdLst/>
            <a:ahLst/>
            <a:cxnLst/>
            <a:rect l="l" t="t" r="r" b="b"/>
            <a:pathLst>
              <a:path w="38100" h="800100">
                <a:moveTo>
                  <a:pt x="0" y="0"/>
                </a:moveTo>
                <a:lnTo>
                  <a:pt x="38100" y="0"/>
                </a:lnTo>
                <a:lnTo>
                  <a:pt x="38100" y="800100"/>
                </a:lnTo>
                <a:lnTo>
                  <a:pt x="0" y="800100"/>
                </a:lnTo>
                <a:lnTo>
                  <a:pt x="0" y="0"/>
                </a:lnTo>
                <a:close/>
              </a:path>
            </a:pathLst>
          </a:custGeom>
          <a:solidFill>
            <a:srgbClr val="86868B"/>
          </a:solidFill>
          <a:ln/>
        </p:spPr>
      </p:sp>
      <p:sp>
        <p:nvSpPr>
          <p:cNvPr id="25" name="Text 23"/>
          <p:cNvSpPr/>
          <p:nvPr/>
        </p:nvSpPr>
        <p:spPr>
          <a:xfrm>
            <a:off x="6788150" y="2671167"/>
            <a:ext cx="4800600"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Freemium Model Complexity</a:t>
            </a:r>
            <a:endParaRPr lang="en-US" sz="1600" dirty="0"/>
          </a:p>
        </p:txBody>
      </p:sp>
      <p:sp>
        <p:nvSpPr>
          <p:cNvPr id="26" name="Text 24"/>
          <p:cNvSpPr/>
          <p:nvPr/>
        </p:nvSpPr>
        <p:spPr>
          <a:xfrm>
            <a:off x="6788150" y="3014067"/>
            <a:ext cx="4791075"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Free users generate $0.125/month in ad revenue—targeting must account for opportunity cost</a:t>
            </a:r>
            <a:endParaRPr lang="en-US" sz="1600" dirty="0"/>
          </a:p>
        </p:txBody>
      </p:sp>
      <p:sp>
        <p:nvSpPr>
          <p:cNvPr id="27" name="Shape 25"/>
          <p:cNvSpPr/>
          <p:nvPr/>
        </p:nvSpPr>
        <p:spPr>
          <a:xfrm>
            <a:off x="6578600" y="4000401"/>
            <a:ext cx="38100" cy="800100"/>
          </a:xfrm>
          <a:custGeom>
            <a:avLst/>
            <a:gdLst/>
            <a:ahLst/>
            <a:cxnLst/>
            <a:rect l="l" t="t" r="r" b="b"/>
            <a:pathLst>
              <a:path w="38100" h="800100">
                <a:moveTo>
                  <a:pt x="0" y="0"/>
                </a:moveTo>
                <a:lnTo>
                  <a:pt x="38100" y="0"/>
                </a:lnTo>
                <a:lnTo>
                  <a:pt x="38100" y="800100"/>
                </a:lnTo>
                <a:lnTo>
                  <a:pt x="0" y="800100"/>
                </a:lnTo>
                <a:lnTo>
                  <a:pt x="0" y="0"/>
                </a:lnTo>
                <a:close/>
              </a:path>
            </a:pathLst>
          </a:custGeom>
          <a:solidFill>
            <a:srgbClr val="86868B"/>
          </a:solidFill>
          <a:ln/>
        </p:spPr>
      </p:sp>
      <p:sp>
        <p:nvSpPr>
          <p:cNvPr id="28" name="Text 26"/>
          <p:cNvSpPr/>
          <p:nvPr/>
        </p:nvSpPr>
        <p:spPr>
          <a:xfrm>
            <a:off x="6788150" y="4000401"/>
            <a:ext cx="4800600"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Promotional Offer Structure</a:t>
            </a:r>
            <a:endParaRPr lang="en-US" sz="1600" dirty="0"/>
          </a:p>
        </p:txBody>
      </p:sp>
      <p:sp>
        <p:nvSpPr>
          <p:cNvPr id="29" name="Text 27"/>
          <p:cNvSpPr/>
          <p:nvPr/>
        </p:nvSpPr>
        <p:spPr>
          <a:xfrm>
            <a:off x="6788150" y="4343301"/>
            <a:ext cx="4791075"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3 months free trial must lead to 12-month paid retention to be profitable</a:t>
            </a:r>
            <a:endParaRPr lang="en-US" sz="1600" dirty="0"/>
          </a:p>
        </p:txBody>
      </p:sp>
      <p:sp>
        <p:nvSpPr>
          <p:cNvPr id="30" name="Shape 28"/>
          <p:cNvSpPr/>
          <p:nvPr/>
        </p:nvSpPr>
        <p:spPr>
          <a:xfrm>
            <a:off x="6578600" y="5329734"/>
            <a:ext cx="38100" cy="571500"/>
          </a:xfrm>
          <a:custGeom>
            <a:avLst/>
            <a:gdLst/>
            <a:ahLst/>
            <a:cxnLst/>
            <a:rect l="l" t="t" r="r" b="b"/>
            <a:pathLst>
              <a:path w="38100" h="571500">
                <a:moveTo>
                  <a:pt x="0" y="0"/>
                </a:moveTo>
                <a:lnTo>
                  <a:pt x="38100" y="0"/>
                </a:lnTo>
                <a:lnTo>
                  <a:pt x="38100" y="571500"/>
                </a:lnTo>
                <a:lnTo>
                  <a:pt x="0" y="571500"/>
                </a:lnTo>
                <a:lnTo>
                  <a:pt x="0" y="0"/>
                </a:lnTo>
                <a:close/>
              </a:path>
            </a:pathLst>
          </a:custGeom>
          <a:solidFill>
            <a:srgbClr val="86868B"/>
          </a:solidFill>
          <a:ln/>
        </p:spPr>
      </p:sp>
      <p:sp>
        <p:nvSpPr>
          <p:cNvPr id="31" name="Text 29"/>
          <p:cNvSpPr/>
          <p:nvPr/>
        </p:nvSpPr>
        <p:spPr>
          <a:xfrm>
            <a:off x="6788150" y="5329734"/>
            <a:ext cx="4800600"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Opportunity Cost Concern</a:t>
            </a:r>
            <a:endParaRPr lang="en-US" sz="1600" dirty="0"/>
          </a:p>
        </p:txBody>
      </p:sp>
      <p:sp>
        <p:nvSpPr>
          <p:cNvPr id="32" name="Text 30"/>
          <p:cNvSpPr/>
          <p:nvPr/>
        </p:nvSpPr>
        <p:spPr>
          <a:xfrm>
            <a:off x="6788150" y="5672634"/>
            <a:ext cx="47910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Wasted offers on users who would never convert destroy value</a:t>
            </a:r>
            <a:endParaRPr lang="en-US" sz="1600" dirty="0"/>
          </a:p>
        </p:txBody>
      </p:sp>
      <p:pic>
        <p:nvPicPr>
          <p:cNvPr id="34" name="Picture 33" descr="A logo on a glass wall&#10;&#10;AI-generated content may be incorrect.">
            <a:extLst>
              <a:ext uri="{FF2B5EF4-FFF2-40B4-BE49-F238E27FC236}">
                <a16:creationId xmlns:a16="http://schemas.microsoft.com/office/drawing/2014/main" id="{687CD501-A8EA-F7C3-DB60-022680FC3456}"/>
              </a:ext>
            </a:extLst>
          </p:cNvPr>
          <p:cNvPicPr>
            <a:picLocks noChangeAspect="1"/>
          </p:cNvPicPr>
          <p:nvPr/>
        </p:nvPicPr>
        <p:blipFill>
          <a:blip r:embed="rId3"/>
          <a:stretch>
            <a:fillRect/>
          </a:stretch>
        </p:blipFill>
        <p:spPr>
          <a:xfrm>
            <a:off x="11070936" y="-1"/>
            <a:ext cx="1121065" cy="1073840"/>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Methodology</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D1D1F"/>
                </a:solidFill>
                <a:latin typeface="Hedvig Letters Sans" pitchFamily="34" charset="0"/>
                <a:ea typeface="Hedvig Letters Sans" pitchFamily="34" charset="-122"/>
                <a:cs typeface="Hedvig Letters Sans" pitchFamily="34" charset="-120"/>
              </a:rPr>
              <a:t>Data Structure &amp; Modeling Choices</a:t>
            </a:r>
            <a:endParaRPr lang="en-US" sz="1600" dirty="0"/>
          </a:p>
        </p:txBody>
      </p:sp>
      <p:sp>
        <p:nvSpPr>
          <p:cNvPr id="4" name="Text 2"/>
          <p:cNvSpPr/>
          <p:nvPr/>
        </p:nvSpPr>
        <p:spPr>
          <a:xfrm>
            <a:off x="381000" y="1219200"/>
            <a:ext cx="11525250" cy="266700"/>
          </a:xfrm>
          <a:prstGeom prst="rect">
            <a:avLst/>
          </a:prstGeom>
          <a:noFill/>
          <a:ln/>
        </p:spPr>
        <p:txBody>
          <a:bodyPr wrap="square" lIns="0" tIns="0" rIns="0" bIns="0" rtlCol="0" anchor="ctr"/>
          <a:lstStyle/>
          <a:p>
            <a:pPr>
              <a:lnSpc>
                <a:spcPct val="120000"/>
              </a:lnSpc>
            </a:pPr>
            <a:r>
              <a:rPr lang="en-US" sz="1500" dirty="0">
                <a:solidFill>
                  <a:srgbClr val="86868B"/>
                </a:solidFill>
                <a:latin typeface="Liter" pitchFamily="34" charset="0"/>
                <a:ea typeface="Liter" pitchFamily="34" charset="-122"/>
                <a:cs typeface="Liter" pitchFamily="34" charset="-120"/>
              </a:rPr>
              <a:t>Temporal framework capturing behavioral evolution and predictive perspectives</a:t>
            </a:r>
            <a:endParaRPr lang="en-US" sz="1600" dirty="0"/>
          </a:p>
        </p:txBody>
      </p:sp>
      <p:sp>
        <p:nvSpPr>
          <p:cNvPr id="5" name="Shape 3"/>
          <p:cNvSpPr/>
          <p:nvPr/>
        </p:nvSpPr>
        <p:spPr>
          <a:xfrm>
            <a:off x="904215" y="1797091"/>
            <a:ext cx="4706508" cy="4705639"/>
          </a:xfrm>
          <a:custGeom>
            <a:avLst/>
            <a:gdLst/>
            <a:ahLst/>
            <a:cxnLst/>
            <a:rect l="l" t="t" r="r" b="b"/>
            <a:pathLst>
              <a:path w="6369050" h="4816475">
                <a:moveTo>
                  <a:pt x="152393" y="0"/>
                </a:moveTo>
                <a:lnTo>
                  <a:pt x="6216657" y="0"/>
                </a:lnTo>
                <a:cubicBezTo>
                  <a:pt x="6300821" y="0"/>
                  <a:pt x="6369050" y="68229"/>
                  <a:pt x="6369050" y="152393"/>
                </a:cubicBezTo>
                <a:lnTo>
                  <a:pt x="6369050" y="4664082"/>
                </a:lnTo>
                <a:cubicBezTo>
                  <a:pt x="6369050" y="4748246"/>
                  <a:pt x="6300821" y="4816475"/>
                  <a:pt x="6216657" y="4816475"/>
                </a:cubicBezTo>
                <a:lnTo>
                  <a:pt x="152393" y="4816475"/>
                </a:lnTo>
                <a:cubicBezTo>
                  <a:pt x="68229" y="4816475"/>
                  <a:pt x="0" y="4748246"/>
                  <a:pt x="0" y="4664082"/>
                </a:cubicBezTo>
                <a:lnTo>
                  <a:pt x="0" y="152393"/>
                </a:lnTo>
                <a:cubicBezTo>
                  <a:pt x="0" y="68285"/>
                  <a:pt x="68285" y="0"/>
                  <a:pt x="152393"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6" name="Text 4"/>
          <p:cNvSpPr/>
          <p:nvPr/>
        </p:nvSpPr>
        <p:spPr>
          <a:xfrm>
            <a:off x="1959840" y="1935596"/>
            <a:ext cx="600075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Hedvig Letters Sans" pitchFamily="34" charset="0"/>
                <a:ea typeface="Hedvig Letters Sans" pitchFamily="34" charset="-122"/>
                <a:cs typeface="Hedvig Letters Sans" pitchFamily="34" charset="-120"/>
              </a:rPr>
              <a:t>Dataset Temporal Structure</a:t>
            </a:r>
            <a:endParaRPr lang="en-US" sz="1600" dirty="0"/>
          </a:p>
        </p:txBody>
      </p:sp>
      <p:sp>
        <p:nvSpPr>
          <p:cNvPr id="7" name="Shape 5"/>
          <p:cNvSpPr/>
          <p:nvPr/>
        </p:nvSpPr>
        <p:spPr>
          <a:xfrm>
            <a:off x="1253259" y="263525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0071E3"/>
              </a:gs>
              <a:gs pos="100000">
                <a:srgbClr val="0071E3">
                  <a:alpha val="60000"/>
                </a:srgbClr>
              </a:gs>
            </a:gsLst>
            <a:lin ang="2700000" scaled="1"/>
          </a:gradFill>
          <a:ln/>
        </p:spPr>
      </p:sp>
      <p:sp>
        <p:nvSpPr>
          <p:cNvPr id="9" name="Text 7"/>
          <p:cNvSpPr/>
          <p:nvPr/>
        </p:nvSpPr>
        <p:spPr>
          <a:xfrm>
            <a:off x="1862859" y="2635251"/>
            <a:ext cx="53816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PRE Period</a:t>
            </a:r>
            <a:endParaRPr lang="en-US" sz="1600" dirty="0"/>
          </a:p>
        </p:txBody>
      </p:sp>
      <p:sp>
        <p:nvSpPr>
          <p:cNvPr id="10" name="Text 8"/>
          <p:cNvSpPr/>
          <p:nvPr/>
        </p:nvSpPr>
        <p:spPr>
          <a:xfrm>
            <a:off x="1862859" y="2940051"/>
            <a:ext cx="53721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Change in behavior before current period</a:t>
            </a:r>
            <a:endParaRPr lang="en-US" sz="1600" dirty="0"/>
          </a:p>
        </p:txBody>
      </p:sp>
      <p:sp>
        <p:nvSpPr>
          <p:cNvPr id="11" name="Shape 9"/>
          <p:cNvSpPr/>
          <p:nvPr/>
        </p:nvSpPr>
        <p:spPr>
          <a:xfrm>
            <a:off x="1862859" y="3244851"/>
            <a:ext cx="828675" cy="266700"/>
          </a:xfrm>
          <a:custGeom>
            <a:avLst/>
            <a:gdLst/>
            <a:ahLst/>
            <a:cxnLst/>
            <a:rect l="l" t="t" r="r" b="b"/>
            <a:pathLst>
              <a:path w="828675" h="266700">
                <a:moveTo>
                  <a:pt x="133350" y="0"/>
                </a:moveTo>
                <a:lnTo>
                  <a:pt x="695325" y="0"/>
                </a:lnTo>
                <a:cubicBezTo>
                  <a:pt x="768923" y="0"/>
                  <a:pt x="828675" y="59752"/>
                  <a:pt x="828675" y="133350"/>
                </a:cubicBezTo>
                <a:lnTo>
                  <a:pt x="828675" y="133350"/>
                </a:lnTo>
                <a:cubicBezTo>
                  <a:pt x="828675" y="206948"/>
                  <a:pt x="768923" y="266700"/>
                  <a:pt x="695325" y="266700"/>
                </a:cubicBezTo>
                <a:lnTo>
                  <a:pt x="133350" y="266700"/>
                </a:lnTo>
                <a:cubicBezTo>
                  <a:pt x="59752" y="266700"/>
                  <a:pt x="0" y="206948"/>
                  <a:pt x="0" y="133350"/>
                </a:cubicBezTo>
                <a:lnTo>
                  <a:pt x="0" y="133350"/>
                </a:lnTo>
                <a:cubicBezTo>
                  <a:pt x="0" y="59752"/>
                  <a:pt x="59752" y="0"/>
                  <a:pt x="133350" y="0"/>
                </a:cubicBezTo>
                <a:close/>
              </a:path>
            </a:pathLst>
          </a:custGeom>
          <a:solidFill>
            <a:srgbClr val="0071E3">
              <a:alpha val="10196"/>
            </a:srgbClr>
          </a:solidFill>
          <a:ln/>
        </p:spPr>
      </p:sp>
      <p:sp>
        <p:nvSpPr>
          <p:cNvPr id="12" name="Text 10"/>
          <p:cNvSpPr/>
          <p:nvPr/>
        </p:nvSpPr>
        <p:spPr>
          <a:xfrm>
            <a:off x="1862859" y="3244851"/>
            <a:ext cx="895350" cy="266700"/>
          </a:xfrm>
          <a:prstGeom prst="rect">
            <a:avLst/>
          </a:prstGeom>
          <a:noFill/>
          <a:ln/>
        </p:spPr>
        <p:txBody>
          <a:bodyPr wrap="square" lIns="114300" tIns="38100" rIns="114300" bIns="38100" rtlCol="0" anchor="ctr"/>
          <a:lstStyle/>
          <a:p>
            <a:pPr>
              <a:lnSpc>
                <a:spcPct val="120000"/>
              </a:lnSpc>
            </a:pPr>
            <a:r>
              <a:rPr lang="en-US" sz="1050" dirty="0">
                <a:solidFill>
                  <a:srgbClr val="0071E3"/>
                </a:solidFill>
                <a:latin typeface="Liter" pitchFamily="34" charset="0"/>
                <a:ea typeface="Liter" pitchFamily="34" charset="-122"/>
                <a:cs typeface="Liter" pitchFamily="34" charset="-120"/>
              </a:rPr>
              <a:t>Δ playlists</a:t>
            </a:r>
            <a:endParaRPr lang="en-US" sz="1600" dirty="0"/>
          </a:p>
        </p:txBody>
      </p:sp>
      <p:sp>
        <p:nvSpPr>
          <p:cNvPr id="13" name="Shape 11"/>
          <p:cNvSpPr/>
          <p:nvPr/>
        </p:nvSpPr>
        <p:spPr>
          <a:xfrm>
            <a:off x="2768627" y="3244851"/>
            <a:ext cx="695325" cy="266700"/>
          </a:xfrm>
          <a:custGeom>
            <a:avLst/>
            <a:gdLst/>
            <a:ahLst/>
            <a:cxnLst/>
            <a:rect l="l" t="t" r="r" b="b"/>
            <a:pathLst>
              <a:path w="695325" h="266700">
                <a:moveTo>
                  <a:pt x="133350" y="0"/>
                </a:moveTo>
                <a:lnTo>
                  <a:pt x="561975" y="0"/>
                </a:lnTo>
                <a:cubicBezTo>
                  <a:pt x="635573" y="0"/>
                  <a:pt x="695325" y="59752"/>
                  <a:pt x="695325" y="133350"/>
                </a:cubicBezTo>
                <a:lnTo>
                  <a:pt x="695325" y="133350"/>
                </a:lnTo>
                <a:cubicBezTo>
                  <a:pt x="695325" y="206948"/>
                  <a:pt x="635573" y="266700"/>
                  <a:pt x="561975" y="266700"/>
                </a:cubicBezTo>
                <a:lnTo>
                  <a:pt x="133350" y="266700"/>
                </a:lnTo>
                <a:cubicBezTo>
                  <a:pt x="59752" y="266700"/>
                  <a:pt x="0" y="206948"/>
                  <a:pt x="0" y="133350"/>
                </a:cubicBezTo>
                <a:lnTo>
                  <a:pt x="0" y="133350"/>
                </a:lnTo>
                <a:cubicBezTo>
                  <a:pt x="0" y="59752"/>
                  <a:pt x="59752" y="0"/>
                  <a:pt x="133350" y="0"/>
                </a:cubicBezTo>
                <a:close/>
              </a:path>
            </a:pathLst>
          </a:custGeom>
          <a:solidFill>
            <a:srgbClr val="0071E3">
              <a:alpha val="10196"/>
            </a:srgbClr>
          </a:solidFill>
          <a:ln/>
        </p:spPr>
      </p:sp>
      <p:sp>
        <p:nvSpPr>
          <p:cNvPr id="14" name="Text 12"/>
          <p:cNvSpPr/>
          <p:nvPr/>
        </p:nvSpPr>
        <p:spPr>
          <a:xfrm>
            <a:off x="2768627" y="3244851"/>
            <a:ext cx="762000" cy="266700"/>
          </a:xfrm>
          <a:prstGeom prst="rect">
            <a:avLst/>
          </a:prstGeom>
          <a:noFill/>
          <a:ln/>
        </p:spPr>
        <p:txBody>
          <a:bodyPr wrap="square" lIns="114300" tIns="38100" rIns="114300" bIns="38100" rtlCol="0" anchor="ctr"/>
          <a:lstStyle/>
          <a:p>
            <a:pPr>
              <a:lnSpc>
                <a:spcPct val="120000"/>
              </a:lnSpc>
            </a:pPr>
            <a:r>
              <a:rPr lang="en-US" sz="1050" dirty="0">
                <a:solidFill>
                  <a:srgbClr val="0071E3"/>
                </a:solidFill>
                <a:latin typeface="Liter" pitchFamily="34" charset="0"/>
                <a:ea typeface="Liter" pitchFamily="34" charset="-122"/>
                <a:cs typeface="Liter" pitchFamily="34" charset="-120"/>
              </a:rPr>
              <a:t>Δ songs</a:t>
            </a:r>
            <a:endParaRPr lang="en-US" sz="1600" dirty="0"/>
          </a:p>
        </p:txBody>
      </p:sp>
      <p:sp>
        <p:nvSpPr>
          <p:cNvPr id="15" name="Shape 13"/>
          <p:cNvSpPr/>
          <p:nvPr/>
        </p:nvSpPr>
        <p:spPr>
          <a:xfrm>
            <a:off x="3544220" y="3244851"/>
            <a:ext cx="1057275" cy="266700"/>
          </a:xfrm>
          <a:custGeom>
            <a:avLst/>
            <a:gdLst/>
            <a:ahLst/>
            <a:cxnLst/>
            <a:rect l="l" t="t" r="r" b="b"/>
            <a:pathLst>
              <a:path w="1057275" h="266700">
                <a:moveTo>
                  <a:pt x="133350" y="0"/>
                </a:moveTo>
                <a:lnTo>
                  <a:pt x="923925" y="0"/>
                </a:lnTo>
                <a:cubicBezTo>
                  <a:pt x="997523" y="0"/>
                  <a:pt x="1057275" y="59752"/>
                  <a:pt x="1057275" y="133350"/>
                </a:cubicBezTo>
                <a:lnTo>
                  <a:pt x="1057275" y="133350"/>
                </a:lnTo>
                <a:cubicBezTo>
                  <a:pt x="1057275" y="206948"/>
                  <a:pt x="997523" y="266700"/>
                  <a:pt x="923925" y="266700"/>
                </a:cubicBezTo>
                <a:lnTo>
                  <a:pt x="133350" y="266700"/>
                </a:lnTo>
                <a:cubicBezTo>
                  <a:pt x="59752" y="266700"/>
                  <a:pt x="0" y="206948"/>
                  <a:pt x="0" y="133350"/>
                </a:cubicBezTo>
                <a:lnTo>
                  <a:pt x="0" y="133350"/>
                </a:lnTo>
                <a:cubicBezTo>
                  <a:pt x="0" y="59752"/>
                  <a:pt x="59752" y="0"/>
                  <a:pt x="133350" y="0"/>
                </a:cubicBezTo>
                <a:close/>
              </a:path>
            </a:pathLst>
          </a:custGeom>
          <a:solidFill>
            <a:srgbClr val="0071E3">
              <a:alpha val="10196"/>
            </a:srgbClr>
          </a:solidFill>
          <a:ln/>
        </p:spPr>
      </p:sp>
      <p:sp>
        <p:nvSpPr>
          <p:cNvPr id="16" name="Text 14"/>
          <p:cNvSpPr/>
          <p:nvPr/>
        </p:nvSpPr>
        <p:spPr>
          <a:xfrm>
            <a:off x="3544220" y="3244851"/>
            <a:ext cx="1123950" cy="266700"/>
          </a:xfrm>
          <a:prstGeom prst="rect">
            <a:avLst/>
          </a:prstGeom>
          <a:noFill/>
          <a:ln/>
        </p:spPr>
        <p:txBody>
          <a:bodyPr wrap="square" lIns="114300" tIns="38100" rIns="114300" bIns="38100" rtlCol="0" anchor="ctr"/>
          <a:lstStyle/>
          <a:p>
            <a:pPr>
              <a:lnSpc>
                <a:spcPct val="120000"/>
              </a:lnSpc>
            </a:pPr>
            <a:r>
              <a:rPr lang="en-US" sz="1050" dirty="0">
                <a:solidFill>
                  <a:srgbClr val="0071E3"/>
                </a:solidFill>
                <a:latin typeface="Liter" pitchFamily="34" charset="0"/>
                <a:ea typeface="Liter" pitchFamily="34" charset="-122"/>
                <a:cs typeface="Liter" pitchFamily="34" charset="-120"/>
              </a:rPr>
              <a:t>Δ loved tracks</a:t>
            </a:r>
            <a:endParaRPr lang="en-US" sz="1600" dirty="0"/>
          </a:p>
        </p:txBody>
      </p:sp>
      <p:sp>
        <p:nvSpPr>
          <p:cNvPr id="17" name="Shape 15"/>
          <p:cNvSpPr/>
          <p:nvPr/>
        </p:nvSpPr>
        <p:spPr>
          <a:xfrm>
            <a:off x="1239404" y="3892551"/>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1D1D1F"/>
              </a:gs>
              <a:gs pos="100000">
                <a:srgbClr val="86868B"/>
              </a:gs>
            </a:gsLst>
            <a:lin ang="2700000" scaled="1"/>
          </a:gradFill>
          <a:ln/>
        </p:spPr>
      </p:sp>
      <p:sp>
        <p:nvSpPr>
          <p:cNvPr id="18" name="Text 16"/>
          <p:cNvSpPr/>
          <p:nvPr/>
        </p:nvSpPr>
        <p:spPr>
          <a:xfrm>
            <a:off x="1213531" y="3987801"/>
            <a:ext cx="504825" cy="266700"/>
          </a:xfrm>
          <a:prstGeom prst="rect">
            <a:avLst/>
          </a:prstGeom>
          <a:noFill/>
          <a:ln/>
        </p:spPr>
        <p:txBody>
          <a:bodyPr wrap="square" lIns="0" tIns="0" rIns="0" bIns="0" rtlCol="0" anchor="ctr"/>
          <a:lstStyle/>
          <a:p>
            <a:pPr algn="ctr">
              <a:lnSpc>
                <a:spcPct val="130000"/>
              </a:lnSpc>
            </a:pPr>
            <a:r>
              <a:rPr lang="en-US" sz="1350" b="1">
                <a:solidFill>
                  <a:srgbClr val="FFFFFF"/>
                </a:solidFill>
                <a:latin typeface="Liter"/>
              </a:rPr>
              <a:t>2</a:t>
            </a:r>
            <a:endParaRPr lang="en-US" sz="1600">
              <a:solidFill>
                <a:srgbClr val="000000"/>
              </a:solidFill>
              <a:latin typeface="Calibri"/>
              <a:ea typeface="Calibri"/>
              <a:cs typeface="Calibri"/>
            </a:endParaRPr>
          </a:p>
        </p:txBody>
      </p:sp>
      <p:sp>
        <p:nvSpPr>
          <p:cNvPr id="19" name="Text 17"/>
          <p:cNvSpPr/>
          <p:nvPr/>
        </p:nvSpPr>
        <p:spPr>
          <a:xfrm>
            <a:off x="1849004" y="3892551"/>
            <a:ext cx="53816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CURRENT Period</a:t>
            </a:r>
            <a:endParaRPr lang="en-US" sz="1600" dirty="0"/>
          </a:p>
        </p:txBody>
      </p:sp>
      <p:sp>
        <p:nvSpPr>
          <p:cNvPr id="20" name="Text 18"/>
          <p:cNvSpPr/>
          <p:nvPr/>
        </p:nvSpPr>
        <p:spPr>
          <a:xfrm>
            <a:off x="1849004" y="4197351"/>
            <a:ext cx="53721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Levels of engagement today</a:t>
            </a:r>
            <a:endParaRPr lang="en-US" sz="1600" dirty="0"/>
          </a:p>
        </p:txBody>
      </p:sp>
      <p:sp>
        <p:nvSpPr>
          <p:cNvPr id="21" name="Shape 19"/>
          <p:cNvSpPr/>
          <p:nvPr/>
        </p:nvSpPr>
        <p:spPr>
          <a:xfrm>
            <a:off x="1849004" y="4502151"/>
            <a:ext cx="1009650" cy="266700"/>
          </a:xfrm>
          <a:custGeom>
            <a:avLst/>
            <a:gdLst/>
            <a:ahLst/>
            <a:cxnLst/>
            <a:rect l="l" t="t" r="r" b="b"/>
            <a:pathLst>
              <a:path w="1009650" h="266700">
                <a:moveTo>
                  <a:pt x="133350" y="0"/>
                </a:moveTo>
                <a:lnTo>
                  <a:pt x="876300" y="0"/>
                </a:lnTo>
                <a:cubicBezTo>
                  <a:pt x="949898" y="0"/>
                  <a:pt x="1009650" y="59752"/>
                  <a:pt x="1009650" y="133350"/>
                </a:cubicBezTo>
                <a:lnTo>
                  <a:pt x="1009650" y="133350"/>
                </a:lnTo>
                <a:cubicBezTo>
                  <a:pt x="1009650" y="206948"/>
                  <a:pt x="949898" y="266700"/>
                  <a:pt x="876300" y="266700"/>
                </a:cubicBezTo>
                <a:lnTo>
                  <a:pt x="133350" y="266700"/>
                </a:lnTo>
                <a:cubicBezTo>
                  <a:pt x="59752" y="266700"/>
                  <a:pt x="0" y="206948"/>
                  <a:pt x="0" y="133350"/>
                </a:cubicBezTo>
                <a:lnTo>
                  <a:pt x="0" y="133350"/>
                </a:lnTo>
                <a:cubicBezTo>
                  <a:pt x="0" y="59752"/>
                  <a:pt x="59752" y="0"/>
                  <a:pt x="133350" y="0"/>
                </a:cubicBezTo>
                <a:close/>
              </a:path>
            </a:pathLst>
          </a:custGeom>
          <a:solidFill>
            <a:srgbClr val="1D1D1F">
              <a:alpha val="10196"/>
            </a:srgbClr>
          </a:solidFill>
          <a:ln/>
        </p:spPr>
      </p:sp>
      <p:sp>
        <p:nvSpPr>
          <p:cNvPr id="22" name="Text 20"/>
          <p:cNvSpPr/>
          <p:nvPr/>
        </p:nvSpPr>
        <p:spPr>
          <a:xfrm>
            <a:off x="1849004" y="4502151"/>
            <a:ext cx="1076325" cy="266700"/>
          </a:xfrm>
          <a:prstGeom prst="rect">
            <a:avLst/>
          </a:prstGeom>
          <a:noFill/>
          <a:ln/>
        </p:spPr>
        <p:txBody>
          <a:bodyPr wrap="square" lIns="114300" tIns="38100" rIns="114300" bIns="381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playlist count</a:t>
            </a:r>
            <a:endParaRPr lang="en-US" sz="1600" dirty="0"/>
          </a:p>
        </p:txBody>
      </p:sp>
      <p:sp>
        <p:nvSpPr>
          <p:cNvPr id="23" name="Shape 21"/>
          <p:cNvSpPr/>
          <p:nvPr/>
        </p:nvSpPr>
        <p:spPr>
          <a:xfrm>
            <a:off x="2936640" y="4502151"/>
            <a:ext cx="1076325" cy="266700"/>
          </a:xfrm>
          <a:custGeom>
            <a:avLst/>
            <a:gdLst/>
            <a:ahLst/>
            <a:cxnLst/>
            <a:rect l="l" t="t" r="r" b="b"/>
            <a:pathLst>
              <a:path w="1076325" h="266700">
                <a:moveTo>
                  <a:pt x="133350" y="0"/>
                </a:moveTo>
                <a:lnTo>
                  <a:pt x="942975" y="0"/>
                </a:lnTo>
                <a:cubicBezTo>
                  <a:pt x="1016573" y="0"/>
                  <a:pt x="1076325" y="59752"/>
                  <a:pt x="1076325" y="133350"/>
                </a:cubicBezTo>
                <a:lnTo>
                  <a:pt x="1076325" y="133350"/>
                </a:lnTo>
                <a:cubicBezTo>
                  <a:pt x="1076325" y="206948"/>
                  <a:pt x="1016573" y="266700"/>
                  <a:pt x="942975" y="266700"/>
                </a:cubicBezTo>
                <a:lnTo>
                  <a:pt x="133350" y="266700"/>
                </a:lnTo>
                <a:cubicBezTo>
                  <a:pt x="59752" y="266700"/>
                  <a:pt x="0" y="206948"/>
                  <a:pt x="0" y="133350"/>
                </a:cubicBezTo>
                <a:lnTo>
                  <a:pt x="0" y="133350"/>
                </a:lnTo>
                <a:cubicBezTo>
                  <a:pt x="0" y="59752"/>
                  <a:pt x="59752" y="0"/>
                  <a:pt x="133350" y="0"/>
                </a:cubicBezTo>
                <a:close/>
              </a:path>
            </a:pathLst>
          </a:custGeom>
          <a:solidFill>
            <a:srgbClr val="1D1D1F">
              <a:alpha val="10196"/>
            </a:srgbClr>
          </a:solidFill>
          <a:ln/>
        </p:spPr>
      </p:sp>
      <p:sp>
        <p:nvSpPr>
          <p:cNvPr id="24" name="Text 22"/>
          <p:cNvSpPr/>
          <p:nvPr/>
        </p:nvSpPr>
        <p:spPr>
          <a:xfrm>
            <a:off x="2936640" y="4502151"/>
            <a:ext cx="1143000" cy="266700"/>
          </a:xfrm>
          <a:prstGeom prst="rect">
            <a:avLst/>
          </a:prstGeom>
          <a:noFill/>
          <a:ln/>
        </p:spPr>
        <p:txBody>
          <a:bodyPr wrap="square" lIns="114300" tIns="38100" rIns="114300" bIns="381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songs listened</a:t>
            </a:r>
            <a:endParaRPr lang="en-US" sz="1600" dirty="0"/>
          </a:p>
        </p:txBody>
      </p:sp>
      <p:sp>
        <p:nvSpPr>
          <p:cNvPr id="25" name="Shape 23"/>
          <p:cNvSpPr/>
          <p:nvPr/>
        </p:nvSpPr>
        <p:spPr>
          <a:xfrm>
            <a:off x="4089363" y="4502151"/>
            <a:ext cx="1285875" cy="266700"/>
          </a:xfrm>
          <a:custGeom>
            <a:avLst/>
            <a:gdLst/>
            <a:ahLst/>
            <a:cxnLst/>
            <a:rect l="l" t="t" r="r" b="b"/>
            <a:pathLst>
              <a:path w="1285875" h="266700">
                <a:moveTo>
                  <a:pt x="133350" y="0"/>
                </a:moveTo>
                <a:lnTo>
                  <a:pt x="1152525" y="0"/>
                </a:lnTo>
                <a:cubicBezTo>
                  <a:pt x="1226123" y="0"/>
                  <a:pt x="1285875" y="59752"/>
                  <a:pt x="1285875" y="133350"/>
                </a:cubicBezTo>
                <a:lnTo>
                  <a:pt x="1285875" y="133350"/>
                </a:lnTo>
                <a:cubicBezTo>
                  <a:pt x="1285875" y="206948"/>
                  <a:pt x="1226123" y="266700"/>
                  <a:pt x="1152525" y="266700"/>
                </a:cubicBezTo>
                <a:lnTo>
                  <a:pt x="133350" y="266700"/>
                </a:lnTo>
                <a:cubicBezTo>
                  <a:pt x="59752" y="266700"/>
                  <a:pt x="0" y="206948"/>
                  <a:pt x="0" y="133350"/>
                </a:cubicBezTo>
                <a:lnTo>
                  <a:pt x="0" y="133350"/>
                </a:lnTo>
                <a:cubicBezTo>
                  <a:pt x="0" y="59752"/>
                  <a:pt x="59752" y="0"/>
                  <a:pt x="133350" y="0"/>
                </a:cubicBezTo>
                <a:close/>
              </a:path>
            </a:pathLst>
          </a:custGeom>
          <a:solidFill>
            <a:srgbClr val="1D1D1F">
              <a:alpha val="10196"/>
            </a:srgbClr>
          </a:solidFill>
          <a:ln/>
        </p:spPr>
      </p:sp>
      <p:sp>
        <p:nvSpPr>
          <p:cNvPr id="26" name="Text 24"/>
          <p:cNvSpPr/>
          <p:nvPr/>
        </p:nvSpPr>
        <p:spPr>
          <a:xfrm>
            <a:off x="4089363" y="4502151"/>
            <a:ext cx="1352550" cy="266700"/>
          </a:xfrm>
          <a:prstGeom prst="rect">
            <a:avLst/>
          </a:prstGeom>
          <a:noFill/>
          <a:ln/>
        </p:spPr>
        <p:txBody>
          <a:bodyPr wrap="square" lIns="114300" tIns="38100" rIns="114300" bIns="38100" rtlCol="0" anchor="ctr"/>
          <a:lstStyle/>
          <a:p>
            <a:pPr>
              <a:lnSpc>
                <a:spcPct val="120000"/>
              </a:lnSpc>
            </a:pPr>
            <a:r>
              <a:rPr lang="en-US" sz="1050" dirty="0">
                <a:solidFill>
                  <a:srgbClr val="1D1D1F"/>
                </a:solidFill>
                <a:latin typeface="Liter" pitchFamily="34" charset="0"/>
                <a:ea typeface="Liter" pitchFamily="34" charset="-122"/>
                <a:cs typeface="Liter" pitchFamily="34" charset="-120"/>
              </a:rPr>
              <a:t>subscriber friends</a:t>
            </a:r>
            <a:endParaRPr lang="en-US" sz="1600" dirty="0"/>
          </a:p>
        </p:txBody>
      </p:sp>
      <p:sp>
        <p:nvSpPr>
          <p:cNvPr id="27" name="Shape 25"/>
          <p:cNvSpPr/>
          <p:nvPr/>
        </p:nvSpPr>
        <p:spPr>
          <a:xfrm>
            <a:off x="1226045" y="5277758"/>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gradFill flip="none" rotWithShape="1">
            <a:gsLst>
              <a:gs pos="0">
                <a:srgbClr val="86868B"/>
              </a:gs>
              <a:gs pos="100000">
                <a:srgbClr val="86868B">
                  <a:alpha val="60000"/>
                </a:srgbClr>
              </a:gs>
            </a:gsLst>
            <a:lin ang="2700000" scaled="1"/>
          </a:gradFill>
          <a:ln/>
        </p:spPr>
      </p:sp>
      <p:sp>
        <p:nvSpPr>
          <p:cNvPr id="28" name="Text 26"/>
          <p:cNvSpPr/>
          <p:nvPr/>
        </p:nvSpPr>
        <p:spPr>
          <a:xfrm>
            <a:off x="1343222" y="5373008"/>
            <a:ext cx="304800" cy="266700"/>
          </a:xfrm>
          <a:prstGeom prst="rect">
            <a:avLst/>
          </a:prstGeom>
          <a:noFill/>
          <a:ln/>
        </p:spPr>
        <p:txBody>
          <a:bodyPr wrap="square" lIns="0" tIns="0" rIns="0" bIns="0" rtlCol="0" anchor="ctr"/>
          <a:lstStyle/>
          <a:p>
            <a:pPr>
              <a:lnSpc>
                <a:spcPct val="130000"/>
              </a:lnSpc>
            </a:pPr>
            <a:endParaRPr lang="en-US" sz="1350" b="1">
              <a:solidFill>
                <a:srgbClr val="FFFFFF"/>
              </a:solidFill>
              <a:latin typeface="Liter"/>
              <a:ea typeface="Calibri"/>
              <a:cs typeface="Calibri"/>
            </a:endParaRPr>
          </a:p>
        </p:txBody>
      </p:sp>
      <p:sp>
        <p:nvSpPr>
          <p:cNvPr id="29" name="Text 27"/>
          <p:cNvSpPr/>
          <p:nvPr/>
        </p:nvSpPr>
        <p:spPr>
          <a:xfrm>
            <a:off x="1835645" y="5277758"/>
            <a:ext cx="53816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POST Period</a:t>
            </a:r>
            <a:endParaRPr lang="en-US" sz="1600" dirty="0"/>
          </a:p>
        </p:txBody>
      </p:sp>
      <p:sp>
        <p:nvSpPr>
          <p:cNvPr id="30" name="Text 28"/>
          <p:cNvSpPr/>
          <p:nvPr/>
        </p:nvSpPr>
        <p:spPr>
          <a:xfrm>
            <a:off x="1835645" y="5582558"/>
            <a:ext cx="53721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Outcomes after conversion decision</a:t>
            </a:r>
            <a:endParaRPr lang="en-US" sz="1600" dirty="0"/>
          </a:p>
        </p:txBody>
      </p:sp>
      <p:sp>
        <p:nvSpPr>
          <p:cNvPr id="31" name="Shape 29"/>
          <p:cNvSpPr/>
          <p:nvPr/>
        </p:nvSpPr>
        <p:spPr>
          <a:xfrm>
            <a:off x="1835645" y="5887358"/>
            <a:ext cx="714375" cy="266700"/>
          </a:xfrm>
          <a:custGeom>
            <a:avLst/>
            <a:gdLst/>
            <a:ahLst/>
            <a:cxnLst/>
            <a:rect l="l" t="t" r="r" b="b"/>
            <a:pathLst>
              <a:path w="714375" h="266700">
                <a:moveTo>
                  <a:pt x="133350" y="0"/>
                </a:moveTo>
                <a:lnTo>
                  <a:pt x="581025" y="0"/>
                </a:lnTo>
                <a:cubicBezTo>
                  <a:pt x="654623" y="0"/>
                  <a:pt x="714375" y="59752"/>
                  <a:pt x="714375" y="133350"/>
                </a:cubicBezTo>
                <a:lnTo>
                  <a:pt x="714375" y="133350"/>
                </a:lnTo>
                <a:cubicBezTo>
                  <a:pt x="714375" y="206948"/>
                  <a:pt x="654623" y="266700"/>
                  <a:pt x="581025" y="266700"/>
                </a:cubicBezTo>
                <a:lnTo>
                  <a:pt x="133350" y="266700"/>
                </a:lnTo>
                <a:cubicBezTo>
                  <a:pt x="59752" y="266700"/>
                  <a:pt x="0" y="206948"/>
                  <a:pt x="0" y="133350"/>
                </a:cubicBezTo>
                <a:lnTo>
                  <a:pt x="0" y="133350"/>
                </a:lnTo>
                <a:cubicBezTo>
                  <a:pt x="0" y="59752"/>
                  <a:pt x="59752" y="0"/>
                  <a:pt x="133350" y="0"/>
                </a:cubicBezTo>
                <a:close/>
              </a:path>
            </a:pathLst>
          </a:custGeom>
          <a:solidFill>
            <a:srgbClr val="86868B">
              <a:alpha val="10196"/>
            </a:srgbClr>
          </a:solidFill>
          <a:ln/>
        </p:spPr>
      </p:sp>
      <p:sp>
        <p:nvSpPr>
          <p:cNvPr id="32" name="Text 30"/>
          <p:cNvSpPr/>
          <p:nvPr/>
        </p:nvSpPr>
        <p:spPr>
          <a:xfrm>
            <a:off x="1835645" y="5887358"/>
            <a:ext cx="781050" cy="266700"/>
          </a:xfrm>
          <a:prstGeom prst="rect">
            <a:avLst/>
          </a:prstGeom>
          <a:noFill/>
          <a:ln/>
        </p:spPr>
        <p:txBody>
          <a:bodyPr wrap="square" lIns="114300" tIns="38100" rIns="114300" bIns="3810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adopted</a:t>
            </a:r>
            <a:endParaRPr lang="en-US" sz="1600" dirty="0"/>
          </a:p>
        </p:txBody>
      </p:sp>
      <p:sp>
        <p:nvSpPr>
          <p:cNvPr id="33" name="Shape 31"/>
          <p:cNvSpPr/>
          <p:nvPr/>
        </p:nvSpPr>
        <p:spPr>
          <a:xfrm>
            <a:off x="2629990" y="5887358"/>
            <a:ext cx="714375" cy="266700"/>
          </a:xfrm>
          <a:custGeom>
            <a:avLst/>
            <a:gdLst/>
            <a:ahLst/>
            <a:cxnLst/>
            <a:rect l="l" t="t" r="r" b="b"/>
            <a:pathLst>
              <a:path w="714375" h="266700">
                <a:moveTo>
                  <a:pt x="133350" y="0"/>
                </a:moveTo>
                <a:lnTo>
                  <a:pt x="581025" y="0"/>
                </a:lnTo>
                <a:cubicBezTo>
                  <a:pt x="654623" y="0"/>
                  <a:pt x="714375" y="59752"/>
                  <a:pt x="714375" y="133350"/>
                </a:cubicBezTo>
                <a:lnTo>
                  <a:pt x="714375" y="133350"/>
                </a:lnTo>
                <a:cubicBezTo>
                  <a:pt x="714375" y="206948"/>
                  <a:pt x="654623" y="266700"/>
                  <a:pt x="581025" y="266700"/>
                </a:cubicBezTo>
                <a:lnTo>
                  <a:pt x="133350" y="266700"/>
                </a:lnTo>
                <a:cubicBezTo>
                  <a:pt x="59752" y="266700"/>
                  <a:pt x="0" y="206948"/>
                  <a:pt x="0" y="133350"/>
                </a:cubicBezTo>
                <a:lnTo>
                  <a:pt x="0" y="133350"/>
                </a:lnTo>
                <a:cubicBezTo>
                  <a:pt x="0" y="59752"/>
                  <a:pt x="59752" y="0"/>
                  <a:pt x="133350" y="0"/>
                </a:cubicBezTo>
                <a:close/>
              </a:path>
            </a:pathLst>
          </a:custGeom>
          <a:solidFill>
            <a:srgbClr val="86868B">
              <a:alpha val="10196"/>
            </a:srgbClr>
          </a:solidFill>
          <a:ln/>
        </p:spPr>
      </p:sp>
      <p:sp>
        <p:nvSpPr>
          <p:cNvPr id="34" name="Text 32"/>
          <p:cNvSpPr/>
          <p:nvPr/>
        </p:nvSpPr>
        <p:spPr>
          <a:xfrm>
            <a:off x="2629990" y="5887358"/>
            <a:ext cx="781050" cy="266700"/>
          </a:xfrm>
          <a:prstGeom prst="rect">
            <a:avLst/>
          </a:prstGeom>
          <a:noFill/>
          <a:ln/>
        </p:spPr>
        <p:txBody>
          <a:bodyPr wrap="square" lIns="114300" tIns="38100" rIns="114300" bIns="38100" rtlCol="0" anchor="ctr"/>
          <a:lstStyle/>
          <a:p>
            <a:pPr>
              <a:lnSpc>
                <a:spcPct val="120000"/>
              </a:lnSpc>
            </a:pPr>
            <a:r>
              <a:rPr lang="en-US" sz="1050" dirty="0">
                <a:solidFill>
                  <a:srgbClr val="86868B"/>
                </a:solidFill>
                <a:latin typeface="Liter" pitchFamily="34" charset="0"/>
                <a:ea typeface="Liter" pitchFamily="34" charset="-122"/>
                <a:cs typeface="Liter" pitchFamily="34" charset="-120"/>
              </a:rPr>
              <a:t>retained</a:t>
            </a:r>
            <a:endParaRPr lang="en-US" sz="1600" dirty="0"/>
          </a:p>
        </p:txBody>
      </p:sp>
      <p:sp>
        <p:nvSpPr>
          <p:cNvPr id="35" name="Shape 33"/>
          <p:cNvSpPr/>
          <p:nvPr/>
        </p:nvSpPr>
        <p:spPr>
          <a:xfrm>
            <a:off x="6534727" y="1807729"/>
            <a:ext cx="4860636" cy="3206750"/>
          </a:xfrm>
          <a:custGeom>
            <a:avLst/>
            <a:gdLst/>
            <a:ahLst/>
            <a:cxnLst/>
            <a:rect l="l" t="t" r="r" b="b"/>
            <a:pathLst>
              <a:path w="4826000" h="3282950">
                <a:moveTo>
                  <a:pt x="152395" y="0"/>
                </a:moveTo>
                <a:lnTo>
                  <a:pt x="4673605" y="0"/>
                </a:lnTo>
                <a:cubicBezTo>
                  <a:pt x="4757771" y="0"/>
                  <a:pt x="4826000" y="68229"/>
                  <a:pt x="4826000" y="152395"/>
                </a:cubicBezTo>
                <a:lnTo>
                  <a:pt x="4826000" y="3130555"/>
                </a:lnTo>
                <a:cubicBezTo>
                  <a:pt x="4826000" y="3214721"/>
                  <a:pt x="4757771" y="3282950"/>
                  <a:pt x="4673605" y="3282950"/>
                </a:cubicBezTo>
                <a:lnTo>
                  <a:pt x="152395" y="3282950"/>
                </a:lnTo>
                <a:cubicBezTo>
                  <a:pt x="68229" y="3282950"/>
                  <a:pt x="0" y="3214721"/>
                  <a:pt x="0" y="3130555"/>
                </a:cubicBezTo>
                <a:lnTo>
                  <a:pt x="0" y="152395"/>
                </a:lnTo>
                <a:cubicBezTo>
                  <a:pt x="0" y="68286"/>
                  <a:pt x="68286" y="0"/>
                  <a:pt x="152395"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36" name="Text 34"/>
          <p:cNvSpPr/>
          <p:nvPr/>
        </p:nvSpPr>
        <p:spPr>
          <a:xfrm>
            <a:off x="6766502" y="1935596"/>
            <a:ext cx="4457700" cy="266700"/>
          </a:xfrm>
          <a:prstGeom prst="rect">
            <a:avLst/>
          </a:prstGeom>
          <a:noFill/>
          <a:ln/>
        </p:spPr>
        <p:txBody>
          <a:bodyPr wrap="square" lIns="0" tIns="0" rIns="0" bIns="0" rtlCol="0" anchor="ctr"/>
          <a:lstStyle/>
          <a:p>
            <a:pPr>
              <a:lnSpc>
                <a:spcPct val="120000"/>
              </a:lnSpc>
            </a:pPr>
            <a:r>
              <a:rPr lang="en-US" sz="1500" b="1" dirty="0">
                <a:solidFill>
                  <a:srgbClr val="1D1D1F"/>
                </a:solidFill>
                <a:latin typeface="Hedvig Letters Sans" pitchFamily="34" charset="0"/>
                <a:ea typeface="Hedvig Letters Sans" pitchFamily="34" charset="-122"/>
                <a:cs typeface="Hedvig Letters Sans" pitchFamily="34" charset="-120"/>
              </a:rPr>
              <a:t>Two Modeling Perspectives</a:t>
            </a:r>
            <a:endParaRPr lang="en-US" sz="1600" dirty="0"/>
          </a:p>
        </p:txBody>
      </p:sp>
      <p:sp>
        <p:nvSpPr>
          <p:cNvPr id="37" name="Shape 35"/>
          <p:cNvSpPr/>
          <p:nvPr/>
        </p:nvSpPr>
        <p:spPr>
          <a:xfrm>
            <a:off x="6776027" y="2364221"/>
            <a:ext cx="4343400" cy="1123950"/>
          </a:xfrm>
          <a:custGeom>
            <a:avLst/>
            <a:gdLst/>
            <a:ahLst/>
            <a:cxnLst/>
            <a:rect l="l" t="t" r="r" b="b"/>
            <a:pathLst>
              <a:path w="4343400" h="1123950">
                <a:moveTo>
                  <a:pt x="114294" y="0"/>
                </a:moveTo>
                <a:lnTo>
                  <a:pt x="4229106" y="0"/>
                </a:lnTo>
                <a:cubicBezTo>
                  <a:pt x="4292229" y="0"/>
                  <a:pt x="4343400" y="51171"/>
                  <a:pt x="4343400" y="114294"/>
                </a:cubicBezTo>
                <a:lnTo>
                  <a:pt x="4343400" y="1009656"/>
                </a:lnTo>
                <a:cubicBezTo>
                  <a:pt x="4343400" y="1072779"/>
                  <a:pt x="4292229" y="1123950"/>
                  <a:pt x="4229106" y="1123950"/>
                </a:cubicBezTo>
                <a:lnTo>
                  <a:pt x="114294" y="1123950"/>
                </a:lnTo>
                <a:cubicBezTo>
                  <a:pt x="51171" y="1123950"/>
                  <a:pt x="0" y="1072779"/>
                  <a:pt x="0" y="1009656"/>
                </a:cubicBezTo>
                <a:lnTo>
                  <a:pt x="0" y="114294"/>
                </a:lnTo>
                <a:cubicBezTo>
                  <a:pt x="0" y="51171"/>
                  <a:pt x="51171" y="0"/>
                  <a:pt x="114294" y="0"/>
                </a:cubicBezTo>
                <a:close/>
              </a:path>
            </a:pathLst>
          </a:custGeom>
          <a:solidFill>
            <a:srgbClr val="000000">
              <a:alpha val="0"/>
            </a:srgbClr>
          </a:solidFill>
          <a:ln w="25400">
            <a:solidFill>
              <a:srgbClr val="0071E3"/>
            </a:solidFill>
            <a:prstDash val="solid"/>
          </a:ln>
        </p:spPr>
      </p:sp>
      <p:sp>
        <p:nvSpPr>
          <p:cNvPr id="38" name="Shape 36"/>
          <p:cNvSpPr/>
          <p:nvPr/>
        </p:nvSpPr>
        <p:spPr>
          <a:xfrm>
            <a:off x="6961765" y="2564246"/>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0071E3"/>
          </a:solidFill>
          <a:ln/>
        </p:spPr>
      </p:sp>
      <p:sp>
        <p:nvSpPr>
          <p:cNvPr id="39" name="Text 37"/>
          <p:cNvSpPr/>
          <p:nvPr/>
        </p:nvSpPr>
        <p:spPr>
          <a:xfrm>
            <a:off x="7290377" y="2526146"/>
            <a:ext cx="10001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Level Model</a:t>
            </a:r>
            <a:endParaRPr lang="en-US" sz="1600" dirty="0"/>
          </a:p>
        </p:txBody>
      </p:sp>
      <p:sp>
        <p:nvSpPr>
          <p:cNvPr id="40" name="Text 38"/>
          <p:cNvSpPr/>
          <p:nvPr/>
        </p:nvSpPr>
        <p:spPr>
          <a:xfrm>
            <a:off x="6937952" y="2869046"/>
            <a:ext cx="4095750"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Who are heavy users right now? Focuses on absolute engagement metrics.</a:t>
            </a:r>
            <a:endParaRPr lang="en-US" sz="1600" dirty="0"/>
          </a:p>
        </p:txBody>
      </p:sp>
      <p:sp>
        <p:nvSpPr>
          <p:cNvPr id="41" name="Shape 39"/>
          <p:cNvSpPr/>
          <p:nvPr/>
        </p:nvSpPr>
        <p:spPr>
          <a:xfrm>
            <a:off x="6776027" y="3621521"/>
            <a:ext cx="4343400" cy="1123950"/>
          </a:xfrm>
          <a:custGeom>
            <a:avLst/>
            <a:gdLst/>
            <a:ahLst/>
            <a:cxnLst/>
            <a:rect l="l" t="t" r="r" b="b"/>
            <a:pathLst>
              <a:path w="4343400" h="1123950">
                <a:moveTo>
                  <a:pt x="114294" y="0"/>
                </a:moveTo>
                <a:lnTo>
                  <a:pt x="4229106" y="0"/>
                </a:lnTo>
                <a:cubicBezTo>
                  <a:pt x="4292229" y="0"/>
                  <a:pt x="4343400" y="51171"/>
                  <a:pt x="4343400" y="114294"/>
                </a:cubicBezTo>
                <a:lnTo>
                  <a:pt x="4343400" y="1009656"/>
                </a:lnTo>
                <a:cubicBezTo>
                  <a:pt x="4343400" y="1072779"/>
                  <a:pt x="4292229" y="1123950"/>
                  <a:pt x="4229106" y="1123950"/>
                </a:cubicBezTo>
                <a:lnTo>
                  <a:pt x="114294" y="1123950"/>
                </a:lnTo>
                <a:cubicBezTo>
                  <a:pt x="51171" y="1123950"/>
                  <a:pt x="0" y="1072779"/>
                  <a:pt x="0" y="1009656"/>
                </a:cubicBezTo>
                <a:lnTo>
                  <a:pt x="0" y="114294"/>
                </a:lnTo>
                <a:cubicBezTo>
                  <a:pt x="0" y="51171"/>
                  <a:pt x="51171" y="0"/>
                  <a:pt x="114294" y="0"/>
                </a:cubicBezTo>
                <a:close/>
              </a:path>
            </a:pathLst>
          </a:custGeom>
          <a:solidFill>
            <a:srgbClr val="000000">
              <a:alpha val="0"/>
            </a:srgbClr>
          </a:solidFill>
          <a:ln w="25400">
            <a:solidFill>
              <a:srgbClr val="86868B"/>
            </a:solidFill>
            <a:prstDash val="solid"/>
          </a:ln>
        </p:spPr>
      </p:sp>
      <p:sp>
        <p:nvSpPr>
          <p:cNvPr id="42" name="Shape 40"/>
          <p:cNvSpPr/>
          <p:nvPr/>
        </p:nvSpPr>
        <p:spPr>
          <a:xfrm>
            <a:off x="6961765" y="3821546"/>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86868B"/>
          </a:solidFill>
          <a:ln/>
        </p:spPr>
      </p:sp>
      <p:sp>
        <p:nvSpPr>
          <p:cNvPr id="43" name="Text 41"/>
          <p:cNvSpPr/>
          <p:nvPr/>
        </p:nvSpPr>
        <p:spPr>
          <a:xfrm>
            <a:off x="7290377" y="3783446"/>
            <a:ext cx="10001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Delta Model</a:t>
            </a:r>
            <a:endParaRPr lang="en-US" sz="1600" dirty="0"/>
          </a:p>
        </p:txBody>
      </p:sp>
      <p:sp>
        <p:nvSpPr>
          <p:cNvPr id="44" name="Text 42"/>
          <p:cNvSpPr/>
          <p:nvPr/>
        </p:nvSpPr>
        <p:spPr>
          <a:xfrm>
            <a:off x="6937952" y="4126346"/>
            <a:ext cx="4095750"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Who is increasing usage momentum? Captures growth trajectory.</a:t>
            </a:r>
            <a:endParaRPr lang="en-US" sz="1600" dirty="0"/>
          </a:p>
        </p:txBody>
      </p:sp>
      <p:sp>
        <p:nvSpPr>
          <p:cNvPr id="45" name="Shape 43"/>
          <p:cNvSpPr/>
          <p:nvPr/>
        </p:nvSpPr>
        <p:spPr>
          <a:xfrm>
            <a:off x="6534727" y="5145522"/>
            <a:ext cx="4826000" cy="1377950"/>
          </a:xfrm>
          <a:custGeom>
            <a:avLst/>
            <a:gdLst/>
            <a:ahLst/>
            <a:cxnLst/>
            <a:rect l="l" t="t" r="r" b="b"/>
            <a:pathLst>
              <a:path w="4826000" h="1377950">
                <a:moveTo>
                  <a:pt x="152401" y="0"/>
                </a:moveTo>
                <a:lnTo>
                  <a:pt x="4673599" y="0"/>
                </a:lnTo>
                <a:cubicBezTo>
                  <a:pt x="4757768" y="0"/>
                  <a:pt x="4826000" y="68232"/>
                  <a:pt x="4826000" y="152401"/>
                </a:cubicBezTo>
                <a:lnTo>
                  <a:pt x="4826000" y="1225549"/>
                </a:lnTo>
                <a:cubicBezTo>
                  <a:pt x="4826000" y="1309718"/>
                  <a:pt x="4757768" y="1377950"/>
                  <a:pt x="4673599" y="1377950"/>
                </a:cubicBezTo>
                <a:lnTo>
                  <a:pt x="152401" y="1377950"/>
                </a:lnTo>
                <a:cubicBezTo>
                  <a:pt x="68232" y="1377950"/>
                  <a:pt x="0" y="1309718"/>
                  <a:pt x="0" y="1225549"/>
                </a:cubicBezTo>
                <a:lnTo>
                  <a:pt x="0" y="152401"/>
                </a:lnTo>
                <a:cubicBezTo>
                  <a:pt x="0" y="68289"/>
                  <a:pt x="68289" y="0"/>
                  <a:pt x="152401" y="0"/>
                </a:cubicBezTo>
                <a:close/>
              </a:path>
            </a:pathLst>
          </a:custGeom>
          <a:gradFill flip="none" rotWithShape="1">
            <a:gsLst>
              <a:gs pos="0">
                <a:srgbClr val="0071E3">
                  <a:alpha val="10000"/>
                </a:srgbClr>
              </a:gs>
              <a:gs pos="100000">
                <a:srgbClr val="0071E3">
                  <a:alpha val="5000"/>
                </a:srgbClr>
              </a:gs>
            </a:gsLst>
            <a:lin ang="0" scaled="1"/>
          </a:gradFill>
          <a:ln w="8467">
            <a:solidFill>
              <a:srgbClr val="0071E3">
                <a:alpha val="20000"/>
              </a:srgbClr>
            </a:solidFill>
            <a:prstDash val="solid"/>
          </a:ln>
        </p:spPr>
      </p:sp>
      <p:sp>
        <p:nvSpPr>
          <p:cNvPr id="46" name="Shape 44"/>
          <p:cNvSpPr/>
          <p:nvPr/>
        </p:nvSpPr>
        <p:spPr>
          <a:xfrm>
            <a:off x="6785552" y="5339195"/>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0071E3"/>
          </a:solidFill>
          <a:ln/>
        </p:spPr>
      </p:sp>
      <p:sp>
        <p:nvSpPr>
          <p:cNvPr id="47" name="Text 45"/>
          <p:cNvSpPr/>
          <p:nvPr/>
        </p:nvSpPr>
        <p:spPr>
          <a:xfrm>
            <a:off x="7128452" y="5339195"/>
            <a:ext cx="4124325" cy="266700"/>
          </a:xfrm>
          <a:prstGeom prst="rect">
            <a:avLst/>
          </a:prstGeom>
          <a:noFill/>
          <a:ln/>
        </p:spPr>
        <p:txBody>
          <a:bodyPr wrap="square" lIns="0" tIns="0" rIns="0" bIns="0" rtlCol="0" anchor="ctr"/>
          <a:lstStyle/>
          <a:p>
            <a:pPr>
              <a:lnSpc>
                <a:spcPct val="130000"/>
              </a:lnSpc>
            </a:pPr>
            <a:r>
              <a:rPr lang="en-US" sz="1350" b="1" dirty="0">
                <a:solidFill>
                  <a:srgbClr val="1D1D1F"/>
                </a:solidFill>
                <a:latin typeface="Liter" pitchFamily="34" charset="0"/>
                <a:ea typeface="Liter" pitchFamily="34" charset="-122"/>
                <a:cs typeface="Liter" pitchFamily="34" charset="-120"/>
              </a:rPr>
              <a:t>Why This Matters</a:t>
            </a:r>
            <a:endParaRPr lang="en-US" sz="1600" dirty="0"/>
          </a:p>
        </p:txBody>
      </p:sp>
      <p:sp>
        <p:nvSpPr>
          <p:cNvPr id="48" name="Text 46"/>
          <p:cNvSpPr/>
          <p:nvPr/>
        </p:nvSpPr>
        <p:spPr>
          <a:xfrm>
            <a:off x="6782089" y="5699414"/>
            <a:ext cx="4114800" cy="6858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Growth signals may reveal latent intent better than static levels. Users showing upward momentum may be primed for conversion even if current usage is moderate.</a:t>
            </a:r>
            <a:endParaRPr lang="en-US" sz="1600" dirty="0"/>
          </a:p>
        </p:txBody>
      </p:sp>
      <p:sp>
        <p:nvSpPr>
          <p:cNvPr id="49" name="Text 16">
            <a:extLst>
              <a:ext uri="{FF2B5EF4-FFF2-40B4-BE49-F238E27FC236}">
                <a16:creationId xmlns:a16="http://schemas.microsoft.com/office/drawing/2014/main" id="{5B020C2F-4E88-C59E-94EB-435C35CEA7BD}"/>
              </a:ext>
            </a:extLst>
          </p:cNvPr>
          <p:cNvSpPr/>
          <p:nvPr/>
        </p:nvSpPr>
        <p:spPr>
          <a:xfrm>
            <a:off x="1200171" y="5375248"/>
            <a:ext cx="504825" cy="266700"/>
          </a:xfrm>
          <a:prstGeom prst="rect">
            <a:avLst/>
          </a:prstGeom>
          <a:noFill/>
          <a:ln/>
        </p:spPr>
        <p:txBody>
          <a:bodyPr wrap="square" lIns="0" tIns="0" rIns="0" bIns="0" rtlCol="0" anchor="ctr"/>
          <a:lstStyle/>
          <a:p>
            <a:pPr algn="ctr">
              <a:lnSpc>
                <a:spcPct val="130000"/>
              </a:lnSpc>
            </a:pPr>
            <a:r>
              <a:rPr lang="en-US" sz="1350" b="1">
                <a:solidFill>
                  <a:srgbClr val="FFFFFF"/>
                </a:solidFill>
                <a:latin typeface="Liter"/>
                <a:ea typeface="Calibri"/>
                <a:cs typeface="Calibri"/>
              </a:rPr>
              <a:t>3</a:t>
            </a:r>
          </a:p>
        </p:txBody>
      </p:sp>
      <p:sp>
        <p:nvSpPr>
          <p:cNvPr id="50" name="Text 16">
            <a:extLst>
              <a:ext uri="{FF2B5EF4-FFF2-40B4-BE49-F238E27FC236}">
                <a16:creationId xmlns:a16="http://schemas.microsoft.com/office/drawing/2014/main" id="{0DE3888F-E9A1-F743-D828-D20745A69A5D}"/>
              </a:ext>
            </a:extLst>
          </p:cNvPr>
          <p:cNvSpPr/>
          <p:nvPr/>
        </p:nvSpPr>
        <p:spPr>
          <a:xfrm>
            <a:off x="1227385" y="2728259"/>
            <a:ext cx="504825" cy="266700"/>
          </a:xfrm>
          <a:prstGeom prst="rect">
            <a:avLst/>
          </a:prstGeom>
          <a:noFill/>
          <a:ln/>
        </p:spPr>
        <p:txBody>
          <a:bodyPr wrap="square" lIns="0" tIns="0" rIns="0" bIns="0" rtlCol="0" anchor="ctr"/>
          <a:lstStyle/>
          <a:p>
            <a:pPr algn="ctr">
              <a:lnSpc>
                <a:spcPct val="130000"/>
              </a:lnSpc>
            </a:pPr>
            <a:r>
              <a:rPr lang="en-US" sz="1350" b="1">
                <a:solidFill>
                  <a:srgbClr val="FFFFFF"/>
                </a:solidFill>
                <a:latin typeface="Liter"/>
                <a:ea typeface="Calibri"/>
                <a:cs typeface="Calibri"/>
              </a:rPr>
              <a:t>1</a:t>
            </a:r>
          </a:p>
        </p:txBody>
      </p:sp>
      <p:pic>
        <p:nvPicPr>
          <p:cNvPr id="51" name="Picture 50" descr="A logo on a glass wall&#10;&#10;AI-generated content may be incorrect.">
            <a:extLst>
              <a:ext uri="{FF2B5EF4-FFF2-40B4-BE49-F238E27FC236}">
                <a16:creationId xmlns:a16="http://schemas.microsoft.com/office/drawing/2014/main" id="{A0DA947F-5703-BE15-755C-E2E0ECB407FD}"/>
              </a:ext>
            </a:extLst>
          </p:cNvPr>
          <p:cNvPicPr>
            <a:picLocks noChangeAspect="1"/>
          </p:cNvPicPr>
          <p:nvPr/>
        </p:nvPicPr>
        <p:blipFill>
          <a:blip r:embed="rId3"/>
          <a:stretch>
            <a:fillRect/>
          </a:stretch>
        </p:blipFill>
        <p:spPr>
          <a:xfrm>
            <a:off x="11070936" y="-1"/>
            <a:ext cx="1121065" cy="107384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a:solidFill>
                  <a:srgbClr val="0071E3"/>
                </a:solidFill>
                <a:latin typeface="Liter" pitchFamily="34" charset="0"/>
                <a:ea typeface="Liter" pitchFamily="34" charset="-122"/>
                <a:cs typeface="Liter" pitchFamily="34" charset="-120"/>
              </a:rPr>
              <a:t>Exploratory Analysis</a:t>
            </a:r>
            <a:endParaRPr lang="en-US" sz="160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a:solidFill>
                  <a:srgbClr val="1D1D1F"/>
                </a:solidFill>
                <a:latin typeface="Hedvig Letters Sans" pitchFamily="34" charset="0"/>
                <a:ea typeface="Hedvig Letters Sans" pitchFamily="34" charset="-122"/>
                <a:cs typeface="Hedvig Letters Sans" pitchFamily="34" charset="-120"/>
              </a:rPr>
              <a:t>What We Learned: Why Users Subscribe</a:t>
            </a:r>
            <a:endParaRPr lang="en-US" sz="1600"/>
          </a:p>
        </p:txBody>
      </p:sp>
      <p:sp>
        <p:nvSpPr>
          <p:cNvPr id="4" name="Text 2"/>
          <p:cNvSpPr/>
          <p:nvPr/>
        </p:nvSpPr>
        <p:spPr>
          <a:xfrm>
            <a:off x="381000" y="1219200"/>
            <a:ext cx="11525250" cy="266700"/>
          </a:xfrm>
          <a:prstGeom prst="rect">
            <a:avLst/>
          </a:prstGeom>
          <a:noFill/>
          <a:ln/>
        </p:spPr>
        <p:txBody>
          <a:bodyPr wrap="square" lIns="0" tIns="0" rIns="0" bIns="0" rtlCol="0" anchor="ctr"/>
          <a:lstStyle/>
          <a:p>
            <a:pPr>
              <a:lnSpc>
                <a:spcPct val="120000"/>
              </a:lnSpc>
            </a:pPr>
            <a:r>
              <a:rPr lang="en-US" sz="1500">
                <a:solidFill>
                  <a:srgbClr val="86868B"/>
                </a:solidFill>
                <a:latin typeface="Liter" pitchFamily="34" charset="0"/>
                <a:ea typeface="Liter" pitchFamily="34" charset="-122"/>
                <a:cs typeface="Liter" pitchFamily="34" charset="-120"/>
              </a:rPr>
              <a:t>Subscription is driven by engagement depth + social embeddedness, not demographics alone</a:t>
            </a:r>
            <a:endParaRPr lang="en-US" sz="1600"/>
          </a:p>
        </p:txBody>
      </p:sp>
      <p:sp>
        <p:nvSpPr>
          <p:cNvPr id="5" name="Shape 3"/>
          <p:cNvSpPr/>
          <p:nvPr/>
        </p:nvSpPr>
        <p:spPr>
          <a:xfrm>
            <a:off x="384175" y="1679575"/>
            <a:ext cx="5359400" cy="3244850"/>
          </a:xfrm>
          <a:custGeom>
            <a:avLst/>
            <a:gdLst/>
            <a:ahLst/>
            <a:cxnLst/>
            <a:rect l="l" t="t" r="r" b="b"/>
            <a:pathLst>
              <a:path w="5359400" h="3244850">
                <a:moveTo>
                  <a:pt x="152411" y="0"/>
                </a:moveTo>
                <a:lnTo>
                  <a:pt x="5206989" y="0"/>
                </a:lnTo>
                <a:cubicBezTo>
                  <a:pt x="5291163" y="0"/>
                  <a:pt x="5359400" y="68237"/>
                  <a:pt x="5359400" y="152411"/>
                </a:cubicBezTo>
                <a:lnTo>
                  <a:pt x="5359400" y="3092439"/>
                </a:lnTo>
                <a:cubicBezTo>
                  <a:pt x="5359400" y="3176613"/>
                  <a:pt x="5291163" y="3244850"/>
                  <a:pt x="5206989" y="3244850"/>
                </a:cubicBezTo>
                <a:lnTo>
                  <a:pt x="152411" y="3244850"/>
                </a:lnTo>
                <a:cubicBezTo>
                  <a:pt x="68237" y="3244850"/>
                  <a:pt x="0" y="3176613"/>
                  <a:pt x="0" y="3092439"/>
                </a:cubicBezTo>
                <a:lnTo>
                  <a:pt x="0" y="152411"/>
                </a:lnTo>
                <a:cubicBezTo>
                  <a:pt x="0" y="68293"/>
                  <a:pt x="68293" y="0"/>
                  <a:pt x="152411"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6" name="Text 4"/>
          <p:cNvSpPr/>
          <p:nvPr/>
        </p:nvSpPr>
        <p:spPr>
          <a:xfrm>
            <a:off x="615950" y="1911351"/>
            <a:ext cx="4991100" cy="266700"/>
          </a:xfrm>
          <a:prstGeom prst="rect">
            <a:avLst/>
          </a:prstGeom>
          <a:noFill/>
          <a:ln/>
        </p:spPr>
        <p:txBody>
          <a:bodyPr wrap="square" lIns="0" tIns="0" rIns="0" bIns="0" rtlCol="0" anchor="ctr"/>
          <a:lstStyle/>
          <a:p>
            <a:pPr>
              <a:lnSpc>
                <a:spcPct val="120000"/>
              </a:lnSpc>
            </a:pPr>
            <a:r>
              <a:rPr lang="en-US" sz="1500" b="1">
                <a:solidFill>
                  <a:srgbClr val="1D1D1F"/>
                </a:solidFill>
                <a:latin typeface="Hedvig Letters Sans" pitchFamily="34" charset="0"/>
                <a:ea typeface="Hedvig Letters Sans" pitchFamily="34" charset="-122"/>
                <a:cs typeface="Hedvig Letters Sans" pitchFamily="34" charset="-120"/>
              </a:rPr>
              <a:t>Strong Behavioral Drivers</a:t>
            </a:r>
            <a:endParaRPr lang="en-US" sz="1600"/>
          </a:p>
        </p:txBody>
      </p:sp>
      <p:sp>
        <p:nvSpPr>
          <p:cNvPr id="7" name="Shape 5"/>
          <p:cNvSpPr/>
          <p:nvPr/>
        </p:nvSpPr>
        <p:spPr>
          <a:xfrm>
            <a:off x="615950" y="2330451"/>
            <a:ext cx="2371725" cy="647700"/>
          </a:xfrm>
          <a:custGeom>
            <a:avLst/>
            <a:gdLst/>
            <a:ahLst/>
            <a:cxnLst/>
            <a:rect l="l" t="t" r="r" b="b"/>
            <a:pathLst>
              <a:path w="2371725" h="647700">
                <a:moveTo>
                  <a:pt x="114300" y="0"/>
                </a:moveTo>
                <a:lnTo>
                  <a:pt x="2257425" y="0"/>
                </a:lnTo>
                <a:cubicBezTo>
                  <a:pt x="2320551" y="0"/>
                  <a:pt x="2371725" y="51174"/>
                  <a:pt x="2371725" y="114300"/>
                </a:cubicBezTo>
                <a:lnTo>
                  <a:pt x="2371725" y="533400"/>
                </a:lnTo>
                <a:cubicBezTo>
                  <a:pt x="2371725" y="596526"/>
                  <a:pt x="2320551" y="647700"/>
                  <a:pt x="2257425" y="647700"/>
                </a:cubicBezTo>
                <a:lnTo>
                  <a:pt x="114300" y="647700"/>
                </a:lnTo>
                <a:cubicBezTo>
                  <a:pt x="51216" y="647700"/>
                  <a:pt x="0" y="596484"/>
                  <a:pt x="0" y="533400"/>
                </a:cubicBezTo>
                <a:lnTo>
                  <a:pt x="0" y="114300"/>
                </a:lnTo>
                <a:cubicBezTo>
                  <a:pt x="0" y="51216"/>
                  <a:pt x="51216" y="0"/>
                  <a:pt x="114300" y="0"/>
                </a:cubicBezTo>
                <a:close/>
              </a:path>
            </a:pathLst>
          </a:custGeom>
          <a:solidFill>
            <a:srgbClr val="0071E3">
              <a:alpha val="5098"/>
            </a:srgbClr>
          </a:solidFill>
          <a:ln/>
        </p:spPr>
      </p:sp>
      <p:sp>
        <p:nvSpPr>
          <p:cNvPr id="8" name="Shape 6"/>
          <p:cNvSpPr/>
          <p:nvPr/>
        </p:nvSpPr>
        <p:spPr>
          <a:xfrm>
            <a:off x="754063" y="2559051"/>
            <a:ext cx="190500" cy="190500"/>
          </a:xfrm>
          <a:custGeom>
            <a:avLst/>
            <a:gdLst/>
            <a:ahLst/>
            <a:cxnLst/>
            <a:rect l="l" t="t" r="r" b="b"/>
            <a:pathLst>
              <a:path w="190500" h="190500">
                <a:moveTo>
                  <a:pt x="174129" y="2604"/>
                </a:moveTo>
                <a:cubicBezTo>
                  <a:pt x="176957" y="4874"/>
                  <a:pt x="178594" y="8297"/>
                  <a:pt x="178594" y="11906"/>
                </a:cubicBezTo>
                <a:lnTo>
                  <a:pt x="178594" y="125016"/>
                </a:lnTo>
                <a:cubicBezTo>
                  <a:pt x="178594" y="141461"/>
                  <a:pt x="162595" y="154781"/>
                  <a:pt x="142875" y="154781"/>
                </a:cubicBezTo>
                <a:cubicBezTo>
                  <a:pt x="123155" y="154781"/>
                  <a:pt x="107156" y="141461"/>
                  <a:pt x="107156" y="125016"/>
                </a:cubicBezTo>
                <a:cubicBezTo>
                  <a:pt x="107156" y="108570"/>
                  <a:pt x="123155" y="95250"/>
                  <a:pt x="142875" y="95250"/>
                </a:cubicBezTo>
                <a:cubicBezTo>
                  <a:pt x="147042" y="95250"/>
                  <a:pt x="151061" y="95845"/>
                  <a:pt x="154781" y="96962"/>
                </a:cubicBezTo>
                <a:lnTo>
                  <a:pt x="154781" y="53541"/>
                </a:lnTo>
                <a:lnTo>
                  <a:pt x="71438" y="72070"/>
                </a:lnTo>
                <a:lnTo>
                  <a:pt x="71438" y="148828"/>
                </a:lnTo>
                <a:cubicBezTo>
                  <a:pt x="71438" y="165274"/>
                  <a:pt x="55438" y="178594"/>
                  <a:pt x="35719" y="178594"/>
                </a:cubicBezTo>
                <a:cubicBezTo>
                  <a:pt x="15999" y="178594"/>
                  <a:pt x="0" y="165274"/>
                  <a:pt x="0" y="148828"/>
                </a:cubicBezTo>
                <a:cubicBezTo>
                  <a:pt x="0" y="132383"/>
                  <a:pt x="15999" y="119063"/>
                  <a:pt x="35719" y="119063"/>
                </a:cubicBezTo>
                <a:cubicBezTo>
                  <a:pt x="39886" y="119063"/>
                  <a:pt x="43904" y="119658"/>
                  <a:pt x="47625" y="120774"/>
                </a:cubicBezTo>
                <a:lnTo>
                  <a:pt x="47625" y="35719"/>
                </a:lnTo>
                <a:cubicBezTo>
                  <a:pt x="47625" y="30138"/>
                  <a:pt x="51495" y="25301"/>
                  <a:pt x="56964" y="24110"/>
                </a:cubicBezTo>
                <a:lnTo>
                  <a:pt x="164120" y="298"/>
                </a:lnTo>
                <a:cubicBezTo>
                  <a:pt x="167655" y="-484"/>
                  <a:pt x="171338" y="372"/>
                  <a:pt x="174166" y="2642"/>
                </a:cubicBezTo>
                <a:close/>
              </a:path>
            </a:pathLst>
          </a:custGeom>
          <a:solidFill>
            <a:srgbClr val="0071E3"/>
          </a:solidFill>
          <a:ln/>
        </p:spPr>
      </p:sp>
      <p:sp>
        <p:nvSpPr>
          <p:cNvPr id="9" name="Text 7"/>
          <p:cNvSpPr/>
          <p:nvPr/>
        </p:nvSpPr>
        <p:spPr>
          <a:xfrm>
            <a:off x="1082675" y="2444751"/>
            <a:ext cx="1162050" cy="228600"/>
          </a:xfrm>
          <a:prstGeom prst="rect">
            <a:avLst/>
          </a:prstGeom>
          <a:noFill/>
          <a:ln/>
        </p:spPr>
        <p:txBody>
          <a:bodyPr wrap="square" lIns="0" tIns="0" rIns="0" bIns="0" rtlCol="0" anchor="ctr"/>
          <a:lstStyle/>
          <a:p>
            <a:pPr>
              <a:lnSpc>
                <a:spcPct val="130000"/>
              </a:lnSpc>
            </a:pPr>
            <a:r>
              <a:rPr lang="en-US" sz="1200" b="1">
                <a:solidFill>
                  <a:srgbClr val="1D1D1F"/>
                </a:solidFill>
                <a:latin typeface="Liter" pitchFamily="34" charset="0"/>
                <a:ea typeface="Liter" pitchFamily="34" charset="-122"/>
                <a:cs typeface="Liter" pitchFamily="34" charset="-120"/>
              </a:rPr>
              <a:t>Playlist Creation</a:t>
            </a:r>
            <a:endParaRPr lang="en-US" sz="1600"/>
          </a:p>
        </p:txBody>
      </p:sp>
      <p:sp>
        <p:nvSpPr>
          <p:cNvPr id="10" name="Text 8"/>
          <p:cNvSpPr/>
          <p:nvPr/>
        </p:nvSpPr>
        <p:spPr>
          <a:xfrm>
            <a:off x="1082675" y="2673351"/>
            <a:ext cx="1152525"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Active curation</a:t>
            </a:r>
            <a:endParaRPr lang="en-US" sz="1600"/>
          </a:p>
        </p:txBody>
      </p:sp>
      <p:sp>
        <p:nvSpPr>
          <p:cNvPr id="11" name="Shape 9"/>
          <p:cNvSpPr/>
          <p:nvPr/>
        </p:nvSpPr>
        <p:spPr>
          <a:xfrm>
            <a:off x="3140075" y="2330451"/>
            <a:ext cx="2371725" cy="647700"/>
          </a:xfrm>
          <a:custGeom>
            <a:avLst/>
            <a:gdLst/>
            <a:ahLst/>
            <a:cxnLst/>
            <a:rect l="l" t="t" r="r" b="b"/>
            <a:pathLst>
              <a:path w="2371725" h="647700">
                <a:moveTo>
                  <a:pt x="114300" y="0"/>
                </a:moveTo>
                <a:lnTo>
                  <a:pt x="2257425" y="0"/>
                </a:lnTo>
                <a:cubicBezTo>
                  <a:pt x="2320551" y="0"/>
                  <a:pt x="2371725" y="51174"/>
                  <a:pt x="2371725" y="114300"/>
                </a:cubicBezTo>
                <a:lnTo>
                  <a:pt x="2371725" y="533400"/>
                </a:lnTo>
                <a:cubicBezTo>
                  <a:pt x="2371725" y="596526"/>
                  <a:pt x="2320551" y="647700"/>
                  <a:pt x="2257425" y="647700"/>
                </a:cubicBezTo>
                <a:lnTo>
                  <a:pt x="114300" y="647700"/>
                </a:lnTo>
                <a:cubicBezTo>
                  <a:pt x="51216" y="647700"/>
                  <a:pt x="0" y="596484"/>
                  <a:pt x="0" y="533400"/>
                </a:cubicBezTo>
                <a:lnTo>
                  <a:pt x="0" y="114300"/>
                </a:lnTo>
                <a:cubicBezTo>
                  <a:pt x="0" y="51216"/>
                  <a:pt x="51216" y="0"/>
                  <a:pt x="114300" y="0"/>
                </a:cubicBezTo>
                <a:close/>
              </a:path>
            </a:pathLst>
          </a:custGeom>
          <a:solidFill>
            <a:srgbClr val="0071E3">
              <a:alpha val="5098"/>
            </a:srgbClr>
          </a:solidFill>
          <a:ln/>
        </p:spPr>
      </p:sp>
      <p:sp>
        <p:nvSpPr>
          <p:cNvPr id="12" name="Shape 10"/>
          <p:cNvSpPr/>
          <p:nvPr/>
        </p:nvSpPr>
        <p:spPr>
          <a:xfrm>
            <a:off x="3290094" y="2559051"/>
            <a:ext cx="166688" cy="190500"/>
          </a:xfrm>
          <a:custGeom>
            <a:avLst/>
            <a:gdLst/>
            <a:ahLst/>
            <a:cxnLst/>
            <a:rect l="l" t="t" r="r" b="b"/>
            <a:pathLst>
              <a:path w="166688" h="190500">
                <a:moveTo>
                  <a:pt x="23812" y="83344"/>
                </a:moveTo>
                <a:cubicBezTo>
                  <a:pt x="23812" y="50453"/>
                  <a:pt x="50453" y="23812"/>
                  <a:pt x="83344" y="23812"/>
                </a:cubicBezTo>
                <a:cubicBezTo>
                  <a:pt x="116235" y="23812"/>
                  <a:pt x="142875" y="50453"/>
                  <a:pt x="142875" y="83344"/>
                </a:cubicBezTo>
                <a:lnTo>
                  <a:pt x="142875" y="97296"/>
                </a:lnTo>
                <a:cubicBezTo>
                  <a:pt x="139154" y="95994"/>
                  <a:pt x="135136" y="95250"/>
                  <a:pt x="130969" y="95250"/>
                </a:cubicBezTo>
                <a:lnTo>
                  <a:pt x="125016" y="95250"/>
                </a:lnTo>
                <a:cubicBezTo>
                  <a:pt x="115156" y="95250"/>
                  <a:pt x="107156" y="103250"/>
                  <a:pt x="107156" y="113109"/>
                </a:cubicBezTo>
                <a:lnTo>
                  <a:pt x="107156" y="160734"/>
                </a:lnTo>
                <a:cubicBezTo>
                  <a:pt x="107156" y="170594"/>
                  <a:pt x="115156" y="178594"/>
                  <a:pt x="125016" y="178594"/>
                </a:cubicBezTo>
                <a:lnTo>
                  <a:pt x="130969" y="178594"/>
                </a:lnTo>
                <a:cubicBezTo>
                  <a:pt x="150688" y="178594"/>
                  <a:pt x="166688" y="162595"/>
                  <a:pt x="166688" y="142875"/>
                </a:cubicBezTo>
                <a:lnTo>
                  <a:pt x="166688" y="83344"/>
                </a:lnTo>
                <a:cubicBezTo>
                  <a:pt x="166688" y="37319"/>
                  <a:pt x="129369" y="0"/>
                  <a:pt x="83344" y="0"/>
                </a:cubicBezTo>
                <a:cubicBezTo>
                  <a:pt x="37319" y="0"/>
                  <a:pt x="0" y="37319"/>
                  <a:pt x="0" y="83344"/>
                </a:cubicBezTo>
                <a:lnTo>
                  <a:pt x="0" y="142875"/>
                </a:lnTo>
                <a:cubicBezTo>
                  <a:pt x="0" y="162595"/>
                  <a:pt x="15999" y="178594"/>
                  <a:pt x="35719" y="178594"/>
                </a:cubicBezTo>
                <a:lnTo>
                  <a:pt x="41672" y="178594"/>
                </a:lnTo>
                <a:cubicBezTo>
                  <a:pt x="51532" y="178594"/>
                  <a:pt x="59531" y="170594"/>
                  <a:pt x="59531" y="160734"/>
                </a:cubicBezTo>
                <a:lnTo>
                  <a:pt x="59531" y="113109"/>
                </a:lnTo>
                <a:cubicBezTo>
                  <a:pt x="59531" y="103250"/>
                  <a:pt x="51532" y="95250"/>
                  <a:pt x="41672" y="95250"/>
                </a:cubicBezTo>
                <a:lnTo>
                  <a:pt x="35719" y="95250"/>
                </a:lnTo>
                <a:cubicBezTo>
                  <a:pt x="31552" y="95250"/>
                  <a:pt x="27533" y="95957"/>
                  <a:pt x="23812" y="97296"/>
                </a:cubicBezTo>
                <a:lnTo>
                  <a:pt x="23812" y="83344"/>
                </a:lnTo>
                <a:close/>
              </a:path>
            </a:pathLst>
          </a:custGeom>
          <a:solidFill>
            <a:srgbClr val="0071E3"/>
          </a:solidFill>
          <a:ln/>
        </p:spPr>
      </p:sp>
      <p:sp>
        <p:nvSpPr>
          <p:cNvPr id="13" name="Text 11"/>
          <p:cNvSpPr/>
          <p:nvPr/>
        </p:nvSpPr>
        <p:spPr>
          <a:xfrm>
            <a:off x="3606800" y="2444751"/>
            <a:ext cx="1476375" cy="228600"/>
          </a:xfrm>
          <a:prstGeom prst="rect">
            <a:avLst/>
          </a:prstGeom>
          <a:noFill/>
          <a:ln/>
        </p:spPr>
        <p:txBody>
          <a:bodyPr wrap="square" lIns="0" tIns="0" rIns="0" bIns="0" rtlCol="0" anchor="ctr"/>
          <a:lstStyle/>
          <a:p>
            <a:pPr>
              <a:lnSpc>
                <a:spcPct val="130000"/>
              </a:lnSpc>
            </a:pPr>
            <a:r>
              <a:rPr lang="en-US" sz="1200" b="1">
                <a:solidFill>
                  <a:srgbClr val="1D1D1F"/>
                </a:solidFill>
                <a:latin typeface="Liter" pitchFamily="34" charset="0"/>
                <a:ea typeface="Liter" pitchFamily="34" charset="-122"/>
                <a:cs typeface="Liter" pitchFamily="34" charset="-120"/>
              </a:rPr>
              <a:t>Songs Listened</a:t>
            </a:r>
            <a:endParaRPr lang="en-US" sz="1600"/>
          </a:p>
        </p:txBody>
      </p:sp>
      <p:sp>
        <p:nvSpPr>
          <p:cNvPr id="14" name="Text 12"/>
          <p:cNvSpPr/>
          <p:nvPr/>
        </p:nvSpPr>
        <p:spPr>
          <a:xfrm>
            <a:off x="3606800" y="2673351"/>
            <a:ext cx="1466850"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Volume of consumption</a:t>
            </a:r>
            <a:endParaRPr lang="en-US" sz="1600"/>
          </a:p>
        </p:txBody>
      </p:sp>
      <p:sp>
        <p:nvSpPr>
          <p:cNvPr id="15" name="Shape 13"/>
          <p:cNvSpPr/>
          <p:nvPr/>
        </p:nvSpPr>
        <p:spPr>
          <a:xfrm>
            <a:off x="615950" y="3130551"/>
            <a:ext cx="2371725" cy="647700"/>
          </a:xfrm>
          <a:custGeom>
            <a:avLst/>
            <a:gdLst/>
            <a:ahLst/>
            <a:cxnLst/>
            <a:rect l="l" t="t" r="r" b="b"/>
            <a:pathLst>
              <a:path w="2371725" h="647700">
                <a:moveTo>
                  <a:pt x="114300" y="0"/>
                </a:moveTo>
                <a:lnTo>
                  <a:pt x="2257425" y="0"/>
                </a:lnTo>
                <a:cubicBezTo>
                  <a:pt x="2320551" y="0"/>
                  <a:pt x="2371725" y="51174"/>
                  <a:pt x="2371725" y="114300"/>
                </a:cubicBezTo>
                <a:lnTo>
                  <a:pt x="2371725" y="533400"/>
                </a:lnTo>
                <a:cubicBezTo>
                  <a:pt x="2371725" y="596526"/>
                  <a:pt x="2320551" y="647700"/>
                  <a:pt x="2257425" y="647700"/>
                </a:cubicBezTo>
                <a:lnTo>
                  <a:pt x="114300" y="647700"/>
                </a:lnTo>
                <a:cubicBezTo>
                  <a:pt x="51216" y="647700"/>
                  <a:pt x="0" y="596484"/>
                  <a:pt x="0" y="533400"/>
                </a:cubicBezTo>
                <a:lnTo>
                  <a:pt x="0" y="114300"/>
                </a:lnTo>
                <a:cubicBezTo>
                  <a:pt x="0" y="51216"/>
                  <a:pt x="51216" y="0"/>
                  <a:pt x="114300" y="0"/>
                </a:cubicBezTo>
                <a:close/>
              </a:path>
            </a:pathLst>
          </a:custGeom>
          <a:solidFill>
            <a:srgbClr val="0071E3">
              <a:alpha val="5098"/>
            </a:srgbClr>
          </a:solidFill>
          <a:ln/>
        </p:spPr>
      </p:sp>
      <p:sp>
        <p:nvSpPr>
          <p:cNvPr id="16" name="Shape 14"/>
          <p:cNvSpPr/>
          <p:nvPr/>
        </p:nvSpPr>
        <p:spPr>
          <a:xfrm>
            <a:off x="754063" y="3359151"/>
            <a:ext cx="190500" cy="190500"/>
          </a:xfrm>
          <a:custGeom>
            <a:avLst/>
            <a:gdLst/>
            <a:ahLst/>
            <a:cxnLst/>
            <a:rect l="l" t="t" r="r" b="b"/>
            <a:pathLst>
              <a:path w="190500" h="190500">
                <a:moveTo>
                  <a:pt x="89669" y="32407"/>
                </a:moveTo>
                <a:lnTo>
                  <a:pt x="95250" y="40109"/>
                </a:lnTo>
                <a:lnTo>
                  <a:pt x="100831" y="32407"/>
                </a:lnTo>
                <a:cubicBezTo>
                  <a:pt x="110133" y="19534"/>
                  <a:pt x="125090" y="11906"/>
                  <a:pt x="140977" y="11906"/>
                </a:cubicBezTo>
                <a:cubicBezTo>
                  <a:pt x="168325" y="11906"/>
                  <a:pt x="190500" y="34082"/>
                  <a:pt x="190500" y="61429"/>
                </a:cubicBezTo>
                <a:lnTo>
                  <a:pt x="190500" y="62396"/>
                </a:lnTo>
                <a:cubicBezTo>
                  <a:pt x="190500" y="104142"/>
                  <a:pt x="138447" y="152623"/>
                  <a:pt x="111286" y="173348"/>
                </a:cubicBezTo>
                <a:cubicBezTo>
                  <a:pt x="106673" y="176845"/>
                  <a:pt x="101017" y="178594"/>
                  <a:pt x="95250" y="178594"/>
                </a:cubicBezTo>
                <a:cubicBezTo>
                  <a:pt x="89483" y="178594"/>
                  <a:pt x="83790" y="176882"/>
                  <a:pt x="79214" y="173348"/>
                </a:cubicBezTo>
                <a:cubicBezTo>
                  <a:pt x="52053" y="152623"/>
                  <a:pt x="0" y="104142"/>
                  <a:pt x="0" y="62396"/>
                </a:cubicBezTo>
                <a:lnTo>
                  <a:pt x="0" y="61429"/>
                </a:lnTo>
                <a:cubicBezTo>
                  <a:pt x="0" y="34082"/>
                  <a:pt x="22175" y="11906"/>
                  <a:pt x="49523" y="11906"/>
                </a:cubicBezTo>
                <a:cubicBezTo>
                  <a:pt x="65410" y="11906"/>
                  <a:pt x="80367" y="19534"/>
                  <a:pt x="89669" y="32407"/>
                </a:cubicBezTo>
                <a:close/>
              </a:path>
            </a:pathLst>
          </a:custGeom>
          <a:solidFill>
            <a:srgbClr val="0071E3"/>
          </a:solidFill>
          <a:ln/>
        </p:spPr>
      </p:sp>
      <p:sp>
        <p:nvSpPr>
          <p:cNvPr id="17" name="Text 15"/>
          <p:cNvSpPr/>
          <p:nvPr/>
        </p:nvSpPr>
        <p:spPr>
          <a:xfrm>
            <a:off x="1082675" y="3244851"/>
            <a:ext cx="1438275" cy="228600"/>
          </a:xfrm>
          <a:prstGeom prst="rect">
            <a:avLst/>
          </a:prstGeom>
          <a:noFill/>
          <a:ln/>
        </p:spPr>
        <p:txBody>
          <a:bodyPr wrap="square" lIns="0" tIns="0" rIns="0" bIns="0" rtlCol="0" anchor="ctr"/>
          <a:lstStyle/>
          <a:p>
            <a:pPr>
              <a:lnSpc>
                <a:spcPct val="130000"/>
              </a:lnSpc>
            </a:pPr>
            <a:r>
              <a:rPr lang="en-US" sz="1200" b="1">
                <a:solidFill>
                  <a:srgbClr val="1D1D1F"/>
                </a:solidFill>
                <a:latin typeface="Liter" pitchFamily="34" charset="0"/>
                <a:ea typeface="Liter" pitchFamily="34" charset="-122"/>
                <a:cs typeface="Liter" pitchFamily="34" charset="-120"/>
              </a:rPr>
              <a:t>Loved Tracks</a:t>
            </a:r>
            <a:endParaRPr lang="en-US" sz="1600"/>
          </a:p>
        </p:txBody>
      </p:sp>
      <p:sp>
        <p:nvSpPr>
          <p:cNvPr id="18" name="Text 16"/>
          <p:cNvSpPr/>
          <p:nvPr/>
        </p:nvSpPr>
        <p:spPr>
          <a:xfrm>
            <a:off x="1082675" y="3473451"/>
            <a:ext cx="1428750"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Emotional engagement</a:t>
            </a:r>
            <a:endParaRPr lang="en-US" sz="1600"/>
          </a:p>
        </p:txBody>
      </p:sp>
      <p:sp>
        <p:nvSpPr>
          <p:cNvPr id="19" name="Shape 17"/>
          <p:cNvSpPr/>
          <p:nvPr/>
        </p:nvSpPr>
        <p:spPr>
          <a:xfrm>
            <a:off x="3140075" y="3130551"/>
            <a:ext cx="2371725" cy="647700"/>
          </a:xfrm>
          <a:custGeom>
            <a:avLst/>
            <a:gdLst/>
            <a:ahLst/>
            <a:cxnLst/>
            <a:rect l="l" t="t" r="r" b="b"/>
            <a:pathLst>
              <a:path w="2371725" h="647700">
                <a:moveTo>
                  <a:pt x="114300" y="0"/>
                </a:moveTo>
                <a:lnTo>
                  <a:pt x="2257425" y="0"/>
                </a:lnTo>
                <a:cubicBezTo>
                  <a:pt x="2320551" y="0"/>
                  <a:pt x="2371725" y="51174"/>
                  <a:pt x="2371725" y="114300"/>
                </a:cubicBezTo>
                <a:lnTo>
                  <a:pt x="2371725" y="533400"/>
                </a:lnTo>
                <a:cubicBezTo>
                  <a:pt x="2371725" y="596526"/>
                  <a:pt x="2320551" y="647700"/>
                  <a:pt x="2257425" y="647700"/>
                </a:cubicBezTo>
                <a:lnTo>
                  <a:pt x="114300" y="647700"/>
                </a:lnTo>
                <a:cubicBezTo>
                  <a:pt x="51216" y="647700"/>
                  <a:pt x="0" y="596484"/>
                  <a:pt x="0" y="533400"/>
                </a:cubicBezTo>
                <a:lnTo>
                  <a:pt x="0" y="114300"/>
                </a:lnTo>
                <a:cubicBezTo>
                  <a:pt x="0" y="51216"/>
                  <a:pt x="51216" y="0"/>
                  <a:pt x="114300" y="0"/>
                </a:cubicBezTo>
                <a:close/>
              </a:path>
            </a:pathLst>
          </a:custGeom>
          <a:solidFill>
            <a:srgbClr val="0071E3">
              <a:alpha val="5098"/>
            </a:srgbClr>
          </a:solidFill>
          <a:ln/>
        </p:spPr>
      </p:sp>
      <p:sp>
        <p:nvSpPr>
          <p:cNvPr id="20" name="Shape 18"/>
          <p:cNvSpPr/>
          <p:nvPr/>
        </p:nvSpPr>
        <p:spPr>
          <a:xfrm>
            <a:off x="3254375" y="3359151"/>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0071E3"/>
          </a:solidFill>
          <a:ln/>
        </p:spPr>
      </p:sp>
      <p:sp>
        <p:nvSpPr>
          <p:cNvPr id="21" name="Text 19"/>
          <p:cNvSpPr/>
          <p:nvPr/>
        </p:nvSpPr>
        <p:spPr>
          <a:xfrm>
            <a:off x="3606800" y="3244851"/>
            <a:ext cx="1343025" cy="228600"/>
          </a:xfrm>
          <a:prstGeom prst="rect">
            <a:avLst/>
          </a:prstGeom>
          <a:noFill/>
          <a:ln/>
        </p:spPr>
        <p:txBody>
          <a:bodyPr wrap="square" lIns="0" tIns="0" rIns="0" bIns="0" rtlCol="0" anchor="ctr"/>
          <a:lstStyle/>
          <a:p>
            <a:pPr>
              <a:lnSpc>
                <a:spcPct val="130000"/>
              </a:lnSpc>
            </a:pPr>
            <a:r>
              <a:rPr lang="en-US" sz="1200" b="1">
                <a:solidFill>
                  <a:srgbClr val="1D1D1F"/>
                </a:solidFill>
                <a:latin typeface="Liter" pitchFamily="34" charset="0"/>
                <a:ea typeface="Liter" pitchFamily="34" charset="-122"/>
                <a:cs typeface="Liter" pitchFamily="34" charset="-120"/>
              </a:rPr>
              <a:t>Subscriber Friends</a:t>
            </a:r>
            <a:endParaRPr lang="en-US" sz="1600"/>
          </a:p>
        </p:txBody>
      </p:sp>
      <p:sp>
        <p:nvSpPr>
          <p:cNvPr id="22" name="Text 20"/>
          <p:cNvSpPr/>
          <p:nvPr/>
        </p:nvSpPr>
        <p:spPr>
          <a:xfrm>
            <a:off x="3606800" y="3473451"/>
            <a:ext cx="1333500"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Social network</a:t>
            </a:r>
            <a:endParaRPr lang="en-US" sz="1600"/>
          </a:p>
        </p:txBody>
      </p:sp>
      <p:sp>
        <p:nvSpPr>
          <p:cNvPr id="23" name="Shape 21"/>
          <p:cNvSpPr/>
          <p:nvPr/>
        </p:nvSpPr>
        <p:spPr>
          <a:xfrm>
            <a:off x="615950" y="3930651"/>
            <a:ext cx="4895850" cy="647700"/>
          </a:xfrm>
          <a:custGeom>
            <a:avLst/>
            <a:gdLst/>
            <a:ahLst/>
            <a:cxnLst/>
            <a:rect l="l" t="t" r="r" b="b"/>
            <a:pathLst>
              <a:path w="4895850" h="647700">
                <a:moveTo>
                  <a:pt x="114300" y="0"/>
                </a:moveTo>
                <a:lnTo>
                  <a:pt x="4781550" y="0"/>
                </a:lnTo>
                <a:cubicBezTo>
                  <a:pt x="4844676" y="0"/>
                  <a:pt x="4895850" y="51174"/>
                  <a:pt x="4895850" y="114300"/>
                </a:cubicBezTo>
                <a:lnTo>
                  <a:pt x="4895850" y="533400"/>
                </a:lnTo>
                <a:cubicBezTo>
                  <a:pt x="4895850" y="596526"/>
                  <a:pt x="4844676" y="647700"/>
                  <a:pt x="4781550" y="647700"/>
                </a:cubicBezTo>
                <a:lnTo>
                  <a:pt x="114300" y="647700"/>
                </a:lnTo>
                <a:cubicBezTo>
                  <a:pt x="51216" y="647700"/>
                  <a:pt x="0" y="596484"/>
                  <a:pt x="0" y="533400"/>
                </a:cubicBezTo>
                <a:lnTo>
                  <a:pt x="0" y="114300"/>
                </a:lnTo>
                <a:cubicBezTo>
                  <a:pt x="0" y="51216"/>
                  <a:pt x="51216" y="0"/>
                  <a:pt x="114300" y="0"/>
                </a:cubicBezTo>
                <a:close/>
              </a:path>
            </a:pathLst>
          </a:custGeom>
          <a:solidFill>
            <a:srgbClr val="0071E3">
              <a:alpha val="5098"/>
            </a:srgbClr>
          </a:solidFill>
          <a:ln/>
        </p:spPr>
      </p:sp>
      <p:sp>
        <p:nvSpPr>
          <p:cNvPr id="24" name="Shape 22"/>
          <p:cNvSpPr/>
          <p:nvPr/>
        </p:nvSpPr>
        <p:spPr>
          <a:xfrm>
            <a:off x="754063" y="4159251"/>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0071E3"/>
          </a:solidFill>
          <a:ln/>
        </p:spPr>
      </p:sp>
      <p:sp>
        <p:nvSpPr>
          <p:cNvPr id="25" name="Text 23"/>
          <p:cNvSpPr/>
          <p:nvPr/>
        </p:nvSpPr>
        <p:spPr>
          <a:xfrm>
            <a:off x="1082675" y="4044951"/>
            <a:ext cx="2476500" cy="228600"/>
          </a:xfrm>
          <a:prstGeom prst="rect">
            <a:avLst/>
          </a:prstGeom>
          <a:noFill/>
          <a:ln/>
        </p:spPr>
        <p:txBody>
          <a:bodyPr wrap="square" lIns="0" tIns="0" rIns="0" bIns="0" rtlCol="0" anchor="ctr"/>
          <a:lstStyle/>
          <a:p>
            <a:pPr>
              <a:lnSpc>
                <a:spcPct val="130000"/>
              </a:lnSpc>
            </a:pPr>
            <a:r>
              <a:rPr lang="en-US" sz="1200" b="1">
                <a:solidFill>
                  <a:srgbClr val="1D1D1F"/>
                </a:solidFill>
                <a:latin typeface="Liter" pitchFamily="34" charset="0"/>
                <a:ea typeface="Liter" pitchFamily="34" charset="-122"/>
                <a:cs typeface="Liter" pitchFamily="34" charset="-120"/>
              </a:rPr>
              <a:t>Growth in Engagement (Δ behavior)</a:t>
            </a:r>
            <a:endParaRPr lang="en-US" sz="1600"/>
          </a:p>
        </p:txBody>
      </p:sp>
      <p:sp>
        <p:nvSpPr>
          <p:cNvPr id="26" name="Text 24"/>
          <p:cNvSpPr/>
          <p:nvPr/>
        </p:nvSpPr>
        <p:spPr>
          <a:xfrm>
            <a:off x="1082675" y="4273551"/>
            <a:ext cx="2466975"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Momentum and trajectory</a:t>
            </a:r>
            <a:endParaRPr lang="en-US" sz="1600"/>
          </a:p>
        </p:txBody>
      </p:sp>
      <p:sp>
        <p:nvSpPr>
          <p:cNvPr id="27" name="Shape 25"/>
          <p:cNvSpPr/>
          <p:nvPr/>
        </p:nvSpPr>
        <p:spPr>
          <a:xfrm>
            <a:off x="381000" y="5080002"/>
            <a:ext cx="5362575" cy="1600200"/>
          </a:xfrm>
          <a:custGeom>
            <a:avLst/>
            <a:gdLst/>
            <a:ahLst/>
            <a:cxnLst/>
            <a:rect l="l" t="t" r="r" b="b"/>
            <a:pathLst>
              <a:path w="5362575" h="1600200">
                <a:moveTo>
                  <a:pt x="152403" y="0"/>
                </a:moveTo>
                <a:lnTo>
                  <a:pt x="5210172" y="0"/>
                </a:lnTo>
                <a:cubicBezTo>
                  <a:pt x="5294342" y="0"/>
                  <a:pt x="5362575" y="68233"/>
                  <a:pt x="5362575" y="152403"/>
                </a:cubicBezTo>
                <a:lnTo>
                  <a:pt x="5362575" y="1447797"/>
                </a:lnTo>
                <a:cubicBezTo>
                  <a:pt x="5362575" y="1531967"/>
                  <a:pt x="5294342" y="1600200"/>
                  <a:pt x="5210172" y="1600200"/>
                </a:cubicBezTo>
                <a:lnTo>
                  <a:pt x="152403" y="1600200"/>
                </a:lnTo>
                <a:cubicBezTo>
                  <a:pt x="68233" y="1600200"/>
                  <a:pt x="0" y="1531967"/>
                  <a:pt x="0" y="1447797"/>
                </a:cubicBezTo>
                <a:lnTo>
                  <a:pt x="0" y="152403"/>
                </a:lnTo>
                <a:cubicBezTo>
                  <a:pt x="0" y="68290"/>
                  <a:pt x="68290" y="0"/>
                  <a:pt x="152403" y="0"/>
                </a:cubicBezTo>
                <a:close/>
              </a:path>
            </a:pathLst>
          </a:custGeom>
          <a:gradFill flip="none" rotWithShape="1">
            <a:gsLst>
              <a:gs pos="0">
                <a:srgbClr val="1D1D1F"/>
              </a:gs>
              <a:gs pos="100000">
                <a:srgbClr val="86868B"/>
              </a:gs>
            </a:gsLst>
            <a:lin ang="0" scaled="1"/>
          </a:gradFill>
          <a:ln/>
        </p:spPr>
      </p:sp>
      <p:sp>
        <p:nvSpPr>
          <p:cNvPr id="28" name="Text 26"/>
          <p:cNvSpPr/>
          <p:nvPr/>
        </p:nvSpPr>
        <p:spPr>
          <a:xfrm>
            <a:off x="571500" y="5270502"/>
            <a:ext cx="5067300" cy="266700"/>
          </a:xfrm>
          <a:prstGeom prst="rect">
            <a:avLst/>
          </a:prstGeom>
          <a:noFill/>
          <a:ln/>
        </p:spPr>
        <p:txBody>
          <a:bodyPr wrap="square" lIns="0" tIns="0" rIns="0" bIns="0" rtlCol="0" anchor="ctr"/>
          <a:lstStyle/>
          <a:p>
            <a:pPr>
              <a:lnSpc>
                <a:spcPct val="130000"/>
              </a:lnSpc>
            </a:pPr>
            <a:r>
              <a:rPr lang="en-US" sz="1350" b="1">
                <a:solidFill>
                  <a:srgbClr val="FFFFFF"/>
                </a:solidFill>
                <a:latin typeface="Hedvig Letters Sans" pitchFamily="34" charset="0"/>
                <a:ea typeface="Hedvig Letters Sans" pitchFamily="34" charset="-122"/>
                <a:cs typeface="Hedvig Letters Sans" pitchFamily="34" charset="-120"/>
              </a:rPr>
              <a:t>Key Interpretation</a:t>
            </a:r>
            <a:endParaRPr lang="en-US" sz="1600"/>
          </a:p>
        </p:txBody>
      </p:sp>
      <p:sp>
        <p:nvSpPr>
          <p:cNvPr id="29" name="Text 27"/>
          <p:cNvSpPr/>
          <p:nvPr/>
        </p:nvSpPr>
        <p:spPr>
          <a:xfrm>
            <a:off x="571500" y="5651502"/>
            <a:ext cx="5057775" cy="228600"/>
          </a:xfrm>
          <a:prstGeom prst="rect">
            <a:avLst/>
          </a:prstGeom>
          <a:noFill/>
          <a:ln/>
        </p:spPr>
        <p:txBody>
          <a:bodyPr wrap="square" lIns="0" tIns="0" rIns="0" bIns="0" rtlCol="0" anchor="ctr"/>
          <a:lstStyle/>
          <a:p>
            <a:pPr>
              <a:lnSpc>
                <a:spcPct val="130000"/>
              </a:lnSpc>
            </a:pPr>
            <a:r>
              <a:rPr lang="en-US" sz="1200">
                <a:solidFill>
                  <a:srgbClr val="FFFFFF"/>
                </a:solidFill>
                <a:latin typeface="Liter" pitchFamily="34" charset="0"/>
                <a:ea typeface="Liter" pitchFamily="34" charset="-122"/>
                <a:cs typeface="Liter" pitchFamily="34" charset="-120"/>
              </a:rPr>
              <a:t>• Users pay when High Note becomes part of their </a:t>
            </a:r>
            <a:r>
              <a:rPr lang="en-US" sz="1200" b="1">
                <a:solidFill>
                  <a:srgbClr val="FFFFFF"/>
                </a:solidFill>
                <a:latin typeface="Liter" pitchFamily="34" charset="0"/>
                <a:ea typeface="Liter" pitchFamily="34" charset="-122"/>
                <a:cs typeface="Liter" pitchFamily="34" charset="-120"/>
              </a:rPr>
              <a:t>daily habit</a:t>
            </a:r>
            <a:endParaRPr lang="en-US" sz="1600"/>
          </a:p>
        </p:txBody>
      </p:sp>
      <p:sp>
        <p:nvSpPr>
          <p:cNvPr id="30" name="Text 28"/>
          <p:cNvSpPr/>
          <p:nvPr/>
        </p:nvSpPr>
        <p:spPr>
          <a:xfrm>
            <a:off x="571500" y="5956302"/>
            <a:ext cx="5057775" cy="228600"/>
          </a:xfrm>
          <a:prstGeom prst="rect">
            <a:avLst/>
          </a:prstGeom>
          <a:noFill/>
          <a:ln/>
        </p:spPr>
        <p:txBody>
          <a:bodyPr wrap="square" lIns="0" tIns="0" rIns="0" bIns="0" rtlCol="0" anchor="ctr"/>
          <a:lstStyle/>
          <a:p>
            <a:pPr>
              <a:lnSpc>
                <a:spcPct val="130000"/>
              </a:lnSpc>
            </a:pPr>
            <a:r>
              <a:rPr lang="en-US" sz="1200">
                <a:solidFill>
                  <a:srgbClr val="FFFFFF"/>
                </a:solidFill>
                <a:latin typeface="Liter" pitchFamily="34" charset="0"/>
                <a:ea typeface="Liter" pitchFamily="34" charset="-122"/>
                <a:cs typeface="Liter" pitchFamily="34" charset="-120"/>
              </a:rPr>
              <a:t>• </a:t>
            </a:r>
            <a:r>
              <a:rPr lang="en-US" sz="1200" b="1">
                <a:solidFill>
                  <a:srgbClr val="FFFFFF"/>
                </a:solidFill>
                <a:latin typeface="Liter" pitchFamily="34" charset="0"/>
                <a:ea typeface="Liter" pitchFamily="34" charset="-122"/>
                <a:cs typeface="Liter" pitchFamily="34" charset="-120"/>
              </a:rPr>
              <a:t>Social reinforcement</a:t>
            </a:r>
            <a:r>
              <a:rPr lang="en-US" sz="1200">
                <a:solidFill>
                  <a:srgbClr val="FFFFFF"/>
                </a:solidFill>
                <a:latin typeface="Liter" pitchFamily="34" charset="0"/>
                <a:ea typeface="Liter" pitchFamily="34" charset="-122"/>
                <a:cs typeface="Liter" pitchFamily="34" charset="-120"/>
              </a:rPr>
              <a:t> increases perceived platform value</a:t>
            </a:r>
            <a:endParaRPr lang="en-US" sz="1600"/>
          </a:p>
        </p:txBody>
      </p:sp>
      <p:sp>
        <p:nvSpPr>
          <p:cNvPr id="31" name="Text 29"/>
          <p:cNvSpPr/>
          <p:nvPr/>
        </p:nvSpPr>
        <p:spPr>
          <a:xfrm>
            <a:off x="571500" y="6261102"/>
            <a:ext cx="5057775" cy="228600"/>
          </a:xfrm>
          <a:prstGeom prst="rect">
            <a:avLst/>
          </a:prstGeom>
          <a:noFill/>
          <a:ln/>
        </p:spPr>
        <p:txBody>
          <a:bodyPr wrap="square" lIns="0" tIns="0" rIns="0" bIns="0" rtlCol="0" anchor="ctr"/>
          <a:lstStyle/>
          <a:p>
            <a:pPr>
              <a:lnSpc>
                <a:spcPct val="130000"/>
              </a:lnSpc>
            </a:pPr>
            <a:r>
              <a:rPr lang="en-US" sz="1200">
                <a:solidFill>
                  <a:srgbClr val="FFFFFF"/>
                </a:solidFill>
                <a:latin typeface="Liter" pitchFamily="34" charset="0"/>
                <a:ea typeface="Liter" pitchFamily="34" charset="-122"/>
                <a:cs typeface="Liter" pitchFamily="34" charset="-120"/>
              </a:rPr>
              <a:t>• Subscription is not random—it's driven by </a:t>
            </a:r>
            <a:r>
              <a:rPr lang="en-US" sz="1200" b="1">
                <a:solidFill>
                  <a:srgbClr val="FFFFFF"/>
                </a:solidFill>
                <a:latin typeface="Liter" pitchFamily="34" charset="0"/>
                <a:ea typeface="Liter" pitchFamily="34" charset="-122"/>
                <a:cs typeface="Liter" pitchFamily="34" charset="-120"/>
              </a:rPr>
              <a:t>behavioral patterns</a:t>
            </a:r>
            <a:endParaRPr lang="en-US" sz="1600"/>
          </a:p>
        </p:txBody>
      </p:sp>
      <p:sp>
        <p:nvSpPr>
          <p:cNvPr id="32" name="Shape 30"/>
          <p:cNvSpPr/>
          <p:nvPr/>
        </p:nvSpPr>
        <p:spPr>
          <a:xfrm>
            <a:off x="5978525" y="1679575"/>
            <a:ext cx="5826125" cy="4997450"/>
          </a:xfrm>
          <a:custGeom>
            <a:avLst/>
            <a:gdLst/>
            <a:ahLst/>
            <a:cxnLst/>
            <a:rect l="l" t="t" r="r" b="b"/>
            <a:pathLst>
              <a:path w="5826125" h="4997450">
                <a:moveTo>
                  <a:pt x="152422" y="0"/>
                </a:moveTo>
                <a:lnTo>
                  <a:pt x="5673703" y="0"/>
                </a:lnTo>
                <a:cubicBezTo>
                  <a:pt x="5757883" y="0"/>
                  <a:pt x="5826125" y="68242"/>
                  <a:pt x="5826125" y="152422"/>
                </a:cubicBezTo>
                <a:lnTo>
                  <a:pt x="5826125" y="4845028"/>
                </a:lnTo>
                <a:cubicBezTo>
                  <a:pt x="5826125" y="4929208"/>
                  <a:pt x="5757883" y="4997450"/>
                  <a:pt x="5673703" y="4997450"/>
                </a:cubicBezTo>
                <a:lnTo>
                  <a:pt x="152422" y="4997450"/>
                </a:lnTo>
                <a:cubicBezTo>
                  <a:pt x="68242" y="4997450"/>
                  <a:pt x="0" y="4929208"/>
                  <a:pt x="0" y="4845028"/>
                </a:cubicBezTo>
                <a:lnTo>
                  <a:pt x="0" y="152422"/>
                </a:lnTo>
                <a:cubicBezTo>
                  <a:pt x="0" y="68298"/>
                  <a:pt x="68298" y="0"/>
                  <a:pt x="152422" y="0"/>
                </a:cubicBezTo>
                <a:close/>
              </a:path>
            </a:pathLst>
          </a:custGeom>
          <a:solidFill>
            <a:srgbClr val="FFFFFF"/>
          </a:solidFill>
          <a:ln w="8467">
            <a:solidFill>
              <a:srgbClr val="F3F4F6"/>
            </a:solidFill>
            <a:prstDash val="solid"/>
          </a:ln>
          <a:effectLst>
            <a:outerShdw blurRad="28575" dist="9525" dir="5400000" algn="bl" rotWithShape="0">
              <a:srgbClr val="000000">
                <a:alpha val="10196"/>
              </a:srgbClr>
            </a:outerShdw>
          </a:effectLst>
        </p:spPr>
      </p:sp>
      <p:sp>
        <p:nvSpPr>
          <p:cNvPr id="33" name="Text 31"/>
          <p:cNvSpPr/>
          <p:nvPr/>
        </p:nvSpPr>
        <p:spPr>
          <a:xfrm>
            <a:off x="6199415" y="1911351"/>
            <a:ext cx="5446939" cy="429985"/>
          </a:xfrm>
          <a:prstGeom prst="rect">
            <a:avLst/>
          </a:prstGeom>
          <a:noFill/>
          <a:ln/>
        </p:spPr>
        <p:txBody>
          <a:bodyPr wrap="square" lIns="0" tIns="0" rIns="0" bIns="0" rtlCol="0" anchor="ctr"/>
          <a:lstStyle/>
          <a:p>
            <a:r>
              <a:rPr lang="en-US" sz="1500" b="1">
                <a:solidFill>
                  <a:srgbClr val="1D1D1F"/>
                </a:solidFill>
                <a:latin typeface="Liter"/>
                <a:ea typeface="+mn-lt"/>
                <a:cs typeface="+mn-lt"/>
              </a:rPr>
              <a:t>Predicted Probability of Adoption by Playlists and</a:t>
            </a:r>
            <a:endParaRPr lang="en-US" b="1">
              <a:latin typeface="Liter"/>
              <a:ea typeface="Calibri"/>
              <a:cs typeface="Calibri"/>
            </a:endParaRPr>
          </a:p>
          <a:p>
            <a:pPr>
              <a:lnSpc>
                <a:spcPct val="120000"/>
              </a:lnSpc>
            </a:pPr>
            <a:r>
              <a:rPr lang="en-US" sz="1500" b="1">
                <a:solidFill>
                  <a:srgbClr val="1D1D1F"/>
                </a:solidFill>
                <a:latin typeface="Liter"/>
                <a:ea typeface="+mn-lt"/>
                <a:cs typeface="+mn-lt"/>
              </a:rPr>
              <a:t>Subscriber Friends</a:t>
            </a:r>
            <a:endParaRPr lang="en-US" b="1">
              <a:latin typeface="Liter"/>
            </a:endParaRPr>
          </a:p>
        </p:txBody>
      </p:sp>
      <p:sp>
        <p:nvSpPr>
          <p:cNvPr id="35" name="Text 32"/>
          <p:cNvSpPr/>
          <p:nvPr/>
        </p:nvSpPr>
        <p:spPr>
          <a:xfrm>
            <a:off x="6210300" y="6254751"/>
            <a:ext cx="5429250" cy="190500"/>
          </a:xfrm>
          <a:prstGeom prst="rect">
            <a:avLst/>
          </a:prstGeom>
          <a:noFill/>
          <a:ln/>
        </p:spPr>
        <p:txBody>
          <a:bodyPr wrap="square" lIns="0" tIns="0" rIns="0" bIns="0" rtlCol="0" anchor="ctr"/>
          <a:lstStyle/>
          <a:p>
            <a:pPr>
              <a:lnSpc>
                <a:spcPct val="120000"/>
              </a:lnSpc>
            </a:pPr>
            <a:r>
              <a:rPr lang="en-US" sz="1050">
                <a:solidFill>
                  <a:srgbClr val="86868B"/>
                </a:solidFill>
                <a:latin typeface="Liter" pitchFamily="34" charset="0"/>
                <a:ea typeface="Liter" pitchFamily="34" charset="-122"/>
                <a:cs typeface="Liter" pitchFamily="34" charset="-120"/>
              </a:rPr>
              <a:t>Higher bars indicate larger behavioral gaps between adopters and non-adopters</a:t>
            </a:r>
            <a:endParaRPr lang="en-US" sz="1600"/>
          </a:p>
        </p:txBody>
      </p:sp>
      <p:pic>
        <p:nvPicPr>
          <p:cNvPr id="37" name="Picture 36" descr="A red and blue graph&#10;&#10;AI-generated content may be incorrect.">
            <a:extLst>
              <a:ext uri="{FF2B5EF4-FFF2-40B4-BE49-F238E27FC236}">
                <a16:creationId xmlns:a16="http://schemas.microsoft.com/office/drawing/2014/main" id="{2B3B0419-4AC2-3022-9354-826D2EF6C559}"/>
              </a:ext>
            </a:extLst>
          </p:cNvPr>
          <p:cNvPicPr>
            <a:picLocks noChangeAspect="1"/>
          </p:cNvPicPr>
          <p:nvPr/>
        </p:nvPicPr>
        <p:blipFill>
          <a:blip r:embed="rId3"/>
          <a:stretch>
            <a:fillRect/>
          </a:stretch>
        </p:blipFill>
        <p:spPr>
          <a:xfrm>
            <a:off x="6092599" y="2449967"/>
            <a:ext cx="5689146" cy="3427638"/>
          </a:xfrm>
          <a:prstGeom prst="rect">
            <a:avLst/>
          </a:prstGeom>
        </p:spPr>
      </p:pic>
      <p:pic>
        <p:nvPicPr>
          <p:cNvPr id="36" name="Picture 35" descr="A logo on a glass wall&#10;&#10;AI-generated content may be incorrect.">
            <a:extLst>
              <a:ext uri="{FF2B5EF4-FFF2-40B4-BE49-F238E27FC236}">
                <a16:creationId xmlns:a16="http://schemas.microsoft.com/office/drawing/2014/main" id="{5B45549D-2771-C527-3CC5-66E633835821}"/>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010622-2DCF-79F6-0525-76E71C351A57}"/>
              </a:ext>
            </a:extLst>
          </p:cNvPr>
          <p:cNvSpPr txBox="1"/>
          <p:nvPr/>
        </p:nvSpPr>
        <p:spPr>
          <a:xfrm>
            <a:off x="8153400" y="1128094"/>
            <a:ext cx="3434180" cy="141527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3200" b="1" kern="1200">
                <a:solidFill>
                  <a:schemeClr val="tx1"/>
                </a:solidFill>
                <a:latin typeface="+mj-lt"/>
                <a:ea typeface="+mj-ea"/>
                <a:cs typeface="+mj-cs"/>
              </a:rPr>
              <a:t>Bottom vs Middle vs Top Deciles</a:t>
            </a:r>
            <a:endParaRPr lang="en-US" sz="3200" kern="1200">
              <a:solidFill>
                <a:schemeClr val="tx1"/>
              </a:solidFill>
              <a:latin typeface="+mj-lt"/>
              <a:ea typeface="+mj-ea"/>
              <a:cs typeface="+mj-cs"/>
            </a:endParaRPr>
          </a:p>
          <a:p>
            <a:pPr>
              <a:lnSpc>
                <a:spcPct val="90000"/>
              </a:lnSpc>
              <a:spcBef>
                <a:spcPct val="0"/>
              </a:spcBef>
              <a:spcAft>
                <a:spcPts val="600"/>
              </a:spcAft>
            </a:pPr>
            <a:endParaRPr lang="en-US" sz="3200" kern="1200">
              <a:solidFill>
                <a:schemeClr val="tx1"/>
              </a:solidFill>
              <a:latin typeface="+mj-lt"/>
              <a:ea typeface="+mj-ea"/>
              <a:cs typeface="+mj-cs"/>
            </a:endParaRPr>
          </a:p>
        </p:txBody>
      </p:sp>
      <p:sp>
        <p:nvSpPr>
          <p:cNvPr id="20" name="Rectangle 19">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CCC4B1E-B04F-891B-244A-8BAD7E39F694}"/>
              </a:ext>
            </a:extLst>
          </p:cNvPr>
          <p:cNvSpPr txBox="1"/>
          <p:nvPr/>
        </p:nvSpPr>
        <p:spPr>
          <a:xfrm>
            <a:off x="8153400" y="2543364"/>
            <a:ext cx="3434180" cy="3599019"/>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b="1"/>
              <a:t>Adoption rises sharply across deciles and accelerates when high engagement is paired with social connectivity.</a:t>
            </a:r>
            <a:br>
              <a:rPr lang="en-US" sz="2000" b="1"/>
            </a:br>
            <a:r>
              <a:rPr lang="en-US" sz="2000" b="1"/>
              <a:t> Top-decile users deliver the greatest impact and should be prioritized for conversion and referral strategies.</a:t>
            </a:r>
            <a:endParaRPr lang="en-US" sz="2000"/>
          </a:p>
        </p:txBody>
      </p:sp>
      <p:graphicFrame>
        <p:nvGraphicFramePr>
          <p:cNvPr id="3" name="Table 2">
            <a:extLst>
              <a:ext uri="{FF2B5EF4-FFF2-40B4-BE49-F238E27FC236}">
                <a16:creationId xmlns:a16="http://schemas.microsoft.com/office/drawing/2014/main" id="{D590305F-B3D0-7C1C-1CB7-543DE8BD37BF}"/>
              </a:ext>
            </a:extLst>
          </p:cNvPr>
          <p:cNvGraphicFramePr>
            <a:graphicFrameLocks noGrp="1"/>
          </p:cNvGraphicFramePr>
          <p:nvPr>
            <p:extLst>
              <p:ext uri="{D42A27DB-BD31-4B8C-83A1-F6EECF244321}">
                <p14:modId xmlns:p14="http://schemas.microsoft.com/office/powerpoint/2010/main" val="618712425"/>
              </p:ext>
            </p:extLst>
          </p:nvPr>
        </p:nvGraphicFramePr>
        <p:xfrm>
          <a:off x="669235" y="2271183"/>
          <a:ext cx="6221898" cy="2632432"/>
        </p:xfrm>
        <a:graphic>
          <a:graphicData uri="http://schemas.openxmlformats.org/drawingml/2006/table">
            <a:tbl>
              <a:tblPr firstRow="1" bandRow="1">
                <a:tableStyleId>{5C22544A-7EE6-4342-B048-85BDC9FD1C3A}</a:tableStyleId>
              </a:tblPr>
              <a:tblGrid>
                <a:gridCol w="921825">
                  <a:extLst>
                    <a:ext uri="{9D8B030D-6E8A-4147-A177-3AD203B41FA5}">
                      <a16:colId xmlns:a16="http://schemas.microsoft.com/office/drawing/2014/main" val="2540937422"/>
                    </a:ext>
                  </a:extLst>
                </a:gridCol>
                <a:gridCol w="1183037">
                  <a:extLst>
                    <a:ext uri="{9D8B030D-6E8A-4147-A177-3AD203B41FA5}">
                      <a16:colId xmlns:a16="http://schemas.microsoft.com/office/drawing/2014/main" val="3431924912"/>
                    </a:ext>
                  </a:extLst>
                </a:gridCol>
                <a:gridCol w="713277">
                  <a:extLst>
                    <a:ext uri="{9D8B030D-6E8A-4147-A177-3AD203B41FA5}">
                      <a16:colId xmlns:a16="http://schemas.microsoft.com/office/drawing/2014/main" val="2785464035"/>
                    </a:ext>
                  </a:extLst>
                </a:gridCol>
                <a:gridCol w="720650">
                  <a:extLst>
                    <a:ext uri="{9D8B030D-6E8A-4147-A177-3AD203B41FA5}">
                      <a16:colId xmlns:a16="http://schemas.microsoft.com/office/drawing/2014/main" val="2238431638"/>
                    </a:ext>
                  </a:extLst>
                </a:gridCol>
                <a:gridCol w="969223">
                  <a:extLst>
                    <a:ext uri="{9D8B030D-6E8A-4147-A177-3AD203B41FA5}">
                      <a16:colId xmlns:a16="http://schemas.microsoft.com/office/drawing/2014/main" val="3817693954"/>
                    </a:ext>
                  </a:extLst>
                </a:gridCol>
                <a:gridCol w="1713886">
                  <a:extLst>
                    <a:ext uri="{9D8B030D-6E8A-4147-A177-3AD203B41FA5}">
                      <a16:colId xmlns:a16="http://schemas.microsoft.com/office/drawing/2014/main" val="1524860557"/>
                    </a:ext>
                  </a:extLst>
                </a:gridCol>
              </a:tblGrid>
              <a:tr h="432095">
                <a:tc>
                  <a:txBody>
                    <a:bodyPr/>
                    <a:lstStyle/>
                    <a:p>
                      <a:pPr algn="ctr" rtl="0" fontAlgn="t">
                        <a:spcBef>
                          <a:spcPts val="1200"/>
                        </a:spcBef>
                        <a:spcAft>
                          <a:spcPts val="1200"/>
                        </a:spcAft>
                        <a:buNone/>
                      </a:pPr>
                      <a:r>
                        <a:rPr lang="en-US" sz="1100">
                          <a:solidFill>
                            <a:schemeClr val="bg1"/>
                          </a:solidFill>
                          <a:effectLst/>
                          <a:latin typeface="Hedvig Letters Sans"/>
                        </a:rPr>
                        <a:t>Decile Group</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Adoption Rate</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Songs Listened</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Loved Tracks</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Subscriber Friends</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Key Interpretation</a:t>
                      </a:r>
                      <a:endParaRPr lang="en-US" sz="1200">
                        <a:solidFill>
                          <a:schemeClr val="bg1"/>
                        </a:solidFill>
                        <a:latin typeface="Hedvig Letters Sans"/>
                      </a:endParaRPr>
                    </a:p>
                  </a:txBody>
                  <a:tcPr marL="42131" marR="42131" marT="42131" marB="42131">
                    <a:solidFill>
                      <a:schemeClr val="accent5"/>
                    </a:solidFill>
                  </a:tcPr>
                </a:tc>
                <a:extLst>
                  <a:ext uri="{0D108BD9-81ED-4DB2-BD59-A6C34878D82A}">
                    <a16:rowId xmlns:a16="http://schemas.microsoft.com/office/drawing/2014/main" val="683718732"/>
                  </a:ext>
                </a:extLst>
              </a:tr>
              <a:tr h="593878">
                <a:tc>
                  <a:txBody>
                    <a:bodyPr/>
                    <a:lstStyle/>
                    <a:p>
                      <a:pPr algn="ctr" rtl="0" fontAlgn="t">
                        <a:spcBef>
                          <a:spcPts val="1200"/>
                        </a:spcBef>
                        <a:spcAft>
                          <a:spcPts val="1200"/>
                        </a:spcAft>
                        <a:buNone/>
                      </a:pPr>
                      <a:r>
                        <a:rPr lang="en-US" sz="1100">
                          <a:effectLst/>
                          <a:latin typeface="Hedvig Letters Sans"/>
                        </a:rPr>
                        <a:t>Deciles 1–5 (Bottom 50%)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~4.8k–7.7k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~26–50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~0.06–0.36</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Very low engagement, weak social network → unlikely to convert</a:t>
                      </a:r>
                      <a:endParaRPr lang="en-US" sz="1200">
                        <a:latin typeface="Hedvig Letters Sans"/>
                      </a:endParaRPr>
                    </a:p>
                  </a:txBody>
                  <a:tcPr marL="42131" marR="42131" marT="42131" marB="42131"/>
                </a:tc>
                <a:extLst>
                  <a:ext uri="{0D108BD9-81ED-4DB2-BD59-A6C34878D82A}">
                    <a16:rowId xmlns:a16="http://schemas.microsoft.com/office/drawing/2014/main" val="3449637985"/>
                  </a:ext>
                </a:extLst>
              </a:tr>
              <a:tr h="432095">
                <a:tc>
                  <a:txBody>
                    <a:bodyPr/>
                    <a:lstStyle/>
                    <a:p>
                      <a:pPr algn="ctr" rtl="0" fontAlgn="t">
                        <a:spcBef>
                          <a:spcPts val="1200"/>
                        </a:spcBef>
                        <a:spcAft>
                          <a:spcPts val="1200"/>
                        </a:spcAft>
                        <a:buNone/>
                      </a:pPr>
                      <a:r>
                        <a:rPr lang="en-US" sz="1100">
                          <a:effectLst/>
                          <a:latin typeface="Hedvig Letters Sans"/>
                        </a:rPr>
                        <a:t>Deciles 7–8 (High)</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9–10%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~10k–14k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~78–87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~0.31–0.47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Strong usage + growing social exposure</a:t>
                      </a:r>
                      <a:endParaRPr lang="en-US" sz="1200">
                        <a:latin typeface="Hedvig Letters Sans"/>
                      </a:endParaRPr>
                    </a:p>
                  </a:txBody>
                  <a:tcPr marL="42131" marR="42131" marT="42131" marB="42131"/>
                </a:tc>
                <a:extLst>
                  <a:ext uri="{0D108BD9-81ED-4DB2-BD59-A6C34878D82A}">
                    <a16:rowId xmlns:a16="http://schemas.microsoft.com/office/drawing/2014/main" val="17752482"/>
                  </a:ext>
                </a:extLst>
              </a:tr>
              <a:tr h="432095">
                <a:tc>
                  <a:txBody>
                    <a:bodyPr/>
                    <a:lstStyle/>
                    <a:p>
                      <a:pPr algn="ctr" rtl="0" fontAlgn="t">
                        <a:spcBef>
                          <a:spcPts val="1200"/>
                        </a:spcBef>
                        <a:spcAft>
                          <a:spcPts val="1200"/>
                        </a:spcAft>
                        <a:buNone/>
                      </a:pPr>
                      <a:r>
                        <a:rPr lang="en-US" sz="1100">
                          <a:effectLst/>
                          <a:latin typeface="Hedvig Letters Sans"/>
                        </a:rPr>
                        <a:t>Decile 9</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12.2%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~24.6k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~122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~0.65</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Heavy users, socially embedded</a:t>
                      </a:r>
                      <a:endParaRPr lang="en-US" sz="1200">
                        <a:latin typeface="Hedvig Letters Sans"/>
                      </a:endParaRPr>
                    </a:p>
                  </a:txBody>
                  <a:tcPr marL="42131" marR="42131" marT="42131" marB="42131"/>
                </a:tc>
                <a:extLst>
                  <a:ext uri="{0D108BD9-81ED-4DB2-BD59-A6C34878D82A}">
                    <a16:rowId xmlns:a16="http://schemas.microsoft.com/office/drawing/2014/main" val="1418098806"/>
                  </a:ext>
                </a:extLst>
              </a:tr>
              <a:tr h="432095">
                <a:tc>
                  <a:txBody>
                    <a:bodyPr/>
                    <a:lstStyle/>
                    <a:p>
                      <a:pPr algn="ctr" rtl="0" fontAlgn="t">
                        <a:spcBef>
                          <a:spcPts val="1200"/>
                        </a:spcBef>
                        <a:spcAft>
                          <a:spcPts val="1200"/>
                        </a:spcAft>
                        <a:buNone/>
                      </a:pPr>
                      <a:r>
                        <a:rPr lang="en-US" sz="1100">
                          <a:effectLst/>
                          <a:latin typeface="Hedvig Letters Sans"/>
                        </a:rPr>
                        <a:t>Decile 10 (Top 10%)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19.3%</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44.6k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277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1.16</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Power users with strong social proof → ideal targets</a:t>
                      </a:r>
                      <a:endParaRPr lang="en-US" sz="1200">
                        <a:latin typeface="Hedvig Letters Sans"/>
                      </a:endParaRPr>
                    </a:p>
                  </a:txBody>
                  <a:tcPr marL="42131" marR="42131" marT="42131" marB="42131"/>
                </a:tc>
                <a:extLst>
                  <a:ext uri="{0D108BD9-81ED-4DB2-BD59-A6C34878D82A}">
                    <a16:rowId xmlns:a16="http://schemas.microsoft.com/office/drawing/2014/main" val="3730462942"/>
                  </a:ext>
                </a:extLst>
              </a:tr>
            </a:tbl>
          </a:graphicData>
        </a:graphic>
      </p:graphicFrame>
      <p:pic>
        <p:nvPicPr>
          <p:cNvPr id="6" name="Picture 5" descr="A logo on a glass wall&#10;&#10;AI-generated content may be incorrect.">
            <a:extLst>
              <a:ext uri="{FF2B5EF4-FFF2-40B4-BE49-F238E27FC236}">
                <a16:creationId xmlns:a16="http://schemas.microsoft.com/office/drawing/2014/main" id="{E051DA64-F2A6-27FC-5F55-EB622B3D990A}"/>
              </a:ext>
            </a:extLst>
          </p:cNvPr>
          <p:cNvPicPr>
            <a:picLocks noChangeAspect="1"/>
          </p:cNvPicPr>
          <p:nvPr/>
        </p:nvPicPr>
        <p:blipFill>
          <a:blip r:embed="rId3"/>
          <a:stretch>
            <a:fillRect/>
          </a:stretch>
        </p:blipFill>
        <p:spPr>
          <a:xfrm>
            <a:off x="11070936" y="-1"/>
            <a:ext cx="1121065" cy="1073840"/>
          </a:xfrm>
          <a:prstGeom prst="rect">
            <a:avLst/>
          </a:prstGeom>
        </p:spPr>
      </p:pic>
    </p:spTree>
    <p:extLst>
      <p:ext uri="{BB962C8B-B14F-4D97-AF65-F5344CB8AC3E}">
        <p14:creationId xmlns:p14="http://schemas.microsoft.com/office/powerpoint/2010/main" val="2439271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21689" y="321689"/>
            <a:ext cx="11604918" cy="160844"/>
          </a:xfrm>
          <a:prstGeom prst="rect">
            <a:avLst/>
          </a:prstGeom>
          <a:noFill/>
          <a:ln/>
        </p:spPr>
        <p:txBody>
          <a:bodyPr wrap="square" lIns="0" tIns="0" rIns="0" bIns="0" rtlCol="0" anchor="ctr"/>
          <a:lstStyle/>
          <a:p>
            <a:pPr>
              <a:lnSpc>
                <a:spcPct val="120000"/>
              </a:lnSpc>
            </a:pPr>
            <a:r>
              <a:rPr lang="en-US" sz="887" b="1" kern="0" spc="44" dirty="0">
                <a:solidFill>
                  <a:srgbClr val="0071E3"/>
                </a:solidFill>
                <a:latin typeface="Liter" pitchFamily="34" charset="0"/>
                <a:ea typeface="Liter" pitchFamily="34" charset="-122"/>
                <a:cs typeface="Liter" pitchFamily="34" charset="-120"/>
              </a:rPr>
              <a:t>Model Selection</a:t>
            </a:r>
            <a:endParaRPr lang="en-US" sz="1600" dirty="0"/>
          </a:p>
        </p:txBody>
      </p:sp>
      <p:sp>
        <p:nvSpPr>
          <p:cNvPr id="3" name="Text 1"/>
          <p:cNvSpPr/>
          <p:nvPr/>
        </p:nvSpPr>
        <p:spPr>
          <a:xfrm>
            <a:off x="321689" y="546871"/>
            <a:ext cx="11741636" cy="386026"/>
          </a:xfrm>
          <a:prstGeom prst="rect">
            <a:avLst/>
          </a:prstGeom>
          <a:noFill/>
          <a:ln/>
        </p:spPr>
        <p:txBody>
          <a:bodyPr wrap="square" lIns="0" tIns="0" rIns="0" bIns="0" rtlCol="0" anchor="ctr"/>
          <a:lstStyle/>
          <a:p>
            <a:pPr>
              <a:lnSpc>
                <a:spcPct val="80000"/>
              </a:lnSpc>
            </a:pPr>
            <a:r>
              <a:rPr lang="en-US" sz="3040" b="1" dirty="0">
                <a:solidFill>
                  <a:srgbClr val="1D1D1F"/>
                </a:solidFill>
                <a:latin typeface="Hedvig Letters Sans" pitchFamily="34" charset="0"/>
                <a:ea typeface="Hedvig Letters Sans" pitchFamily="34" charset="-122"/>
                <a:cs typeface="Hedvig Letters Sans" pitchFamily="34" charset="-120"/>
              </a:rPr>
              <a:t>Model Chosen: Logistic Regression</a:t>
            </a:r>
            <a:endParaRPr lang="en-US" sz="1600" dirty="0"/>
          </a:p>
        </p:txBody>
      </p:sp>
      <p:sp>
        <p:nvSpPr>
          <p:cNvPr id="4" name="Shape 2"/>
          <p:cNvSpPr/>
          <p:nvPr/>
        </p:nvSpPr>
        <p:spPr>
          <a:xfrm>
            <a:off x="321689" y="1093741"/>
            <a:ext cx="4929879" cy="3506406"/>
          </a:xfrm>
          <a:custGeom>
            <a:avLst/>
            <a:gdLst/>
            <a:ahLst/>
            <a:cxnLst/>
            <a:rect l="l" t="t" r="r" b="b"/>
            <a:pathLst>
              <a:path w="4929879" h="3506406">
                <a:moveTo>
                  <a:pt x="128685" y="0"/>
                </a:moveTo>
                <a:lnTo>
                  <a:pt x="4801194" y="0"/>
                </a:lnTo>
                <a:cubicBezTo>
                  <a:pt x="4872264" y="0"/>
                  <a:pt x="4929879" y="57614"/>
                  <a:pt x="4929879" y="128685"/>
                </a:cubicBezTo>
                <a:lnTo>
                  <a:pt x="4929879" y="3377721"/>
                </a:lnTo>
                <a:cubicBezTo>
                  <a:pt x="4929879" y="3448792"/>
                  <a:pt x="4872264" y="3506406"/>
                  <a:pt x="4801194" y="3506406"/>
                </a:cubicBezTo>
                <a:lnTo>
                  <a:pt x="128685" y="3506406"/>
                </a:lnTo>
                <a:cubicBezTo>
                  <a:pt x="57614" y="3506406"/>
                  <a:pt x="0" y="3448792"/>
                  <a:pt x="0" y="3377721"/>
                </a:cubicBezTo>
                <a:lnTo>
                  <a:pt x="0" y="128685"/>
                </a:lnTo>
                <a:cubicBezTo>
                  <a:pt x="0" y="57614"/>
                  <a:pt x="57614" y="0"/>
                  <a:pt x="128685" y="0"/>
                </a:cubicBezTo>
                <a:close/>
              </a:path>
            </a:pathLst>
          </a:custGeom>
          <a:gradFill flip="none" rotWithShape="1">
            <a:gsLst>
              <a:gs pos="0">
                <a:srgbClr val="0071E3"/>
              </a:gs>
              <a:gs pos="100000">
                <a:srgbClr val="0071E3">
                  <a:alpha val="80000"/>
                </a:srgbClr>
              </a:gs>
            </a:gsLst>
            <a:lin ang="2700000" scaled="1"/>
          </a:gradFill>
          <a:ln/>
        </p:spPr>
      </p:sp>
      <p:sp>
        <p:nvSpPr>
          <p:cNvPr id="5" name="Shape 3"/>
          <p:cNvSpPr/>
          <p:nvPr/>
        </p:nvSpPr>
        <p:spPr>
          <a:xfrm>
            <a:off x="514702" y="1286755"/>
            <a:ext cx="514702" cy="514702"/>
          </a:xfrm>
          <a:custGeom>
            <a:avLst/>
            <a:gdLst/>
            <a:ahLst/>
            <a:cxnLst/>
            <a:rect l="l" t="t" r="r" b="b"/>
            <a:pathLst>
              <a:path w="514702" h="514702">
                <a:moveTo>
                  <a:pt x="96507" y="0"/>
                </a:moveTo>
                <a:lnTo>
                  <a:pt x="418195" y="0"/>
                </a:lnTo>
                <a:cubicBezTo>
                  <a:pt x="471494" y="0"/>
                  <a:pt x="514702" y="43207"/>
                  <a:pt x="514702" y="96507"/>
                </a:cubicBezTo>
                <a:lnTo>
                  <a:pt x="514702" y="418195"/>
                </a:lnTo>
                <a:cubicBezTo>
                  <a:pt x="514702" y="471494"/>
                  <a:pt x="471494" y="514702"/>
                  <a:pt x="418195" y="514702"/>
                </a:cubicBezTo>
                <a:lnTo>
                  <a:pt x="96507" y="514702"/>
                </a:lnTo>
                <a:cubicBezTo>
                  <a:pt x="43207" y="514702"/>
                  <a:pt x="0" y="471494"/>
                  <a:pt x="0" y="418195"/>
                </a:cubicBezTo>
                <a:lnTo>
                  <a:pt x="0" y="96507"/>
                </a:lnTo>
                <a:cubicBezTo>
                  <a:pt x="0" y="43207"/>
                  <a:pt x="43207" y="0"/>
                  <a:pt x="96507" y="0"/>
                </a:cubicBezTo>
                <a:close/>
              </a:path>
            </a:pathLst>
          </a:custGeom>
          <a:solidFill>
            <a:srgbClr val="FFFFFF">
              <a:alpha val="20000"/>
            </a:srgbClr>
          </a:solidFill>
          <a:ln/>
        </p:spPr>
      </p:sp>
      <p:sp>
        <p:nvSpPr>
          <p:cNvPr id="6" name="Shape 4"/>
          <p:cNvSpPr/>
          <p:nvPr/>
        </p:nvSpPr>
        <p:spPr>
          <a:xfrm>
            <a:off x="653430" y="1423472"/>
            <a:ext cx="241266" cy="241266"/>
          </a:xfrm>
          <a:custGeom>
            <a:avLst/>
            <a:gdLst/>
            <a:ahLst/>
            <a:cxnLst/>
            <a:rect l="l" t="t" r="r" b="b"/>
            <a:pathLst>
              <a:path w="241266" h="241266">
                <a:moveTo>
                  <a:pt x="120633" y="241266"/>
                </a:moveTo>
                <a:cubicBezTo>
                  <a:pt x="187213" y="241266"/>
                  <a:pt x="241266" y="187213"/>
                  <a:pt x="241266" y="120633"/>
                </a:cubicBezTo>
                <a:cubicBezTo>
                  <a:pt x="241266" y="54054"/>
                  <a:pt x="187213" y="0"/>
                  <a:pt x="120633" y="0"/>
                </a:cubicBezTo>
                <a:cubicBezTo>
                  <a:pt x="54054" y="0"/>
                  <a:pt x="0" y="54054"/>
                  <a:pt x="0" y="120633"/>
                </a:cubicBezTo>
                <a:cubicBezTo>
                  <a:pt x="0" y="187213"/>
                  <a:pt x="54054" y="241266"/>
                  <a:pt x="120633" y="241266"/>
                </a:cubicBezTo>
                <a:close/>
                <a:moveTo>
                  <a:pt x="160405" y="100229"/>
                </a:moveTo>
                <a:lnTo>
                  <a:pt x="122707" y="160546"/>
                </a:lnTo>
                <a:cubicBezTo>
                  <a:pt x="120727" y="163703"/>
                  <a:pt x="117335" y="165682"/>
                  <a:pt x="113612" y="165871"/>
                </a:cubicBezTo>
                <a:cubicBezTo>
                  <a:pt x="109889" y="166059"/>
                  <a:pt x="106308" y="164363"/>
                  <a:pt x="104093" y="161347"/>
                </a:cubicBezTo>
                <a:lnTo>
                  <a:pt x="81475" y="131189"/>
                </a:lnTo>
                <a:cubicBezTo>
                  <a:pt x="77705" y="126194"/>
                  <a:pt x="78741" y="119125"/>
                  <a:pt x="83736" y="115356"/>
                </a:cubicBezTo>
                <a:cubicBezTo>
                  <a:pt x="88731" y="111586"/>
                  <a:pt x="95800" y="112622"/>
                  <a:pt x="99570" y="117617"/>
                </a:cubicBezTo>
                <a:lnTo>
                  <a:pt x="112293" y="134581"/>
                </a:lnTo>
                <a:lnTo>
                  <a:pt x="141226" y="88260"/>
                </a:lnTo>
                <a:cubicBezTo>
                  <a:pt x="144524" y="82982"/>
                  <a:pt x="151498" y="81333"/>
                  <a:pt x="156823" y="84679"/>
                </a:cubicBezTo>
                <a:cubicBezTo>
                  <a:pt x="162148" y="88025"/>
                  <a:pt x="163750" y="94952"/>
                  <a:pt x="160405" y="100276"/>
                </a:cubicBezTo>
                <a:close/>
              </a:path>
            </a:pathLst>
          </a:custGeom>
          <a:solidFill>
            <a:srgbClr val="FFFFFF"/>
          </a:solidFill>
          <a:ln/>
        </p:spPr>
      </p:sp>
      <p:sp>
        <p:nvSpPr>
          <p:cNvPr id="7" name="Text 5"/>
          <p:cNvSpPr/>
          <p:nvPr/>
        </p:nvSpPr>
        <p:spPr>
          <a:xfrm>
            <a:off x="1158079" y="1415430"/>
            <a:ext cx="2251821" cy="257351"/>
          </a:xfrm>
          <a:prstGeom prst="rect">
            <a:avLst/>
          </a:prstGeom>
          <a:noFill/>
          <a:ln/>
        </p:spPr>
        <p:txBody>
          <a:bodyPr wrap="square" lIns="0" tIns="0" rIns="0" bIns="0" rtlCol="0" anchor="ctr"/>
          <a:lstStyle/>
          <a:p>
            <a:pPr>
              <a:lnSpc>
                <a:spcPct val="110000"/>
              </a:lnSpc>
            </a:pPr>
            <a:r>
              <a:rPr lang="en-US" sz="1520" b="1" dirty="0">
                <a:solidFill>
                  <a:srgbClr val="FFFFFF"/>
                </a:solidFill>
                <a:latin typeface="Hedvig Letters Sans" pitchFamily="34" charset="0"/>
                <a:ea typeface="Hedvig Letters Sans" pitchFamily="34" charset="-122"/>
                <a:cs typeface="Hedvig Letters Sans" pitchFamily="34" charset="-120"/>
              </a:rPr>
              <a:t>Why Logistic Regression</a:t>
            </a:r>
            <a:endParaRPr lang="en-US" sz="1600" dirty="0"/>
          </a:p>
        </p:txBody>
      </p:sp>
      <p:sp>
        <p:nvSpPr>
          <p:cNvPr id="8" name="Shape 6"/>
          <p:cNvSpPr/>
          <p:nvPr/>
        </p:nvSpPr>
        <p:spPr>
          <a:xfrm>
            <a:off x="514702" y="1962301"/>
            <a:ext cx="257351" cy="257351"/>
          </a:xfrm>
          <a:custGeom>
            <a:avLst/>
            <a:gdLst/>
            <a:ahLst/>
            <a:cxnLst/>
            <a:rect l="l" t="t" r="r" b="b"/>
            <a:pathLst>
              <a:path w="257351" h="257351">
                <a:moveTo>
                  <a:pt x="64338" y="0"/>
                </a:moveTo>
                <a:lnTo>
                  <a:pt x="193013" y="0"/>
                </a:lnTo>
                <a:cubicBezTo>
                  <a:pt x="228522" y="0"/>
                  <a:pt x="257351" y="28829"/>
                  <a:pt x="257351" y="64338"/>
                </a:cubicBezTo>
                <a:lnTo>
                  <a:pt x="257351" y="193013"/>
                </a:lnTo>
                <a:cubicBezTo>
                  <a:pt x="257351" y="228522"/>
                  <a:pt x="228522" y="257351"/>
                  <a:pt x="193013" y="257351"/>
                </a:cubicBezTo>
                <a:lnTo>
                  <a:pt x="64338" y="257351"/>
                </a:lnTo>
                <a:cubicBezTo>
                  <a:pt x="28829" y="257351"/>
                  <a:pt x="0" y="228522"/>
                  <a:pt x="0" y="193013"/>
                </a:cubicBezTo>
                <a:lnTo>
                  <a:pt x="0" y="64338"/>
                </a:lnTo>
                <a:cubicBezTo>
                  <a:pt x="0" y="28829"/>
                  <a:pt x="28829" y="0"/>
                  <a:pt x="64338" y="0"/>
                </a:cubicBezTo>
                <a:close/>
              </a:path>
            </a:pathLst>
          </a:custGeom>
          <a:solidFill>
            <a:srgbClr val="FFFFFF">
              <a:alpha val="20000"/>
            </a:srgbClr>
          </a:solidFill>
          <a:ln/>
        </p:spPr>
      </p:sp>
      <p:sp>
        <p:nvSpPr>
          <p:cNvPr id="9" name="Text 7"/>
          <p:cNvSpPr/>
          <p:nvPr/>
        </p:nvSpPr>
        <p:spPr>
          <a:xfrm>
            <a:off x="617575" y="1994470"/>
            <a:ext cx="112591" cy="193013"/>
          </a:xfrm>
          <a:prstGeom prst="rect">
            <a:avLst/>
          </a:prstGeom>
          <a:noFill/>
          <a:ln/>
        </p:spPr>
        <p:txBody>
          <a:bodyPr wrap="square" lIns="0" tIns="0" rIns="0" bIns="0" rtlCol="0" anchor="ctr"/>
          <a:lstStyle/>
          <a:p>
            <a:pPr>
              <a:lnSpc>
                <a:spcPct val="120000"/>
              </a:lnSpc>
            </a:pPr>
            <a:r>
              <a:rPr lang="en-US" sz="1013" b="1" dirty="0">
                <a:solidFill>
                  <a:srgbClr val="FFFFFF"/>
                </a:solidFill>
                <a:latin typeface="Liter" pitchFamily="34" charset="0"/>
                <a:ea typeface="Liter" pitchFamily="34" charset="-122"/>
                <a:cs typeface="Liter" pitchFamily="34" charset="-120"/>
              </a:rPr>
              <a:t>1</a:t>
            </a:r>
            <a:endParaRPr lang="en-US" sz="1600" dirty="0"/>
          </a:p>
        </p:txBody>
      </p:sp>
      <p:sp>
        <p:nvSpPr>
          <p:cNvPr id="10" name="Text 8"/>
          <p:cNvSpPr/>
          <p:nvPr/>
        </p:nvSpPr>
        <p:spPr>
          <a:xfrm>
            <a:off x="868559" y="1962301"/>
            <a:ext cx="4262375" cy="225182"/>
          </a:xfrm>
          <a:prstGeom prst="rect">
            <a:avLst/>
          </a:prstGeom>
          <a:noFill/>
          <a:ln/>
        </p:spPr>
        <p:txBody>
          <a:bodyPr wrap="square" lIns="0" tIns="0" rIns="0" bIns="0" rtlCol="0" anchor="ctr"/>
          <a:lstStyle/>
          <a:p>
            <a:pPr>
              <a:lnSpc>
                <a:spcPct val="130000"/>
              </a:lnSpc>
            </a:pPr>
            <a:r>
              <a:rPr lang="en-US" sz="1140" b="1" dirty="0">
                <a:solidFill>
                  <a:srgbClr val="FFFFFF"/>
                </a:solidFill>
                <a:latin typeface="Liter" pitchFamily="34" charset="0"/>
                <a:ea typeface="Liter" pitchFamily="34" charset="-122"/>
                <a:cs typeface="Liter" pitchFamily="34" charset="-120"/>
              </a:rPr>
              <a:t>Calibrated Probabilities</a:t>
            </a:r>
            <a:endParaRPr lang="en-US" sz="1600" dirty="0"/>
          </a:p>
        </p:txBody>
      </p:sp>
      <p:sp>
        <p:nvSpPr>
          <p:cNvPr id="11" name="Text 9"/>
          <p:cNvSpPr/>
          <p:nvPr/>
        </p:nvSpPr>
        <p:spPr>
          <a:xfrm>
            <a:off x="868559" y="2219652"/>
            <a:ext cx="4254332" cy="386026"/>
          </a:xfrm>
          <a:prstGeom prst="rect">
            <a:avLst/>
          </a:prstGeom>
          <a:noFill/>
          <a:ln/>
        </p:spPr>
        <p:txBody>
          <a:bodyPr wrap="square" lIns="0" tIns="0" rIns="0" bIns="0" rtlCol="0" anchor="ctr"/>
          <a:lstStyle/>
          <a:p>
            <a:pPr>
              <a:lnSpc>
                <a:spcPct val="120000"/>
              </a:lnSpc>
            </a:pPr>
            <a:r>
              <a:rPr lang="en-US" sz="1013" dirty="0">
                <a:solidFill>
                  <a:srgbClr val="FFFFFF">
                    <a:alpha val="80000"/>
                  </a:srgbClr>
                </a:solidFill>
                <a:latin typeface="Liter" pitchFamily="34" charset="0"/>
                <a:ea typeface="Liter" pitchFamily="34" charset="-122"/>
                <a:cs typeface="Liter" pitchFamily="34" charset="-120"/>
              </a:rPr>
              <a:t>Outputs precise probabilities required for profit calculations and ROI modeling</a:t>
            </a:r>
            <a:endParaRPr lang="en-US" sz="1600" dirty="0"/>
          </a:p>
        </p:txBody>
      </p:sp>
      <p:sp>
        <p:nvSpPr>
          <p:cNvPr id="12" name="Shape 10"/>
          <p:cNvSpPr/>
          <p:nvPr/>
        </p:nvSpPr>
        <p:spPr>
          <a:xfrm>
            <a:off x="514702" y="2734354"/>
            <a:ext cx="257351" cy="257351"/>
          </a:xfrm>
          <a:custGeom>
            <a:avLst/>
            <a:gdLst/>
            <a:ahLst/>
            <a:cxnLst/>
            <a:rect l="l" t="t" r="r" b="b"/>
            <a:pathLst>
              <a:path w="257351" h="257351">
                <a:moveTo>
                  <a:pt x="64338" y="0"/>
                </a:moveTo>
                <a:lnTo>
                  <a:pt x="193013" y="0"/>
                </a:lnTo>
                <a:cubicBezTo>
                  <a:pt x="228522" y="0"/>
                  <a:pt x="257351" y="28829"/>
                  <a:pt x="257351" y="64338"/>
                </a:cubicBezTo>
                <a:lnTo>
                  <a:pt x="257351" y="193013"/>
                </a:lnTo>
                <a:cubicBezTo>
                  <a:pt x="257351" y="228522"/>
                  <a:pt x="228522" y="257351"/>
                  <a:pt x="193013" y="257351"/>
                </a:cubicBezTo>
                <a:lnTo>
                  <a:pt x="64338" y="257351"/>
                </a:lnTo>
                <a:cubicBezTo>
                  <a:pt x="28829" y="257351"/>
                  <a:pt x="0" y="228522"/>
                  <a:pt x="0" y="193013"/>
                </a:cubicBezTo>
                <a:lnTo>
                  <a:pt x="0" y="64338"/>
                </a:lnTo>
                <a:cubicBezTo>
                  <a:pt x="0" y="28829"/>
                  <a:pt x="28829" y="0"/>
                  <a:pt x="64338" y="0"/>
                </a:cubicBezTo>
                <a:close/>
              </a:path>
            </a:pathLst>
          </a:custGeom>
          <a:solidFill>
            <a:srgbClr val="FFFFFF">
              <a:alpha val="20000"/>
            </a:srgbClr>
          </a:solidFill>
          <a:ln/>
        </p:spPr>
      </p:sp>
      <p:sp>
        <p:nvSpPr>
          <p:cNvPr id="13" name="Text 11"/>
          <p:cNvSpPr/>
          <p:nvPr/>
        </p:nvSpPr>
        <p:spPr>
          <a:xfrm>
            <a:off x="605931" y="2766522"/>
            <a:ext cx="136718" cy="193013"/>
          </a:xfrm>
          <a:prstGeom prst="rect">
            <a:avLst/>
          </a:prstGeom>
          <a:noFill/>
          <a:ln/>
        </p:spPr>
        <p:txBody>
          <a:bodyPr wrap="square" lIns="0" tIns="0" rIns="0" bIns="0" rtlCol="0" anchor="ctr"/>
          <a:lstStyle/>
          <a:p>
            <a:pPr>
              <a:lnSpc>
                <a:spcPct val="120000"/>
              </a:lnSpc>
            </a:pPr>
            <a:r>
              <a:rPr lang="en-US" sz="1013" b="1" dirty="0">
                <a:solidFill>
                  <a:srgbClr val="FFFFFF"/>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868559" y="2734354"/>
            <a:ext cx="4173910" cy="225182"/>
          </a:xfrm>
          <a:prstGeom prst="rect">
            <a:avLst/>
          </a:prstGeom>
          <a:noFill/>
          <a:ln/>
        </p:spPr>
        <p:txBody>
          <a:bodyPr wrap="square" lIns="0" tIns="0" rIns="0" bIns="0" rtlCol="0" anchor="ctr"/>
          <a:lstStyle/>
          <a:p>
            <a:pPr>
              <a:lnSpc>
                <a:spcPct val="130000"/>
              </a:lnSpc>
            </a:pPr>
            <a:r>
              <a:rPr lang="en-US" sz="1140" b="1" dirty="0">
                <a:solidFill>
                  <a:srgbClr val="FFFFFF"/>
                </a:solidFill>
                <a:latin typeface="Liter" pitchFamily="34" charset="0"/>
                <a:ea typeface="Liter" pitchFamily="34" charset="-122"/>
                <a:cs typeface="Liter" pitchFamily="34" charset="-120"/>
              </a:rPr>
              <a:t>Stability Under Noise</a:t>
            </a:r>
            <a:endParaRPr lang="en-US" sz="1600" dirty="0"/>
          </a:p>
        </p:txBody>
      </p:sp>
      <p:sp>
        <p:nvSpPr>
          <p:cNvPr id="15" name="Text 13"/>
          <p:cNvSpPr/>
          <p:nvPr/>
        </p:nvSpPr>
        <p:spPr>
          <a:xfrm>
            <a:off x="868559" y="2991704"/>
            <a:ext cx="4165868" cy="193013"/>
          </a:xfrm>
          <a:prstGeom prst="rect">
            <a:avLst/>
          </a:prstGeom>
          <a:noFill/>
          <a:ln/>
        </p:spPr>
        <p:txBody>
          <a:bodyPr wrap="square" lIns="0" tIns="0" rIns="0" bIns="0" rtlCol="0" anchor="ctr"/>
          <a:lstStyle/>
          <a:p>
            <a:pPr>
              <a:lnSpc>
                <a:spcPct val="120000"/>
              </a:lnSpc>
            </a:pPr>
            <a:r>
              <a:rPr lang="en-US" sz="1013" dirty="0">
                <a:solidFill>
                  <a:srgbClr val="FFFFFF">
                    <a:alpha val="80000"/>
                  </a:srgbClr>
                </a:solidFill>
                <a:latin typeface="Liter" pitchFamily="34" charset="0"/>
                <a:ea typeface="Liter" pitchFamily="34" charset="-122"/>
                <a:cs typeface="Liter" pitchFamily="34" charset="-120"/>
              </a:rPr>
              <a:t>Robust performance with noisy behavioral data common in user analytics</a:t>
            </a:r>
            <a:endParaRPr lang="en-US" sz="1600" dirty="0"/>
          </a:p>
        </p:txBody>
      </p:sp>
      <p:sp>
        <p:nvSpPr>
          <p:cNvPr id="16" name="Shape 14"/>
          <p:cNvSpPr/>
          <p:nvPr/>
        </p:nvSpPr>
        <p:spPr>
          <a:xfrm>
            <a:off x="514702" y="3313393"/>
            <a:ext cx="257351" cy="257351"/>
          </a:xfrm>
          <a:custGeom>
            <a:avLst/>
            <a:gdLst/>
            <a:ahLst/>
            <a:cxnLst/>
            <a:rect l="l" t="t" r="r" b="b"/>
            <a:pathLst>
              <a:path w="257351" h="257351">
                <a:moveTo>
                  <a:pt x="64338" y="0"/>
                </a:moveTo>
                <a:lnTo>
                  <a:pt x="193013" y="0"/>
                </a:lnTo>
                <a:cubicBezTo>
                  <a:pt x="228522" y="0"/>
                  <a:pt x="257351" y="28829"/>
                  <a:pt x="257351" y="64338"/>
                </a:cubicBezTo>
                <a:lnTo>
                  <a:pt x="257351" y="193013"/>
                </a:lnTo>
                <a:cubicBezTo>
                  <a:pt x="257351" y="228522"/>
                  <a:pt x="228522" y="257351"/>
                  <a:pt x="193013" y="257351"/>
                </a:cubicBezTo>
                <a:lnTo>
                  <a:pt x="64338" y="257351"/>
                </a:lnTo>
                <a:cubicBezTo>
                  <a:pt x="28829" y="257351"/>
                  <a:pt x="0" y="228522"/>
                  <a:pt x="0" y="193013"/>
                </a:cubicBezTo>
                <a:lnTo>
                  <a:pt x="0" y="64338"/>
                </a:lnTo>
                <a:cubicBezTo>
                  <a:pt x="0" y="28829"/>
                  <a:pt x="28829" y="0"/>
                  <a:pt x="64338" y="0"/>
                </a:cubicBezTo>
                <a:close/>
              </a:path>
            </a:pathLst>
          </a:custGeom>
          <a:solidFill>
            <a:srgbClr val="FFFFFF">
              <a:alpha val="20000"/>
            </a:srgbClr>
          </a:solidFill>
          <a:ln/>
        </p:spPr>
      </p:sp>
      <p:sp>
        <p:nvSpPr>
          <p:cNvPr id="17" name="Text 15"/>
          <p:cNvSpPr/>
          <p:nvPr/>
        </p:nvSpPr>
        <p:spPr>
          <a:xfrm>
            <a:off x="605344" y="3345562"/>
            <a:ext cx="136718" cy="193013"/>
          </a:xfrm>
          <a:prstGeom prst="rect">
            <a:avLst/>
          </a:prstGeom>
          <a:noFill/>
          <a:ln/>
        </p:spPr>
        <p:txBody>
          <a:bodyPr wrap="square" lIns="0" tIns="0" rIns="0" bIns="0" rtlCol="0" anchor="ctr"/>
          <a:lstStyle/>
          <a:p>
            <a:pPr>
              <a:lnSpc>
                <a:spcPct val="120000"/>
              </a:lnSpc>
            </a:pPr>
            <a:r>
              <a:rPr lang="en-US" sz="1013"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868559" y="3313393"/>
            <a:ext cx="3281224" cy="225182"/>
          </a:xfrm>
          <a:prstGeom prst="rect">
            <a:avLst/>
          </a:prstGeom>
          <a:noFill/>
          <a:ln/>
        </p:spPr>
        <p:txBody>
          <a:bodyPr wrap="square" lIns="0" tIns="0" rIns="0" bIns="0" rtlCol="0" anchor="ctr"/>
          <a:lstStyle/>
          <a:p>
            <a:pPr>
              <a:lnSpc>
                <a:spcPct val="130000"/>
              </a:lnSpc>
            </a:pPr>
            <a:r>
              <a:rPr lang="en-US" sz="1140" b="1" dirty="0">
                <a:solidFill>
                  <a:srgbClr val="FFFFFF"/>
                </a:solidFill>
                <a:latin typeface="Liter" pitchFamily="34" charset="0"/>
                <a:ea typeface="Liter" pitchFamily="34" charset="-122"/>
                <a:cs typeface="Liter" pitchFamily="34" charset="-120"/>
              </a:rPr>
              <a:t>Management-Friendly</a:t>
            </a:r>
            <a:endParaRPr lang="en-US" sz="1600" dirty="0"/>
          </a:p>
        </p:txBody>
      </p:sp>
      <p:sp>
        <p:nvSpPr>
          <p:cNvPr id="19" name="Text 17"/>
          <p:cNvSpPr/>
          <p:nvPr/>
        </p:nvSpPr>
        <p:spPr>
          <a:xfrm>
            <a:off x="868559" y="3570744"/>
            <a:ext cx="3273182" cy="193013"/>
          </a:xfrm>
          <a:prstGeom prst="rect">
            <a:avLst/>
          </a:prstGeom>
          <a:noFill/>
          <a:ln/>
        </p:spPr>
        <p:txBody>
          <a:bodyPr wrap="square" lIns="0" tIns="0" rIns="0" bIns="0" rtlCol="0" anchor="ctr"/>
          <a:lstStyle/>
          <a:p>
            <a:pPr>
              <a:lnSpc>
                <a:spcPct val="120000"/>
              </a:lnSpc>
            </a:pPr>
            <a:r>
              <a:rPr lang="en-US" sz="1013" dirty="0">
                <a:solidFill>
                  <a:srgbClr val="FFFFFF">
                    <a:alpha val="80000"/>
                  </a:srgbClr>
                </a:solidFill>
                <a:latin typeface="Liter" pitchFamily="34" charset="0"/>
                <a:ea typeface="Liter" pitchFamily="34" charset="-122"/>
                <a:cs typeface="Liter" pitchFamily="34" charset="-120"/>
              </a:rPr>
              <a:t>Easy to explain and defend to non-technical stakeholders</a:t>
            </a:r>
            <a:endParaRPr lang="en-US" sz="1600" dirty="0"/>
          </a:p>
        </p:txBody>
      </p:sp>
      <p:sp>
        <p:nvSpPr>
          <p:cNvPr id="20" name="Shape 18"/>
          <p:cNvSpPr/>
          <p:nvPr/>
        </p:nvSpPr>
        <p:spPr>
          <a:xfrm>
            <a:off x="514702" y="3892433"/>
            <a:ext cx="257351" cy="257351"/>
          </a:xfrm>
          <a:custGeom>
            <a:avLst/>
            <a:gdLst/>
            <a:ahLst/>
            <a:cxnLst/>
            <a:rect l="l" t="t" r="r" b="b"/>
            <a:pathLst>
              <a:path w="257351" h="257351">
                <a:moveTo>
                  <a:pt x="64338" y="0"/>
                </a:moveTo>
                <a:lnTo>
                  <a:pt x="193013" y="0"/>
                </a:lnTo>
                <a:cubicBezTo>
                  <a:pt x="228522" y="0"/>
                  <a:pt x="257351" y="28829"/>
                  <a:pt x="257351" y="64338"/>
                </a:cubicBezTo>
                <a:lnTo>
                  <a:pt x="257351" y="193013"/>
                </a:lnTo>
                <a:cubicBezTo>
                  <a:pt x="257351" y="228522"/>
                  <a:pt x="228522" y="257351"/>
                  <a:pt x="193013" y="257351"/>
                </a:cubicBezTo>
                <a:lnTo>
                  <a:pt x="64338" y="257351"/>
                </a:lnTo>
                <a:cubicBezTo>
                  <a:pt x="28829" y="257351"/>
                  <a:pt x="0" y="228522"/>
                  <a:pt x="0" y="193013"/>
                </a:cubicBezTo>
                <a:lnTo>
                  <a:pt x="0" y="64338"/>
                </a:lnTo>
                <a:cubicBezTo>
                  <a:pt x="0" y="28829"/>
                  <a:pt x="28829" y="0"/>
                  <a:pt x="64338" y="0"/>
                </a:cubicBezTo>
                <a:close/>
              </a:path>
            </a:pathLst>
          </a:custGeom>
          <a:solidFill>
            <a:srgbClr val="FFFFFF">
              <a:alpha val="20000"/>
            </a:srgbClr>
          </a:solidFill>
          <a:ln/>
        </p:spPr>
      </p:sp>
      <p:sp>
        <p:nvSpPr>
          <p:cNvPr id="21" name="Text 19"/>
          <p:cNvSpPr/>
          <p:nvPr/>
        </p:nvSpPr>
        <p:spPr>
          <a:xfrm>
            <a:off x="605428" y="3924602"/>
            <a:ext cx="136718" cy="193013"/>
          </a:xfrm>
          <a:prstGeom prst="rect">
            <a:avLst/>
          </a:prstGeom>
          <a:noFill/>
          <a:ln/>
        </p:spPr>
        <p:txBody>
          <a:bodyPr wrap="square" lIns="0" tIns="0" rIns="0" bIns="0" rtlCol="0" anchor="ctr"/>
          <a:lstStyle/>
          <a:p>
            <a:pPr>
              <a:lnSpc>
                <a:spcPct val="120000"/>
              </a:lnSpc>
            </a:pPr>
            <a:r>
              <a:rPr lang="en-US" sz="1013" b="1" dirty="0">
                <a:solidFill>
                  <a:srgbClr val="FFFFFF"/>
                </a:solidFill>
                <a:latin typeface="Liter" pitchFamily="34" charset="0"/>
                <a:ea typeface="Liter" pitchFamily="34" charset="-122"/>
                <a:cs typeface="Liter" pitchFamily="34" charset="-120"/>
              </a:rPr>
              <a:t>4</a:t>
            </a:r>
            <a:endParaRPr lang="en-US" sz="1600" dirty="0"/>
          </a:p>
        </p:txBody>
      </p:sp>
      <p:sp>
        <p:nvSpPr>
          <p:cNvPr id="22" name="Text 20"/>
          <p:cNvSpPr/>
          <p:nvPr/>
        </p:nvSpPr>
        <p:spPr>
          <a:xfrm>
            <a:off x="868559" y="3892433"/>
            <a:ext cx="3490322" cy="225182"/>
          </a:xfrm>
          <a:prstGeom prst="rect">
            <a:avLst/>
          </a:prstGeom>
          <a:noFill/>
          <a:ln/>
        </p:spPr>
        <p:txBody>
          <a:bodyPr wrap="square" lIns="0" tIns="0" rIns="0" bIns="0" rtlCol="0" anchor="ctr"/>
          <a:lstStyle/>
          <a:p>
            <a:pPr>
              <a:lnSpc>
                <a:spcPct val="130000"/>
              </a:lnSpc>
            </a:pPr>
            <a:r>
              <a:rPr lang="en-US" sz="1140" b="1" dirty="0">
                <a:solidFill>
                  <a:srgbClr val="FFFFFF"/>
                </a:solidFill>
                <a:latin typeface="Liter" pitchFamily="34" charset="0"/>
                <a:ea typeface="Liter" pitchFamily="34" charset="-122"/>
                <a:cs typeface="Liter" pitchFamily="34" charset="-120"/>
              </a:rPr>
              <a:t>Business Intuition</a:t>
            </a:r>
            <a:endParaRPr lang="en-US" sz="1600" dirty="0"/>
          </a:p>
        </p:txBody>
      </p:sp>
      <p:sp>
        <p:nvSpPr>
          <p:cNvPr id="23" name="Text 21"/>
          <p:cNvSpPr/>
          <p:nvPr/>
        </p:nvSpPr>
        <p:spPr>
          <a:xfrm>
            <a:off x="868559" y="4149784"/>
            <a:ext cx="3482280" cy="193013"/>
          </a:xfrm>
          <a:prstGeom prst="rect">
            <a:avLst/>
          </a:prstGeom>
          <a:noFill/>
          <a:ln/>
        </p:spPr>
        <p:txBody>
          <a:bodyPr wrap="square" lIns="0" tIns="0" rIns="0" bIns="0" rtlCol="0" anchor="ctr"/>
          <a:lstStyle/>
          <a:p>
            <a:pPr>
              <a:lnSpc>
                <a:spcPct val="120000"/>
              </a:lnSpc>
            </a:pPr>
            <a:r>
              <a:rPr lang="en-US" sz="1013" dirty="0">
                <a:solidFill>
                  <a:srgbClr val="FFFFFF">
                    <a:alpha val="80000"/>
                  </a:srgbClr>
                </a:solidFill>
                <a:latin typeface="Liter" pitchFamily="34" charset="0"/>
                <a:ea typeface="Liter" pitchFamily="34" charset="-122"/>
                <a:cs typeface="Liter" pitchFamily="34" charset="-120"/>
              </a:rPr>
              <a:t>Direct mapping from features to actionable business insights</a:t>
            </a:r>
            <a:endParaRPr lang="en-US" sz="1600" dirty="0"/>
          </a:p>
        </p:txBody>
      </p:sp>
      <p:sp>
        <p:nvSpPr>
          <p:cNvPr id="24" name="Shape 22"/>
          <p:cNvSpPr/>
          <p:nvPr/>
        </p:nvSpPr>
        <p:spPr>
          <a:xfrm>
            <a:off x="324369" y="4728824"/>
            <a:ext cx="4927198" cy="1806818"/>
          </a:xfrm>
          <a:custGeom>
            <a:avLst/>
            <a:gdLst/>
            <a:ahLst/>
            <a:cxnLst/>
            <a:rect l="l" t="t" r="r" b="b"/>
            <a:pathLst>
              <a:path w="4927198" h="1806818">
                <a:moveTo>
                  <a:pt x="128682" y="0"/>
                </a:moveTo>
                <a:lnTo>
                  <a:pt x="4798516" y="0"/>
                </a:lnTo>
                <a:cubicBezTo>
                  <a:pt x="4869585" y="0"/>
                  <a:pt x="4927198" y="57613"/>
                  <a:pt x="4927198" y="128682"/>
                </a:cubicBezTo>
                <a:lnTo>
                  <a:pt x="4927198" y="1678136"/>
                </a:lnTo>
                <a:cubicBezTo>
                  <a:pt x="4927198" y="1749205"/>
                  <a:pt x="4869585" y="1806818"/>
                  <a:pt x="4798516" y="1806818"/>
                </a:cubicBezTo>
                <a:lnTo>
                  <a:pt x="128682" y="1806818"/>
                </a:lnTo>
                <a:cubicBezTo>
                  <a:pt x="57613" y="1806818"/>
                  <a:pt x="0" y="1749205"/>
                  <a:pt x="0" y="1678136"/>
                </a:cubicBezTo>
                <a:lnTo>
                  <a:pt x="0" y="128682"/>
                </a:lnTo>
                <a:cubicBezTo>
                  <a:pt x="0" y="57660"/>
                  <a:pt x="57660" y="0"/>
                  <a:pt x="128682" y="0"/>
                </a:cubicBezTo>
                <a:close/>
              </a:path>
            </a:pathLst>
          </a:custGeom>
          <a:solidFill>
            <a:srgbClr val="FFFFFF"/>
          </a:solidFill>
          <a:ln w="8467">
            <a:solidFill>
              <a:srgbClr val="F3F4F6"/>
            </a:solidFill>
            <a:prstDash val="solid"/>
          </a:ln>
          <a:effectLst>
            <a:outerShdw blurRad="24127" dist="8042" dir="5400000" algn="bl" rotWithShape="0">
              <a:srgbClr val="000000">
                <a:alpha val="10196"/>
              </a:srgbClr>
            </a:outerShdw>
          </a:effectLst>
        </p:spPr>
      </p:sp>
      <p:sp>
        <p:nvSpPr>
          <p:cNvPr id="25" name="Shape 23"/>
          <p:cNvSpPr/>
          <p:nvPr/>
        </p:nvSpPr>
        <p:spPr>
          <a:xfrm>
            <a:off x="512021" y="4908434"/>
            <a:ext cx="193013" cy="193013"/>
          </a:xfrm>
          <a:custGeom>
            <a:avLst/>
            <a:gdLst/>
            <a:ahLst/>
            <a:cxnLst/>
            <a:rect l="l" t="t" r="r" b="b"/>
            <a:pathLst>
              <a:path w="193013" h="193013">
                <a:moveTo>
                  <a:pt x="168887" y="96507"/>
                </a:moveTo>
                <a:cubicBezTo>
                  <a:pt x="168887" y="56559"/>
                  <a:pt x="136454" y="24127"/>
                  <a:pt x="96507" y="24127"/>
                </a:cubicBezTo>
                <a:cubicBezTo>
                  <a:pt x="56559" y="24127"/>
                  <a:pt x="24127" y="56559"/>
                  <a:pt x="24127" y="96507"/>
                </a:cubicBezTo>
                <a:cubicBezTo>
                  <a:pt x="24127" y="136454"/>
                  <a:pt x="56559" y="168887"/>
                  <a:pt x="96507" y="168887"/>
                </a:cubicBezTo>
                <a:cubicBezTo>
                  <a:pt x="136454" y="168887"/>
                  <a:pt x="168887" y="136454"/>
                  <a:pt x="168887" y="96507"/>
                </a:cubicBezTo>
                <a:close/>
                <a:moveTo>
                  <a:pt x="0" y="96507"/>
                </a:moveTo>
                <a:cubicBezTo>
                  <a:pt x="0" y="43243"/>
                  <a:pt x="43243" y="0"/>
                  <a:pt x="96507" y="0"/>
                </a:cubicBezTo>
                <a:cubicBezTo>
                  <a:pt x="149770" y="0"/>
                  <a:pt x="193013" y="43243"/>
                  <a:pt x="193013" y="96507"/>
                </a:cubicBezTo>
                <a:cubicBezTo>
                  <a:pt x="193013" y="149770"/>
                  <a:pt x="149770" y="193013"/>
                  <a:pt x="96507" y="193013"/>
                </a:cubicBezTo>
                <a:cubicBezTo>
                  <a:pt x="43243" y="193013"/>
                  <a:pt x="0" y="149770"/>
                  <a:pt x="0" y="96507"/>
                </a:cubicBezTo>
                <a:close/>
                <a:moveTo>
                  <a:pt x="96507" y="126665"/>
                </a:moveTo>
                <a:cubicBezTo>
                  <a:pt x="113151" y="126665"/>
                  <a:pt x="126665" y="113151"/>
                  <a:pt x="126665" y="96507"/>
                </a:cubicBezTo>
                <a:cubicBezTo>
                  <a:pt x="126665" y="79862"/>
                  <a:pt x="113151" y="66348"/>
                  <a:pt x="96507" y="66348"/>
                </a:cubicBezTo>
                <a:cubicBezTo>
                  <a:pt x="79862" y="66348"/>
                  <a:pt x="66348" y="79862"/>
                  <a:pt x="66348" y="96507"/>
                </a:cubicBezTo>
                <a:cubicBezTo>
                  <a:pt x="66348" y="113151"/>
                  <a:pt x="79862" y="126665"/>
                  <a:pt x="96507" y="126665"/>
                </a:cubicBezTo>
                <a:close/>
                <a:moveTo>
                  <a:pt x="96507" y="42222"/>
                </a:moveTo>
                <a:cubicBezTo>
                  <a:pt x="126467" y="42222"/>
                  <a:pt x="150792" y="66546"/>
                  <a:pt x="150792" y="96507"/>
                </a:cubicBezTo>
                <a:cubicBezTo>
                  <a:pt x="150792" y="126467"/>
                  <a:pt x="126467" y="150792"/>
                  <a:pt x="96507" y="150792"/>
                </a:cubicBezTo>
                <a:cubicBezTo>
                  <a:pt x="66546" y="150792"/>
                  <a:pt x="42222" y="126467"/>
                  <a:pt x="42222" y="96507"/>
                </a:cubicBezTo>
                <a:cubicBezTo>
                  <a:pt x="42222" y="66546"/>
                  <a:pt x="66546" y="42222"/>
                  <a:pt x="96507" y="42222"/>
                </a:cubicBezTo>
                <a:close/>
                <a:moveTo>
                  <a:pt x="84443" y="96507"/>
                </a:moveTo>
                <a:cubicBezTo>
                  <a:pt x="84443" y="89849"/>
                  <a:pt x="89849" y="84443"/>
                  <a:pt x="96507" y="84443"/>
                </a:cubicBezTo>
                <a:cubicBezTo>
                  <a:pt x="103165" y="84443"/>
                  <a:pt x="108570" y="89849"/>
                  <a:pt x="108570" y="96507"/>
                </a:cubicBezTo>
                <a:cubicBezTo>
                  <a:pt x="108570" y="103165"/>
                  <a:pt x="103165" y="108570"/>
                  <a:pt x="96507" y="108570"/>
                </a:cubicBezTo>
                <a:cubicBezTo>
                  <a:pt x="89849" y="108570"/>
                  <a:pt x="84443" y="103165"/>
                  <a:pt x="84443" y="96507"/>
                </a:cubicBezTo>
                <a:close/>
              </a:path>
            </a:pathLst>
          </a:custGeom>
          <a:solidFill>
            <a:srgbClr val="0071E3"/>
          </a:solidFill>
          <a:ln/>
        </p:spPr>
      </p:sp>
      <p:sp>
        <p:nvSpPr>
          <p:cNvPr id="26" name="Text 24"/>
          <p:cNvSpPr/>
          <p:nvPr/>
        </p:nvSpPr>
        <p:spPr>
          <a:xfrm>
            <a:off x="825668" y="4892350"/>
            <a:ext cx="1696908" cy="225182"/>
          </a:xfrm>
          <a:prstGeom prst="rect">
            <a:avLst/>
          </a:prstGeom>
          <a:noFill/>
          <a:ln/>
        </p:spPr>
        <p:txBody>
          <a:bodyPr wrap="square" lIns="0" tIns="0" rIns="0" bIns="0" rtlCol="0" anchor="ctr"/>
          <a:lstStyle/>
          <a:p>
            <a:pPr>
              <a:lnSpc>
                <a:spcPct val="130000"/>
              </a:lnSpc>
            </a:pPr>
            <a:r>
              <a:rPr lang="en-US" sz="1140" b="1" dirty="0">
                <a:solidFill>
                  <a:srgbClr val="1D1D1F"/>
                </a:solidFill>
                <a:latin typeface="Hedvig Letters Sans" pitchFamily="34" charset="0"/>
                <a:ea typeface="Hedvig Letters Sans" pitchFamily="34" charset="-122"/>
                <a:cs typeface="Hedvig Letters Sans" pitchFamily="34" charset="-120"/>
              </a:rPr>
              <a:t>What the Model Predicts</a:t>
            </a:r>
            <a:endParaRPr lang="en-US" sz="1600" dirty="0"/>
          </a:p>
        </p:txBody>
      </p:sp>
      <p:sp>
        <p:nvSpPr>
          <p:cNvPr id="27" name="Text 25"/>
          <p:cNvSpPr/>
          <p:nvPr/>
        </p:nvSpPr>
        <p:spPr>
          <a:xfrm>
            <a:off x="487894" y="5214038"/>
            <a:ext cx="4664485" cy="386026"/>
          </a:xfrm>
          <a:prstGeom prst="rect">
            <a:avLst/>
          </a:prstGeom>
          <a:noFill/>
          <a:ln/>
        </p:spPr>
        <p:txBody>
          <a:bodyPr wrap="square" lIns="0" tIns="0" rIns="0" bIns="0" rtlCol="0" anchor="ctr"/>
          <a:lstStyle/>
          <a:p>
            <a:pPr>
              <a:lnSpc>
                <a:spcPct val="120000"/>
              </a:lnSpc>
            </a:pPr>
            <a:r>
              <a:rPr lang="en-US" sz="1013" dirty="0">
                <a:solidFill>
                  <a:srgbClr val="86868B"/>
                </a:solidFill>
                <a:latin typeface="Liter" pitchFamily="34" charset="0"/>
                <a:ea typeface="Liter" pitchFamily="34" charset="-122"/>
                <a:cs typeface="Liter" pitchFamily="34" charset="-120"/>
              </a:rPr>
              <a:t>Probability that a free user converts to paid subscription within the observation period</a:t>
            </a:r>
            <a:endParaRPr lang="en-US" sz="1600" dirty="0"/>
          </a:p>
        </p:txBody>
      </p:sp>
      <p:sp>
        <p:nvSpPr>
          <p:cNvPr id="28" name="Shape 26"/>
          <p:cNvSpPr/>
          <p:nvPr/>
        </p:nvSpPr>
        <p:spPr>
          <a:xfrm>
            <a:off x="324608" y="5696571"/>
            <a:ext cx="4806977" cy="838831"/>
          </a:xfrm>
          <a:custGeom>
            <a:avLst/>
            <a:gdLst/>
            <a:ahLst/>
            <a:cxnLst/>
            <a:rect l="l" t="t" r="r" b="b"/>
            <a:pathLst>
              <a:path w="4600148" h="675546">
                <a:moveTo>
                  <a:pt x="96509" y="0"/>
                </a:moveTo>
                <a:lnTo>
                  <a:pt x="4503639" y="0"/>
                </a:lnTo>
                <a:cubicBezTo>
                  <a:pt x="4556939" y="0"/>
                  <a:pt x="4600148" y="43208"/>
                  <a:pt x="4600148" y="96509"/>
                </a:cubicBezTo>
                <a:lnTo>
                  <a:pt x="4600148" y="579038"/>
                </a:lnTo>
                <a:cubicBezTo>
                  <a:pt x="4600148" y="632338"/>
                  <a:pt x="4556939" y="675546"/>
                  <a:pt x="4503639" y="675546"/>
                </a:cubicBezTo>
                <a:lnTo>
                  <a:pt x="96509" y="675546"/>
                </a:lnTo>
                <a:cubicBezTo>
                  <a:pt x="43208" y="675546"/>
                  <a:pt x="0" y="632338"/>
                  <a:pt x="0" y="579038"/>
                </a:cubicBezTo>
                <a:lnTo>
                  <a:pt x="0" y="96509"/>
                </a:lnTo>
                <a:cubicBezTo>
                  <a:pt x="0" y="43244"/>
                  <a:pt x="43244" y="0"/>
                  <a:pt x="96509" y="0"/>
                </a:cubicBezTo>
                <a:close/>
              </a:path>
            </a:pathLst>
          </a:custGeom>
          <a:solidFill>
            <a:srgbClr val="0071E3">
              <a:alpha val="5098"/>
            </a:srgbClr>
          </a:solidFill>
          <a:ln/>
        </p:spPr>
      </p:sp>
      <p:sp>
        <p:nvSpPr>
          <p:cNvPr id="29" name="Text 27"/>
          <p:cNvSpPr/>
          <p:nvPr/>
        </p:nvSpPr>
        <p:spPr>
          <a:xfrm>
            <a:off x="616570" y="5825247"/>
            <a:ext cx="4407135" cy="193013"/>
          </a:xfrm>
          <a:prstGeom prst="rect">
            <a:avLst/>
          </a:prstGeom>
          <a:noFill/>
          <a:ln/>
        </p:spPr>
        <p:txBody>
          <a:bodyPr wrap="square" lIns="0" tIns="0" rIns="0" bIns="0" rtlCol="0" anchor="ctr"/>
          <a:lstStyle/>
          <a:p>
            <a:pPr>
              <a:lnSpc>
                <a:spcPct val="120000"/>
              </a:lnSpc>
            </a:pPr>
            <a:endParaRPr lang="en-US" sz="1000">
              <a:solidFill>
                <a:srgbClr val="1D1D1F"/>
              </a:solidFill>
              <a:latin typeface="MiSans"/>
              <a:ea typeface="MiSans"/>
              <a:cs typeface="MiSans"/>
            </a:endParaRPr>
          </a:p>
        </p:txBody>
      </p:sp>
      <p:sp>
        <p:nvSpPr>
          <p:cNvPr id="30" name="Text 28"/>
          <p:cNvSpPr/>
          <p:nvPr/>
        </p:nvSpPr>
        <p:spPr>
          <a:xfrm>
            <a:off x="616570" y="6082598"/>
            <a:ext cx="4399092" cy="160844"/>
          </a:xfrm>
          <a:prstGeom prst="rect">
            <a:avLst/>
          </a:prstGeom>
          <a:noFill/>
          <a:ln/>
        </p:spPr>
        <p:txBody>
          <a:bodyPr wrap="square" lIns="0" tIns="0" rIns="0" bIns="0" rtlCol="0" anchor="ctr"/>
          <a:lstStyle/>
          <a:p>
            <a:pPr>
              <a:lnSpc>
                <a:spcPct val="120000"/>
              </a:lnSpc>
            </a:pPr>
            <a:endParaRPr lang="en-US" sz="850">
              <a:solidFill>
                <a:srgbClr val="86868B"/>
              </a:solidFill>
              <a:latin typeface="Liter"/>
              <a:ea typeface="Calibri"/>
              <a:cs typeface="Calibri"/>
            </a:endParaRPr>
          </a:p>
        </p:txBody>
      </p:sp>
      <p:sp>
        <p:nvSpPr>
          <p:cNvPr id="31" name="Shape 29"/>
          <p:cNvSpPr/>
          <p:nvPr/>
        </p:nvSpPr>
        <p:spPr>
          <a:xfrm>
            <a:off x="5450445" y="1096422"/>
            <a:ext cx="6423050" cy="5441900"/>
          </a:xfrm>
          <a:custGeom>
            <a:avLst/>
            <a:gdLst/>
            <a:ahLst/>
            <a:cxnLst/>
            <a:rect l="l" t="t" r="r" b="b"/>
            <a:pathLst>
              <a:path w="6423050" h="5441900">
                <a:moveTo>
                  <a:pt x="128701" y="0"/>
                </a:moveTo>
                <a:lnTo>
                  <a:pt x="6294349" y="0"/>
                </a:lnTo>
                <a:cubicBezTo>
                  <a:pt x="6365429" y="0"/>
                  <a:pt x="6423050" y="57621"/>
                  <a:pt x="6423050" y="128701"/>
                </a:cubicBezTo>
                <a:lnTo>
                  <a:pt x="6423050" y="5313199"/>
                </a:lnTo>
                <a:cubicBezTo>
                  <a:pt x="6423050" y="5384278"/>
                  <a:pt x="6365429" y="5441900"/>
                  <a:pt x="6294349" y="5441900"/>
                </a:cubicBezTo>
                <a:lnTo>
                  <a:pt x="128701" y="5441900"/>
                </a:lnTo>
                <a:cubicBezTo>
                  <a:pt x="57621" y="5441900"/>
                  <a:pt x="0" y="5384278"/>
                  <a:pt x="0" y="5313199"/>
                </a:cubicBezTo>
                <a:lnTo>
                  <a:pt x="0" y="128701"/>
                </a:lnTo>
                <a:cubicBezTo>
                  <a:pt x="0" y="57669"/>
                  <a:pt x="57669" y="0"/>
                  <a:pt x="128701" y="0"/>
                </a:cubicBezTo>
                <a:close/>
              </a:path>
            </a:pathLst>
          </a:custGeom>
          <a:solidFill>
            <a:srgbClr val="FFFFFF"/>
          </a:solidFill>
          <a:ln w="8467">
            <a:solidFill>
              <a:srgbClr val="F3F4F6"/>
            </a:solidFill>
            <a:prstDash val="solid"/>
          </a:ln>
          <a:effectLst>
            <a:outerShdw blurRad="24127" dist="8042" dir="5400000" algn="bl" rotWithShape="0">
              <a:srgbClr val="000000">
                <a:alpha val="10196"/>
              </a:srgbClr>
            </a:outerShdw>
          </a:effectLst>
        </p:spPr>
      </p:sp>
      <p:sp>
        <p:nvSpPr>
          <p:cNvPr id="32" name="Text 30"/>
          <p:cNvSpPr/>
          <p:nvPr/>
        </p:nvSpPr>
        <p:spPr>
          <a:xfrm>
            <a:off x="5646139" y="1292117"/>
            <a:ext cx="6112084" cy="225182"/>
          </a:xfrm>
          <a:prstGeom prst="rect">
            <a:avLst/>
          </a:prstGeom>
          <a:noFill/>
          <a:ln/>
        </p:spPr>
        <p:txBody>
          <a:bodyPr wrap="square" lIns="0" tIns="0" rIns="0" bIns="0" rtlCol="0" anchor="ctr"/>
          <a:lstStyle/>
          <a:p>
            <a:pPr>
              <a:lnSpc>
                <a:spcPct val="120000"/>
              </a:lnSpc>
            </a:pPr>
            <a:r>
              <a:rPr lang="en-US" sz="1400" b="1">
                <a:solidFill>
                  <a:srgbClr val="1D1D1F"/>
                </a:solidFill>
                <a:latin typeface="Liter"/>
                <a:ea typeface="+mn-lt"/>
                <a:cs typeface="+mn-lt"/>
              </a:rPr>
              <a:t>Key Drivers of Conversion: Logistic Regression Odds Ratios</a:t>
            </a:r>
            <a:endParaRPr lang="en-US" sz="1400" b="1">
              <a:latin typeface="Liter"/>
            </a:endParaRPr>
          </a:p>
        </p:txBody>
      </p:sp>
      <p:sp>
        <p:nvSpPr>
          <p:cNvPr id="36" name="TextBox 35">
            <a:extLst>
              <a:ext uri="{FF2B5EF4-FFF2-40B4-BE49-F238E27FC236}">
                <a16:creationId xmlns:a16="http://schemas.microsoft.com/office/drawing/2014/main" id="{ED6F7FD4-B20F-C84F-E5FA-33BD42C72476}"/>
              </a:ext>
            </a:extLst>
          </p:cNvPr>
          <p:cNvSpPr txBox="1"/>
          <p:nvPr/>
        </p:nvSpPr>
        <p:spPr>
          <a:xfrm>
            <a:off x="359229" y="5693229"/>
            <a:ext cx="6096000"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latin typeface="Liter"/>
              </a:rPr>
              <a:t>How Marketing Uses This</a:t>
            </a:r>
          </a:p>
          <a:p>
            <a:pPr marL="228600" indent="-228600">
              <a:buFont typeface=""/>
              <a:buChar char="•"/>
            </a:pPr>
            <a:r>
              <a:rPr lang="en-US" sz="1100">
                <a:solidFill>
                  <a:schemeClr val="tx1">
                    <a:lumMod val="49000"/>
                    <a:lumOff val="51000"/>
                  </a:schemeClr>
                </a:solidFill>
                <a:latin typeface="Liter"/>
              </a:rPr>
              <a:t>Rank users by </a:t>
            </a:r>
            <a:r>
              <a:rPr lang="en-US" sz="1100" b="1">
                <a:solidFill>
                  <a:schemeClr val="tx1">
                    <a:lumMod val="49000"/>
                    <a:lumOff val="51000"/>
                  </a:schemeClr>
                </a:solidFill>
                <a:latin typeface="Liter"/>
              </a:rPr>
              <a:t>conversion likelihood</a:t>
            </a:r>
          </a:p>
          <a:p>
            <a:pPr marL="228600" indent="-228600">
              <a:buFont typeface=""/>
              <a:buChar char="•"/>
            </a:pPr>
            <a:r>
              <a:rPr lang="en-US" sz="1100">
                <a:solidFill>
                  <a:schemeClr val="tx1">
                    <a:lumMod val="49000"/>
                    <a:lumOff val="51000"/>
                  </a:schemeClr>
                </a:solidFill>
                <a:latin typeface="Liter"/>
              </a:rPr>
              <a:t>Prioritize </a:t>
            </a:r>
            <a:r>
              <a:rPr lang="en-US" sz="1100" b="1">
                <a:solidFill>
                  <a:schemeClr val="tx1">
                    <a:lumMod val="49000"/>
                    <a:lumOff val="51000"/>
                  </a:schemeClr>
                </a:solidFill>
                <a:latin typeface="Liter"/>
              </a:rPr>
              <a:t>high-probability segments</a:t>
            </a:r>
            <a:r>
              <a:rPr lang="en-US" sz="1100">
                <a:solidFill>
                  <a:schemeClr val="tx1">
                    <a:lumMod val="49000"/>
                    <a:lumOff val="51000"/>
                  </a:schemeClr>
                </a:solidFill>
                <a:latin typeface="Liter"/>
              </a:rPr>
              <a:t> for targeted campaigns</a:t>
            </a:r>
          </a:p>
          <a:p>
            <a:pPr marL="228600" indent="-228600">
              <a:buFont typeface=""/>
              <a:buChar char="•"/>
            </a:pPr>
            <a:r>
              <a:rPr lang="en-US" sz="1100">
                <a:solidFill>
                  <a:schemeClr val="tx1">
                    <a:lumMod val="49000"/>
                    <a:lumOff val="51000"/>
                  </a:schemeClr>
                </a:solidFill>
                <a:latin typeface="Liter"/>
              </a:rPr>
              <a:t>Support </a:t>
            </a:r>
            <a:r>
              <a:rPr lang="en-US" sz="1100" b="1">
                <a:solidFill>
                  <a:schemeClr val="tx1">
                    <a:lumMod val="49000"/>
                    <a:lumOff val="51000"/>
                  </a:schemeClr>
                </a:solidFill>
                <a:latin typeface="Liter"/>
              </a:rPr>
              <a:t>data-driven marketing decisions</a:t>
            </a:r>
            <a:r>
              <a:rPr lang="en-US" sz="1100">
                <a:solidFill>
                  <a:schemeClr val="tx1">
                    <a:lumMod val="49000"/>
                    <a:lumOff val="51000"/>
                  </a:schemeClr>
                </a:solidFill>
                <a:latin typeface="Liter"/>
              </a:rPr>
              <a:t> that are defensible to leadership</a:t>
            </a:r>
          </a:p>
          <a:p>
            <a:pPr algn="ctr"/>
            <a:endParaRPr lang="en-US" sz="1100">
              <a:solidFill>
                <a:schemeClr val="tx1">
                  <a:lumMod val="49000"/>
                  <a:lumOff val="51000"/>
                </a:schemeClr>
              </a:solidFill>
              <a:latin typeface="Liter"/>
            </a:endParaRPr>
          </a:p>
        </p:txBody>
      </p:sp>
      <p:pic>
        <p:nvPicPr>
          <p:cNvPr id="37" name="Picture 36" descr="A graph with black and white lines&#10;&#10;AI-generated content may be incorrect.">
            <a:extLst>
              <a:ext uri="{FF2B5EF4-FFF2-40B4-BE49-F238E27FC236}">
                <a16:creationId xmlns:a16="http://schemas.microsoft.com/office/drawing/2014/main" id="{CB17B40D-AEA8-62AC-F9A5-C170F7C8E7A3}"/>
              </a:ext>
            </a:extLst>
          </p:cNvPr>
          <p:cNvPicPr>
            <a:picLocks noChangeAspect="1"/>
          </p:cNvPicPr>
          <p:nvPr/>
        </p:nvPicPr>
        <p:blipFill>
          <a:blip r:embed="rId3"/>
          <a:stretch>
            <a:fillRect/>
          </a:stretch>
        </p:blipFill>
        <p:spPr>
          <a:xfrm>
            <a:off x="5452383" y="1800227"/>
            <a:ext cx="6479719" cy="4727119"/>
          </a:xfrm>
          <a:prstGeom prst="rect">
            <a:avLst/>
          </a:prstGeom>
        </p:spPr>
      </p:pic>
      <p:pic>
        <p:nvPicPr>
          <p:cNvPr id="34" name="Picture 33" descr="A logo on a glass wall&#10;&#10;AI-generated content may be incorrect.">
            <a:extLst>
              <a:ext uri="{FF2B5EF4-FFF2-40B4-BE49-F238E27FC236}">
                <a16:creationId xmlns:a16="http://schemas.microsoft.com/office/drawing/2014/main" id="{F5AE09DB-F1C4-9D1F-114F-6B28FA13BD94}"/>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11217ECE-3A9C-71B5-E612-F18F393C1D04}"/>
              </a:ext>
            </a:extLst>
          </p:cNvPr>
          <p:cNvSpPr/>
          <p:nvPr/>
        </p:nvSpPr>
        <p:spPr>
          <a:xfrm>
            <a:off x="378067" y="5472477"/>
            <a:ext cx="11665551" cy="121171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A6C75BC6-2269-5982-6FC2-C2ACF1AFE225}"/>
              </a:ext>
            </a:extLst>
          </p:cNvPr>
          <p:cNvSpPr/>
          <p:nvPr/>
        </p:nvSpPr>
        <p:spPr>
          <a:xfrm>
            <a:off x="386434" y="1712452"/>
            <a:ext cx="4100650" cy="35684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F50E921B-23D7-85A6-A281-48E46EC22ACF}"/>
              </a:ext>
            </a:extLst>
          </p:cNvPr>
          <p:cNvSpPr/>
          <p:nvPr/>
        </p:nvSpPr>
        <p:spPr>
          <a:xfrm>
            <a:off x="567961" y="377461"/>
            <a:ext cx="11312633" cy="188731"/>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040" b="1" kern="0" spc="52">
                <a:solidFill>
                  <a:srgbClr val="0071E3"/>
                </a:solidFill>
                <a:latin typeface="Liter" pitchFamily="34" charset="0"/>
                <a:ea typeface="Liter" pitchFamily="34" charset="-122"/>
                <a:cs typeface="Liter" pitchFamily="34" charset="-120"/>
              </a:rPr>
              <a:t>Alternative Model</a:t>
            </a:r>
            <a:endParaRPr lang="en-US" sz="1600"/>
          </a:p>
        </p:txBody>
      </p:sp>
      <p:sp>
        <p:nvSpPr>
          <p:cNvPr id="3" name="Text 1">
            <a:extLst>
              <a:ext uri="{FF2B5EF4-FFF2-40B4-BE49-F238E27FC236}">
                <a16:creationId xmlns:a16="http://schemas.microsoft.com/office/drawing/2014/main" id="{8754443F-EADE-8BD4-A8DE-BCC8DC5C9FA1}"/>
              </a:ext>
            </a:extLst>
          </p:cNvPr>
          <p:cNvSpPr/>
          <p:nvPr/>
        </p:nvSpPr>
        <p:spPr>
          <a:xfrm>
            <a:off x="567961" y="641684"/>
            <a:ext cx="11473054" cy="45295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80000"/>
              </a:lnSpc>
            </a:pPr>
            <a:r>
              <a:rPr lang="en-US" sz="3567" b="1">
                <a:solidFill>
                  <a:srgbClr val="1D1D1F"/>
                </a:solidFill>
                <a:latin typeface="Hedvig Letters Sans" pitchFamily="34" charset="0"/>
                <a:ea typeface="Hedvig Letters Sans" pitchFamily="34" charset="-122"/>
                <a:cs typeface="Hedvig Letters Sans" pitchFamily="34" charset="-120"/>
              </a:rPr>
              <a:t>Decision Tree Comparison</a:t>
            </a:r>
            <a:endParaRPr lang="en-US" sz="1600"/>
          </a:p>
        </p:txBody>
      </p:sp>
      <p:sp>
        <p:nvSpPr>
          <p:cNvPr id="4" name="Text 2">
            <a:extLst>
              <a:ext uri="{FF2B5EF4-FFF2-40B4-BE49-F238E27FC236}">
                <a16:creationId xmlns:a16="http://schemas.microsoft.com/office/drawing/2014/main" id="{AFA67C62-5AC4-7413-CCBC-F23EC0F20FFC}"/>
              </a:ext>
            </a:extLst>
          </p:cNvPr>
          <p:cNvSpPr/>
          <p:nvPr/>
        </p:nvSpPr>
        <p:spPr>
          <a:xfrm>
            <a:off x="567961" y="1207876"/>
            <a:ext cx="11340943"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486">
                <a:solidFill>
                  <a:srgbClr val="86868B"/>
                </a:solidFill>
                <a:latin typeface="Liter" pitchFamily="34" charset="0"/>
                <a:ea typeface="Liter" pitchFamily="34" charset="-122"/>
                <a:cs typeface="Liter" pitchFamily="34" charset="-120"/>
              </a:rPr>
              <a:t>Evaluating the popular ML alternative to logistic regression</a:t>
            </a:r>
            <a:endParaRPr lang="en-US" sz="1600"/>
          </a:p>
        </p:txBody>
      </p:sp>
      <p:sp>
        <p:nvSpPr>
          <p:cNvPr id="5" name="Text 4">
            <a:extLst>
              <a:ext uri="{FF2B5EF4-FFF2-40B4-BE49-F238E27FC236}">
                <a16:creationId xmlns:a16="http://schemas.microsoft.com/office/drawing/2014/main" id="{6D0450AC-10F4-2F43-A1C1-FC7C3657CB7B}"/>
              </a:ext>
            </a:extLst>
          </p:cNvPr>
          <p:cNvSpPr/>
          <p:nvPr/>
        </p:nvSpPr>
        <p:spPr>
          <a:xfrm>
            <a:off x="699129" y="1893601"/>
            <a:ext cx="4912462"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450" b="1">
                <a:solidFill>
                  <a:srgbClr val="1D1D1F"/>
                </a:solidFill>
                <a:ea typeface="+mn-lt"/>
                <a:cs typeface="+mn-lt"/>
              </a:rPr>
              <a:t>Why Logistic Regression Was Chosen</a:t>
            </a:r>
            <a:endParaRPr lang="en-US" b="1">
              <a:ea typeface="Calibri"/>
              <a:cs typeface="Calibri"/>
            </a:endParaRPr>
          </a:p>
        </p:txBody>
      </p:sp>
      <p:sp>
        <p:nvSpPr>
          <p:cNvPr id="6" name="Text 7">
            <a:extLst>
              <a:ext uri="{FF2B5EF4-FFF2-40B4-BE49-F238E27FC236}">
                <a16:creationId xmlns:a16="http://schemas.microsoft.com/office/drawing/2014/main" id="{DCEE791B-63C5-755A-6083-46103D3565BB}"/>
              </a:ext>
            </a:extLst>
          </p:cNvPr>
          <p:cNvSpPr/>
          <p:nvPr/>
        </p:nvSpPr>
        <p:spPr>
          <a:xfrm>
            <a:off x="693467" y="2156408"/>
            <a:ext cx="4337188" cy="391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sz="1300" b="1">
                <a:solidFill>
                  <a:srgbClr val="1D1D1F"/>
                </a:solidFill>
                <a:ea typeface="+mn-lt"/>
                <a:cs typeface="+mn-lt"/>
              </a:rPr>
              <a:t>Calibrated Probabilities</a:t>
            </a:r>
            <a:endParaRPr lang="en-US" b="1"/>
          </a:p>
        </p:txBody>
      </p:sp>
      <p:sp>
        <p:nvSpPr>
          <p:cNvPr id="7" name="Text 8">
            <a:extLst>
              <a:ext uri="{FF2B5EF4-FFF2-40B4-BE49-F238E27FC236}">
                <a16:creationId xmlns:a16="http://schemas.microsoft.com/office/drawing/2014/main" id="{36338ED5-D131-76EA-4993-E5578C0FB7B7}"/>
              </a:ext>
            </a:extLst>
          </p:cNvPr>
          <p:cNvSpPr/>
          <p:nvPr/>
        </p:nvSpPr>
        <p:spPr>
          <a:xfrm>
            <a:off x="693467" y="2545782"/>
            <a:ext cx="3592646" cy="441749"/>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150">
                <a:solidFill>
                  <a:srgbClr val="86868B"/>
                </a:solidFill>
                <a:ea typeface="+mn-lt"/>
                <a:cs typeface="+mn-lt"/>
              </a:rPr>
              <a:t>Logistic regression directly estimates conversion probabilities, which are essential for ROI modeling and marketing targeting.</a:t>
            </a:r>
            <a:endParaRPr lang="en-US"/>
          </a:p>
        </p:txBody>
      </p:sp>
      <p:sp>
        <p:nvSpPr>
          <p:cNvPr id="8" name="Text 11">
            <a:extLst>
              <a:ext uri="{FF2B5EF4-FFF2-40B4-BE49-F238E27FC236}">
                <a16:creationId xmlns:a16="http://schemas.microsoft.com/office/drawing/2014/main" id="{A35A945C-0639-5D03-3C3C-F5508E20FECC}"/>
              </a:ext>
            </a:extLst>
          </p:cNvPr>
          <p:cNvSpPr/>
          <p:nvPr/>
        </p:nvSpPr>
        <p:spPr>
          <a:xfrm>
            <a:off x="680767" y="3163915"/>
            <a:ext cx="4311788"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sz="1300" b="1">
                <a:solidFill>
                  <a:srgbClr val="1D1D1F"/>
                </a:solidFill>
                <a:ea typeface="+mn-lt"/>
                <a:cs typeface="+mn-lt"/>
              </a:rPr>
              <a:t>Robust and Stable</a:t>
            </a:r>
            <a:endParaRPr lang="en-US" b="1"/>
          </a:p>
        </p:txBody>
      </p:sp>
      <p:sp>
        <p:nvSpPr>
          <p:cNvPr id="9" name="Text 12">
            <a:extLst>
              <a:ext uri="{FF2B5EF4-FFF2-40B4-BE49-F238E27FC236}">
                <a16:creationId xmlns:a16="http://schemas.microsoft.com/office/drawing/2014/main" id="{977D32A8-D1A0-284B-AFC1-1785B329604E}"/>
              </a:ext>
            </a:extLst>
          </p:cNvPr>
          <p:cNvSpPr/>
          <p:nvPr/>
        </p:nvSpPr>
        <p:spPr>
          <a:xfrm>
            <a:off x="693467" y="3426289"/>
            <a:ext cx="3788375" cy="441749"/>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150">
                <a:solidFill>
                  <a:srgbClr val="86868B"/>
                </a:solidFill>
                <a:ea typeface="+mn-lt"/>
                <a:cs typeface="+mn-lt"/>
              </a:rPr>
              <a:t>Performs reliably on noisy behavioral data and avoids overfitting common in more complex models.</a:t>
            </a:r>
            <a:endParaRPr lang="en-US"/>
          </a:p>
        </p:txBody>
      </p:sp>
      <p:sp>
        <p:nvSpPr>
          <p:cNvPr id="10" name="Text 15">
            <a:extLst>
              <a:ext uri="{FF2B5EF4-FFF2-40B4-BE49-F238E27FC236}">
                <a16:creationId xmlns:a16="http://schemas.microsoft.com/office/drawing/2014/main" id="{9E5D8B2C-C7D1-0C12-827A-D59F6A959F1F}"/>
              </a:ext>
            </a:extLst>
          </p:cNvPr>
          <p:cNvSpPr/>
          <p:nvPr/>
        </p:nvSpPr>
        <p:spPr>
          <a:xfrm>
            <a:off x="680767" y="3866622"/>
            <a:ext cx="4311788"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sz="1300" b="1">
                <a:solidFill>
                  <a:srgbClr val="1D1D1F"/>
                </a:solidFill>
                <a:ea typeface="+mn-lt"/>
                <a:cs typeface="+mn-lt"/>
              </a:rPr>
              <a:t>Management-Friendly</a:t>
            </a:r>
            <a:endParaRPr lang="en-US" b="1">
              <a:ea typeface="Calibri"/>
              <a:cs typeface="Calibri"/>
            </a:endParaRPr>
          </a:p>
        </p:txBody>
      </p:sp>
      <p:sp>
        <p:nvSpPr>
          <p:cNvPr id="11" name="Text 16">
            <a:extLst>
              <a:ext uri="{FF2B5EF4-FFF2-40B4-BE49-F238E27FC236}">
                <a16:creationId xmlns:a16="http://schemas.microsoft.com/office/drawing/2014/main" id="{51DFCD56-C351-46B8-2787-80D4E88EC568}"/>
              </a:ext>
            </a:extLst>
          </p:cNvPr>
          <p:cNvSpPr/>
          <p:nvPr/>
        </p:nvSpPr>
        <p:spPr>
          <a:xfrm>
            <a:off x="693467" y="4128996"/>
            <a:ext cx="3592646" cy="505249"/>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150">
                <a:solidFill>
                  <a:srgbClr val="86868B"/>
                </a:solidFill>
                <a:ea typeface="+mn-lt"/>
                <a:cs typeface="+mn-lt"/>
              </a:rPr>
              <a:t>Outputs are easy to explain, justify, and defend to non-technical stakeholders.</a:t>
            </a:r>
            <a:endParaRPr lang="en-US">
              <a:ea typeface="+mn-lt"/>
              <a:cs typeface="+mn-lt"/>
            </a:endParaRPr>
          </a:p>
        </p:txBody>
      </p:sp>
      <p:sp>
        <p:nvSpPr>
          <p:cNvPr id="14" name="Text 22">
            <a:extLst>
              <a:ext uri="{FF2B5EF4-FFF2-40B4-BE49-F238E27FC236}">
                <a16:creationId xmlns:a16="http://schemas.microsoft.com/office/drawing/2014/main" id="{5065B622-31C2-D032-3950-8648F1F341DF}"/>
              </a:ext>
            </a:extLst>
          </p:cNvPr>
          <p:cNvSpPr/>
          <p:nvPr/>
        </p:nvSpPr>
        <p:spPr>
          <a:xfrm>
            <a:off x="5600209" y="1478236"/>
            <a:ext cx="5384289"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solidFill>
                  <a:schemeClr val="tx1">
                    <a:lumMod val="65000"/>
                    <a:lumOff val="35000"/>
                  </a:schemeClr>
                </a:solidFill>
                <a:latin typeface="Liter"/>
              </a:rPr>
              <a:t>Comparing Logistic Regression vs Decision Tree</a:t>
            </a:r>
            <a:endParaRPr lang="en-US" sz="1450" b="1">
              <a:solidFill>
                <a:schemeClr val="tx1">
                  <a:lumMod val="65000"/>
                  <a:lumOff val="35000"/>
                </a:schemeClr>
              </a:solidFill>
              <a:latin typeface="Liter"/>
              <a:ea typeface="Calibri" panose="020F0502020204030204"/>
              <a:cs typeface="Calibri" panose="020F0502020204030204"/>
            </a:endParaRPr>
          </a:p>
        </p:txBody>
      </p:sp>
      <p:sp>
        <p:nvSpPr>
          <p:cNvPr id="16" name="Text 27">
            <a:extLst>
              <a:ext uri="{FF2B5EF4-FFF2-40B4-BE49-F238E27FC236}">
                <a16:creationId xmlns:a16="http://schemas.microsoft.com/office/drawing/2014/main" id="{99FFF2B8-DCE2-2FC0-53AB-184B1291D652}"/>
              </a:ext>
            </a:extLst>
          </p:cNvPr>
          <p:cNvSpPr/>
          <p:nvPr/>
        </p:nvSpPr>
        <p:spPr>
          <a:xfrm>
            <a:off x="9111228" y="5913563"/>
            <a:ext cx="2358779" cy="188731"/>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endParaRPr lang="en-US" sz="1000">
              <a:solidFill>
                <a:srgbClr val="86868B"/>
              </a:solidFill>
              <a:latin typeface="Liter"/>
            </a:endParaRPr>
          </a:p>
        </p:txBody>
      </p:sp>
      <p:sp>
        <p:nvSpPr>
          <p:cNvPr id="17" name="Text 28">
            <a:extLst>
              <a:ext uri="{FF2B5EF4-FFF2-40B4-BE49-F238E27FC236}">
                <a16:creationId xmlns:a16="http://schemas.microsoft.com/office/drawing/2014/main" id="{5FA8F014-BE9F-B427-634E-8527FC2ED174}"/>
              </a:ext>
            </a:extLst>
          </p:cNvPr>
          <p:cNvSpPr/>
          <p:nvPr/>
        </p:nvSpPr>
        <p:spPr>
          <a:xfrm>
            <a:off x="9073482" y="6140040"/>
            <a:ext cx="2434272" cy="339715"/>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en-US" sz="2200" b="1">
              <a:solidFill>
                <a:srgbClr val="86868B"/>
              </a:solidFill>
              <a:latin typeface="Liter"/>
            </a:endParaRPr>
          </a:p>
        </p:txBody>
      </p:sp>
      <p:sp>
        <p:nvSpPr>
          <p:cNvPr id="21" name="TextBox 20">
            <a:extLst>
              <a:ext uri="{FF2B5EF4-FFF2-40B4-BE49-F238E27FC236}">
                <a16:creationId xmlns:a16="http://schemas.microsoft.com/office/drawing/2014/main" id="{3071F212-887A-F3D7-F599-F9B40A3904D5}"/>
              </a:ext>
            </a:extLst>
          </p:cNvPr>
          <p:cNvSpPr txBox="1"/>
          <p:nvPr/>
        </p:nvSpPr>
        <p:spPr>
          <a:xfrm>
            <a:off x="569081" y="5583162"/>
            <a:ext cx="11302395"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tx1">
                    <a:lumMod val="76000"/>
                    <a:lumOff val="24000"/>
                  </a:schemeClr>
                </a:solidFill>
                <a:latin typeface="Liter"/>
              </a:rPr>
              <a:t>While the decision tree achieves higher AUC and recall, it does so at the cost of higher false positives.</a:t>
            </a:r>
            <a:br>
              <a:rPr lang="en-US" sz="1600">
                <a:solidFill>
                  <a:schemeClr val="tx1">
                    <a:lumMod val="76000"/>
                    <a:lumOff val="24000"/>
                  </a:schemeClr>
                </a:solidFill>
                <a:latin typeface="Liter"/>
              </a:rPr>
            </a:br>
            <a:r>
              <a:rPr lang="en-US" sz="1600">
                <a:solidFill>
                  <a:schemeClr val="tx1">
                    <a:lumMod val="76000"/>
                    <a:lumOff val="24000"/>
                  </a:schemeClr>
                </a:solidFill>
                <a:latin typeface="Liter"/>
              </a:rPr>
              <a:t>Logistic regression provides cleaner and more precise targeting with lower FPR and higher accuracy.</a:t>
            </a:r>
            <a:br>
              <a:rPr lang="en-US" sz="1600">
                <a:solidFill>
                  <a:schemeClr val="tx1">
                    <a:lumMod val="76000"/>
                    <a:lumOff val="24000"/>
                  </a:schemeClr>
                </a:solidFill>
                <a:latin typeface="Liter"/>
              </a:rPr>
            </a:br>
            <a:r>
              <a:rPr lang="en-US" sz="1600">
                <a:solidFill>
                  <a:schemeClr val="tx1">
                    <a:lumMod val="76000"/>
                    <a:lumOff val="24000"/>
                  </a:schemeClr>
                </a:solidFill>
                <a:latin typeface="Liter"/>
              </a:rPr>
              <a:t>For marketing execution, logistic regression offers a better balance between efficiency, cost control, and interpretability.</a:t>
            </a:r>
          </a:p>
          <a:p>
            <a:pPr algn="ctr"/>
            <a:endParaRPr lang="en-US"/>
          </a:p>
        </p:txBody>
      </p:sp>
      <p:graphicFrame>
        <p:nvGraphicFramePr>
          <p:cNvPr id="26" name="Table 25">
            <a:extLst>
              <a:ext uri="{FF2B5EF4-FFF2-40B4-BE49-F238E27FC236}">
                <a16:creationId xmlns:a16="http://schemas.microsoft.com/office/drawing/2014/main" id="{52C56A28-1042-A96A-2AB0-AF14AE89FADA}"/>
              </a:ext>
            </a:extLst>
          </p:cNvPr>
          <p:cNvGraphicFramePr>
            <a:graphicFrameLocks noGrp="1"/>
          </p:cNvGraphicFramePr>
          <p:nvPr>
            <p:extLst>
              <p:ext uri="{D42A27DB-BD31-4B8C-83A1-F6EECF244321}">
                <p14:modId xmlns:p14="http://schemas.microsoft.com/office/powerpoint/2010/main" val="4049040730"/>
              </p:ext>
            </p:extLst>
          </p:nvPr>
        </p:nvGraphicFramePr>
        <p:xfrm>
          <a:off x="4660900" y="1866900"/>
          <a:ext cx="7386970" cy="3291840"/>
        </p:xfrm>
        <a:graphic>
          <a:graphicData uri="http://schemas.openxmlformats.org/drawingml/2006/table">
            <a:tbl>
              <a:tblPr firstRow="1" bandRow="1">
                <a:tableStyleId>{69012ECD-51FC-41F1-AA8D-1B2483CD663E}</a:tableStyleId>
              </a:tblPr>
              <a:tblGrid>
                <a:gridCol w="1477394">
                  <a:extLst>
                    <a:ext uri="{9D8B030D-6E8A-4147-A177-3AD203B41FA5}">
                      <a16:colId xmlns:a16="http://schemas.microsoft.com/office/drawing/2014/main" val="2025034758"/>
                    </a:ext>
                  </a:extLst>
                </a:gridCol>
                <a:gridCol w="1477394">
                  <a:extLst>
                    <a:ext uri="{9D8B030D-6E8A-4147-A177-3AD203B41FA5}">
                      <a16:colId xmlns:a16="http://schemas.microsoft.com/office/drawing/2014/main" val="653211135"/>
                    </a:ext>
                  </a:extLst>
                </a:gridCol>
                <a:gridCol w="1477394">
                  <a:extLst>
                    <a:ext uri="{9D8B030D-6E8A-4147-A177-3AD203B41FA5}">
                      <a16:colId xmlns:a16="http://schemas.microsoft.com/office/drawing/2014/main" val="1726625660"/>
                    </a:ext>
                  </a:extLst>
                </a:gridCol>
                <a:gridCol w="1477394">
                  <a:extLst>
                    <a:ext uri="{9D8B030D-6E8A-4147-A177-3AD203B41FA5}">
                      <a16:colId xmlns:a16="http://schemas.microsoft.com/office/drawing/2014/main" val="1000447523"/>
                    </a:ext>
                  </a:extLst>
                </a:gridCol>
                <a:gridCol w="1477394">
                  <a:extLst>
                    <a:ext uri="{9D8B030D-6E8A-4147-A177-3AD203B41FA5}">
                      <a16:colId xmlns:a16="http://schemas.microsoft.com/office/drawing/2014/main" val="2586575089"/>
                    </a:ext>
                  </a:extLst>
                </a:gridCol>
              </a:tblGrid>
              <a:tr h="553463">
                <a:tc>
                  <a:txBody>
                    <a:bodyPr/>
                    <a:lstStyle/>
                    <a:p>
                      <a:pPr>
                        <a:buNone/>
                      </a:pPr>
                      <a:r>
                        <a:rPr lang="en-US"/>
                        <a:t>Metric</a:t>
                      </a:r>
                    </a:p>
                  </a:txBody>
                  <a:tcPr anchor="ctr"/>
                </a:tc>
                <a:tc>
                  <a:txBody>
                    <a:bodyPr/>
                    <a:lstStyle/>
                    <a:p>
                      <a:pPr>
                        <a:buNone/>
                      </a:pPr>
                      <a:r>
                        <a:rPr lang="en-US"/>
                        <a:t>Logistic Regression</a:t>
                      </a:r>
                    </a:p>
                  </a:txBody>
                  <a:tcPr anchor="ctr"/>
                </a:tc>
                <a:tc>
                  <a:txBody>
                    <a:bodyPr/>
                    <a:lstStyle/>
                    <a:p>
                      <a:pPr>
                        <a:buNone/>
                      </a:pPr>
                      <a:r>
                        <a:rPr lang="en-US"/>
                        <a:t>Decision Tree</a:t>
                      </a:r>
                    </a:p>
                  </a:txBody>
                  <a:tcPr anchor="ctr"/>
                </a:tc>
                <a:tc>
                  <a:txBody>
                    <a:bodyPr/>
                    <a:lstStyle/>
                    <a:p>
                      <a:pPr>
                        <a:buNone/>
                      </a:pPr>
                      <a:r>
                        <a:rPr lang="en-US"/>
                        <a:t>Difference</a:t>
                      </a:r>
                    </a:p>
                  </a:txBody>
                  <a:tcPr anchor="ctr"/>
                </a:tc>
                <a:tc>
                  <a:txBody>
                    <a:bodyPr/>
                    <a:lstStyle/>
                    <a:p>
                      <a:pPr>
                        <a:buNone/>
                      </a:pPr>
                      <a:r>
                        <a:rPr lang="en-US"/>
                        <a:t>Better Model</a:t>
                      </a:r>
                    </a:p>
                  </a:txBody>
                  <a:tcPr anchor="ctr"/>
                </a:tc>
                <a:extLst>
                  <a:ext uri="{0D108BD9-81ED-4DB2-BD59-A6C34878D82A}">
                    <a16:rowId xmlns:a16="http://schemas.microsoft.com/office/drawing/2014/main" val="4228265698"/>
                  </a:ext>
                </a:extLst>
              </a:tr>
              <a:tr h="353273">
                <a:tc>
                  <a:txBody>
                    <a:bodyPr/>
                    <a:lstStyle/>
                    <a:p>
                      <a:pPr>
                        <a:buNone/>
                      </a:pPr>
                      <a:r>
                        <a:rPr lang="en-US"/>
                        <a:t>AUC</a:t>
                      </a:r>
                    </a:p>
                  </a:txBody>
                  <a:tcPr anchor="ctr"/>
                </a:tc>
                <a:tc>
                  <a:txBody>
                    <a:bodyPr/>
                    <a:lstStyle/>
                    <a:p>
                      <a:pPr>
                        <a:buNone/>
                      </a:pPr>
                      <a:r>
                        <a:rPr lang="en-US"/>
                        <a:t>0.732</a:t>
                      </a:r>
                    </a:p>
                  </a:txBody>
                  <a:tcPr anchor="ctr"/>
                </a:tc>
                <a:tc>
                  <a:txBody>
                    <a:bodyPr/>
                    <a:lstStyle/>
                    <a:p>
                      <a:pPr>
                        <a:buNone/>
                      </a:pPr>
                      <a:r>
                        <a:rPr lang="en-US"/>
                        <a:t>0.760</a:t>
                      </a:r>
                    </a:p>
                  </a:txBody>
                  <a:tcPr anchor="ctr"/>
                </a:tc>
                <a:tc>
                  <a:txBody>
                    <a:bodyPr/>
                    <a:lstStyle/>
                    <a:p>
                      <a:pPr>
                        <a:buNone/>
                      </a:pPr>
                      <a:r>
                        <a:rPr lang="en-US"/>
                        <a:t>+0.028</a:t>
                      </a:r>
                    </a:p>
                  </a:txBody>
                  <a:tcPr anchor="ctr"/>
                </a:tc>
                <a:tc>
                  <a:txBody>
                    <a:bodyPr/>
                    <a:lstStyle/>
                    <a:p>
                      <a:pPr>
                        <a:buNone/>
                      </a:pPr>
                      <a:r>
                        <a:rPr lang="en-US"/>
                        <a:t>Decision Tree</a:t>
                      </a:r>
                    </a:p>
                  </a:txBody>
                  <a:tcPr anchor="ctr"/>
                </a:tc>
                <a:extLst>
                  <a:ext uri="{0D108BD9-81ED-4DB2-BD59-A6C34878D82A}">
                    <a16:rowId xmlns:a16="http://schemas.microsoft.com/office/drawing/2014/main" val="3345545067"/>
                  </a:ext>
                </a:extLst>
              </a:tr>
              <a:tr h="553463">
                <a:tc>
                  <a:txBody>
                    <a:bodyPr/>
                    <a:lstStyle/>
                    <a:p>
                      <a:pPr>
                        <a:buNone/>
                      </a:pPr>
                      <a:r>
                        <a:rPr lang="en-US"/>
                        <a:t>Accuracy</a:t>
                      </a:r>
                    </a:p>
                  </a:txBody>
                  <a:tcPr anchor="ctr"/>
                </a:tc>
                <a:tc>
                  <a:txBody>
                    <a:bodyPr/>
                    <a:lstStyle/>
                    <a:p>
                      <a:pPr>
                        <a:buNone/>
                      </a:pPr>
                      <a:r>
                        <a:rPr lang="en-US"/>
                        <a:t>0.875</a:t>
                      </a:r>
                    </a:p>
                  </a:txBody>
                  <a:tcPr anchor="ctr"/>
                </a:tc>
                <a:tc>
                  <a:txBody>
                    <a:bodyPr/>
                    <a:lstStyle/>
                    <a:p>
                      <a:pPr>
                        <a:buNone/>
                      </a:pPr>
                      <a:r>
                        <a:rPr lang="en-US"/>
                        <a:t>0.843</a:t>
                      </a:r>
                    </a:p>
                  </a:txBody>
                  <a:tcPr anchor="ctr"/>
                </a:tc>
                <a:tc>
                  <a:txBody>
                    <a:bodyPr/>
                    <a:lstStyle/>
                    <a:p>
                      <a:pPr>
                        <a:buNone/>
                      </a:pPr>
                      <a:r>
                        <a:rPr lang="en-US"/>
                        <a:t>−0.032</a:t>
                      </a:r>
                    </a:p>
                  </a:txBody>
                  <a:tcPr anchor="ctr"/>
                </a:tc>
                <a:tc>
                  <a:txBody>
                    <a:bodyPr/>
                    <a:lstStyle/>
                    <a:p>
                      <a:pPr>
                        <a:buNone/>
                      </a:pPr>
                      <a:r>
                        <a:rPr lang="en-US"/>
                        <a:t>Logistic Regression</a:t>
                      </a:r>
                    </a:p>
                  </a:txBody>
                  <a:tcPr anchor="ctr">
                    <a:solidFill>
                      <a:schemeClr val="accent2">
                        <a:lumMod val="40000"/>
                        <a:lumOff val="60000"/>
                      </a:schemeClr>
                    </a:solidFill>
                  </a:tcPr>
                </a:tc>
                <a:extLst>
                  <a:ext uri="{0D108BD9-81ED-4DB2-BD59-A6C34878D82A}">
                    <a16:rowId xmlns:a16="http://schemas.microsoft.com/office/drawing/2014/main" val="3762370351"/>
                  </a:ext>
                </a:extLst>
              </a:tr>
              <a:tr h="553463">
                <a:tc>
                  <a:txBody>
                    <a:bodyPr/>
                    <a:lstStyle/>
                    <a:p>
                      <a:pPr>
                        <a:buNone/>
                      </a:pPr>
                      <a:r>
                        <a:rPr lang="en-US"/>
                        <a:t>Precision</a:t>
                      </a:r>
                    </a:p>
                  </a:txBody>
                  <a:tcPr anchor="ctr"/>
                </a:tc>
                <a:tc>
                  <a:txBody>
                    <a:bodyPr/>
                    <a:lstStyle/>
                    <a:p>
                      <a:pPr>
                        <a:buNone/>
                      </a:pPr>
                      <a:r>
                        <a:rPr lang="en-US"/>
                        <a:t>0.210</a:t>
                      </a:r>
                    </a:p>
                  </a:txBody>
                  <a:tcPr anchor="ctr"/>
                </a:tc>
                <a:tc>
                  <a:txBody>
                    <a:bodyPr/>
                    <a:lstStyle/>
                    <a:p>
                      <a:pPr>
                        <a:buNone/>
                      </a:pPr>
                      <a:r>
                        <a:rPr lang="en-US"/>
                        <a:t>0.205</a:t>
                      </a:r>
                    </a:p>
                  </a:txBody>
                  <a:tcPr anchor="ctr"/>
                </a:tc>
                <a:tc>
                  <a:txBody>
                    <a:bodyPr/>
                    <a:lstStyle/>
                    <a:p>
                      <a:pPr>
                        <a:buNone/>
                      </a:pPr>
                      <a:r>
                        <a:rPr lang="en-US"/>
                        <a:t>−0.005</a:t>
                      </a:r>
                    </a:p>
                  </a:txBody>
                  <a:tcPr anchor="ctr"/>
                </a:tc>
                <a:tc>
                  <a:txBody>
                    <a:bodyPr/>
                    <a:lstStyle/>
                    <a:p>
                      <a:pPr>
                        <a:buNone/>
                      </a:pPr>
                      <a:r>
                        <a:rPr lang="en-US"/>
                        <a:t>Logistic Regression</a:t>
                      </a:r>
                    </a:p>
                  </a:txBody>
                  <a:tcPr anchor="ctr">
                    <a:solidFill>
                      <a:schemeClr val="accent2">
                        <a:lumMod val="40000"/>
                        <a:lumOff val="60000"/>
                      </a:schemeClr>
                    </a:solidFill>
                  </a:tcPr>
                </a:tc>
                <a:extLst>
                  <a:ext uri="{0D108BD9-81ED-4DB2-BD59-A6C34878D82A}">
                    <a16:rowId xmlns:a16="http://schemas.microsoft.com/office/drawing/2014/main" val="2099693519"/>
                  </a:ext>
                </a:extLst>
              </a:tr>
              <a:tr h="353273">
                <a:tc>
                  <a:txBody>
                    <a:bodyPr/>
                    <a:lstStyle/>
                    <a:p>
                      <a:pPr>
                        <a:buNone/>
                      </a:pPr>
                      <a:r>
                        <a:rPr lang="en-US"/>
                        <a:t>Recall (TPR)</a:t>
                      </a:r>
                    </a:p>
                  </a:txBody>
                  <a:tcPr anchor="ctr"/>
                </a:tc>
                <a:tc>
                  <a:txBody>
                    <a:bodyPr/>
                    <a:lstStyle/>
                    <a:p>
                      <a:pPr>
                        <a:buNone/>
                      </a:pPr>
                      <a:r>
                        <a:rPr lang="en-US"/>
                        <a:t>0.312</a:t>
                      </a:r>
                    </a:p>
                  </a:txBody>
                  <a:tcPr anchor="ctr"/>
                </a:tc>
                <a:tc>
                  <a:txBody>
                    <a:bodyPr/>
                    <a:lstStyle/>
                    <a:p>
                      <a:pPr>
                        <a:buNone/>
                      </a:pPr>
                      <a:r>
                        <a:rPr lang="en-US"/>
                        <a:t>0.460</a:t>
                      </a:r>
                    </a:p>
                  </a:txBody>
                  <a:tcPr anchor="ctr"/>
                </a:tc>
                <a:tc>
                  <a:txBody>
                    <a:bodyPr/>
                    <a:lstStyle/>
                    <a:p>
                      <a:pPr>
                        <a:buNone/>
                      </a:pPr>
                      <a:r>
                        <a:rPr lang="en-US"/>
                        <a:t>+0.148</a:t>
                      </a:r>
                    </a:p>
                  </a:txBody>
                  <a:tcPr anchor="ctr"/>
                </a:tc>
                <a:tc>
                  <a:txBody>
                    <a:bodyPr/>
                    <a:lstStyle/>
                    <a:p>
                      <a:pPr>
                        <a:buNone/>
                      </a:pPr>
                      <a:r>
                        <a:rPr lang="en-US"/>
                        <a:t>Decision Tree</a:t>
                      </a:r>
                    </a:p>
                  </a:txBody>
                  <a:tcPr anchor="ctr"/>
                </a:tc>
                <a:extLst>
                  <a:ext uri="{0D108BD9-81ED-4DB2-BD59-A6C34878D82A}">
                    <a16:rowId xmlns:a16="http://schemas.microsoft.com/office/drawing/2014/main" val="2944335465"/>
                  </a:ext>
                </a:extLst>
              </a:tr>
              <a:tr h="553463">
                <a:tc>
                  <a:txBody>
                    <a:bodyPr/>
                    <a:lstStyle/>
                    <a:p>
                      <a:pPr>
                        <a:buNone/>
                      </a:pPr>
                      <a:r>
                        <a:rPr lang="en-US"/>
                        <a:t>FPR</a:t>
                      </a:r>
                    </a:p>
                  </a:txBody>
                  <a:tcPr anchor="ctr"/>
                </a:tc>
                <a:tc>
                  <a:txBody>
                    <a:bodyPr/>
                    <a:lstStyle/>
                    <a:p>
                      <a:pPr>
                        <a:buNone/>
                      </a:pPr>
                      <a:r>
                        <a:rPr lang="en-US"/>
                        <a:t>0.085</a:t>
                      </a:r>
                    </a:p>
                  </a:txBody>
                  <a:tcPr anchor="ctr"/>
                </a:tc>
                <a:tc>
                  <a:txBody>
                    <a:bodyPr/>
                    <a:lstStyle/>
                    <a:p>
                      <a:pPr>
                        <a:buNone/>
                      </a:pPr>
                      <a:r>
                        <a:rPr lang="en-US"/>
                        <a:t>0.129</a:t>
                      </a:r>
                    </a:p>
                  </a:txBody>
                  <a:tcPr anchor="ctr"/>
                </a:tc>
                <a:tc>
                  <a:txBody>
                    <a:bodyPr/>
                    <a:lstStyle/>
                    <a:p>
                      <a:pPr>
                        <a:buNone/>
                      </a:pPr>
                      <a:r>
                        <a:rPr lang="en-US"/>
                        <a:t>+0.044</a:t>
                      </a:r>
                    </a:p>
                  </a:txBody>
                  <a:tcPr anchor="ctr"/>
                </a:tc>
                <a:tc>
                  <a:txBody>
                    <a:bodyPr/>
                    <a:lstStyle/>
                    <a:p>
                      <a:pPr>
                        <a:buNone/>
                      </a:pPr>
                      <a:r>
                        <a:rPr lang="en-US"/>
                        <a:t>Logistic Regression</a:t>
                      </a:r>
                    </a:p>
                  </a:txBody>
                  <a:tcPr anchor="ctr">
                    <a:solidFill>
                      <a:schemeClr val="accent2">
                        <a:lumMod val="40000"/>
                        <a:lumOff val="60000"/>
                      </a:schemeClr>
                    </a:solidFill>
                  </a:tcPr>
                </a:tc>
                <a:extLst>
                  <a:ext uri="{0D108BD9-81ED-4DB2-BD59-A6C34878D82A}">
                    <a16:rowId xmlns:a16="http://schemas.microsoft.com/office/drawing/2014/main" val="2602909265"/>
                  </a:ext>
                </a:extLst>
              </a:tr>
            </a:tbl>
          </a:graphicData>
        </a:graphic>
      </p:graphicFrame>
      <p:sp>
        <p:nvSpPr>
          <p:cNvPr id="27" name="Text 15">
            <a:extLst>
              <a:ext uri="{FF2B5EF4-FFF2-40B4-BE49-F238E27FC236}">
                <a16:creationId xmlns:a16="http://schemas.microsoft.com/office/drawing/2014/main" id="{550136F4-BCBE-99A2-93B6-855A1E7D405B}"/>
              </a:ext>
            </a:extLst>
          </p:cNvPr>
          <p:cNvSpPr/>
          <p:nvPr/>
        </p:nvSpPr>
        <p:spPr>
          <a:xfrm>
            <a:off x="680766" y="4590522"/>
            <a:ext cx="4311788" cy="264223"/>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sz="1300" b="1">
                <a:solidFill>
                  <a:srgbClr val="1D1D1F"/>
                </a:solidFill>
                <a:ea typeface="+mn-lt"/>
                <a:cs typeface="+mn-lt"/>
              </a:rPr>
              <a:t>Clear Business Intuition</a:t>
            </a:r>
            <a:endParaRPr lang="en-US" b="1">
              <a:ea typeface="Calibri"/>
              <a:cs typeface="Calibri"/>
            </a:endParaRPr>
          </a:p>
        </p:txBody>
      </p:sp>
      <p:sp>
        <p:nvSpPr>
          <p:cNvPr id="28" name="Text 16">
            <a:extLst>
              <a:ext uri="{FF2B5EF4-FFF2-40B4-BE49-F238E27FC236}">
                <a16:creationId xmlns:a16="http://schemas.microsoft.com/office/drawing/2014/main" id="{ED2607CC-ACED-F8D4-8D75-BEAE0D3CDAA8}"/>
              </a:ext>
            </a:extLst>
          </p:cNvPr>
          <p:cNvSpPr/>
          <p:nvPr/>
        </p:nvSpPr>
        <p:spPr>
          <a:xfrm>
            <a:off x="680766" y="4725896"/>
            <a:ext cx="3592646" cy="556049"/>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150">
                <a:solidFill>
                  <a:srgbClr val="86868B"/>
                </a:solidFill>
                <a:ea typeface="+mn-lt"/>
                <a:cs typeface="+mn-lt"/>
              </a:rPr>
              <a:t>Coefficients map directly to user behaviors, enabling actionable and transparent marketing decisions.</a:t>
            </a:r>
            <a:endParaRPr lang="en-US"/>
          </a:p>
        </p:txBody>
      </p:sp>
      <p:pic>
        <p:nvPicPr>
          <p:cNvPr id="13" name="Picture 12" descr="A logo on a glass wall&#10;&#10;AI-generated content may be incorrect.">
            <a:extLst>
              <a:ext uri="{FF2B5EF4-FFF2-40B4-BE49-F238E27FC236}">
                <a16:creationId xmlns:a16="http://schemas.microsoft.com/office/drawing/2014/main" id="{0114705F-AFE5-31EB-C3EB-ACEF62400FE6}"/>
              </a:ext>
            </a:extLst>
          </p:cNvPr>
          <p:cNvPicPr>
            <a:picLocks noChangeAspect="1"/>
          </p:cNvPicPr>
          <p:nvPr/>
        </p:nvPicPr>
        <p:blipFill>
          <a:blip r:embed="rId3"/>
          <a:stretch>
            <a:fillRect/>
          </a:stretch>
        </p:blipFill>
        <p:spPr>
          <a:xfrm>
            <a:off x="11070936" y="-1"/>
            <a:ext cx="1121065" cy="1073840"/>
          </a:xfrm>
          <a:prstGeom prst="rect">
            <a:avLst/>
          </a:prstGeom>
        </p:spPr>
      </p:pic>
    </p:spTree>
    <p:extLst>
      <p:ext uri="{BB962C8B-B14F-4D97-AF65-F5344CB8AC3E}">
        <p14:creationId xmlns:p14="http://schemas.microsoft.com/office/powerpoint/2010/main" val="602903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70296" y="370296"/>
            <a:ext cx="11516210" cy="185148"/>
          </a:xfrm>
          <a:prstGeom prst="rect">
            <a:avLst/>
          </a:prstGeom>
          <a:noFill/>
          <a:ln/>
        </p:spPr>
        <p:txBody>
          <a:bodyPr wrap="square" lIns="0" tIns="0" rIns="0" bIns="0" rtlCol="0" anchor="ctr"/>
          <a:lstStyle/>
          <a:p>
            <a:pPr>
              <a:lnSpc>
                <a:spcPct val="120000"/>
              </a:lnSpc>
            </a:pPr>
            <a:r>
              <a:rPr lang="en-US" sz="1021" b="1" kern="0" spc="51">
                <a:solidFill>
                  <a:srgbClr val="0071E3"/>
                </a:solidFill>
                <a:latin typeface="Liter" pitchFamily="34" charset="0"/>
                <a:ea typeface="Liter" pitchFamily="34" charset="-122"/>
                <a:cs typeface="Liter" pitchFamily="34" charset="-120"/>
              </a:rPr>
              <a:t>Model Justification</a:t>
            </a:r>
            <a:endParaRPr lang="en-US" sz="1600"/>
          </a:p>
        </p:txBody>
      </p:sp>
      <p:sp>
        <p:nvSpPr>
          <p:cNvPr id="3" name="Text 1"/>
          <p:cNvSpPr/>
          <p:nvPr/>
        </p:nvSpPr>
        <p:spPr>
          <a:xfrm>
            <a:off x="370296" y="629503"/>
            <a:ext cx="11673585" cy="444355"/>
          </a:xfrm>
          <a:prstGeom prst="rect">
            <a:avLst/>
          </a:prstGeom>
          <a:noFill/>
          <a:ln/>
        </p:spPr>
        <p:txBody>
          <a:bodyPr wrap="square" lIns="0" tIns="0" rIns="0" bIns="0" rtlCol="0" anchor="ctr"/>
          <a:lstStyle/>
          <a:p>
            <a:pPr>
              <a:lnSpc>
                <a:spcPct val="80000"/>
              </a:lnSpc>
            </a:pPr>
            <a:r>
              <a:rPr lang="en-US" sz="3499" b="1">
                <a:solidFill>
                  <a:srgbClr val="1D1D1F"/>
                </a:solidFill>
                <a:latin typeface="Hedvig Letters Sans" pitchFamily="34" charset="0"/>
                <a:ea typeface="Hedvig Letters Sans" pitchFamily="34" charset="-122"/>
                <a:cs typeface="Hedvig Letters Sans" pitchFamily="34" charset="-120"/>
              </a:rPr>
              <a:t>Why Logistic Regression Wins</a:t>
            </a:r>
            <a:endParaRPr lang="en-US" sz="1600"/>
          </a:p>
        </p:txBody>
      </p:sp>
      <p:sp>
        <p:nvSpPr>
          <p:cNvPr id="4" name="Shape 2"/>
          <p:cNvSpPr/>
          <p:nvPr/>
        </p:nvSpPr>
        <p:spPr>
          <a:xfrm>
            <a:off x="373382" y="1262093"/>
            <a:ext cx="5606901" cy="4338636"/>
          </a:xfrm>
          <a:custGeom>
            <a:avLst/>
            <a:gdLst/>
            <a:ahLst/>
            <a:cxnLst/>
            <a:rect l="l" t="t" r="r" b="b"/>
            <a:pathLst>
              <a:path w="5606901" h="4338636">
                <a:moveTo>
                  <a:pt x="148121" y="0"/>
                </a:moveTo>
                <a:lnTo>
                  <a:pt x="5458779" y="0"/>
                </a:lnTo>
                <a:cubicBezTo>
                  <a:pt x="5540584" y="0"/>
                  <a:pt x="5606901" y="66316"/>
                  <a:pt x="5606901" y="148121"/>
                </a:cubicBezTo>
                <a:lnTo>
                  <a:pt x="5606901" y="4190515"/>
                </a:lnTo>
                <a:cubicBezTo>
                  <a:pt x="5606901" y="4272320"/>
                  <a:pt x="5540584" y="4338636"/>
                  <a:pt x="5458779" y="4338636"/>
                </a:cubicBezTo>
                <a:lnTo>
                  <a:pt x="148121" y="4338636"/>
                </a:lnTo>
                <a:cubicBezTo>
                  <a:pt x="66316" y="4338636"/>
                  <a:pt x="0" y="4272320"/>
                  <a:pt x="0" y="4190515"/>
                </a:cubicBezTo>
                <a:lnTo>
                  <a:pt x="0" y="148121"/>
                </a:lnTo>
                <a:cubicBezTo>
                  <a:pt x="0" y="66371"/>
                  <a:pt x="66371" y="0"/>
                  <a:pt x="148121" y="0"/>
                </a:cubicBezTo>
                <a:close/>
              </a:path>
            </a:pathLst>
          </a:custGeom>
          <a:solidFill>
            <a:srgbClr val="FFFFFF"/>
          </a:solidFill>
          <a:ln w="8467">
            <a:solidFill>
              <a:srgbClr val="F3F4F6"/>
            </a:solidFill>
            <a:prstDash val="solid"/>
          </a:ln>
          <a:effectLst>
            <a:outerShdw blurRad="27772" dist="9257" dir="5400000" algn="bl" rotWithShape="0">
              <a:srgbClr val="000000">
                <a:alpha val="10196"/>
              </a:srgbClr>
            </a:outerShdw>
          </a:effectLst>
        </p:spPr>
      </p:sp>
      <p:sp>
        <p:nvSpPr>
          <p:cNvPr id="5" name="Shape 3"/>
          <p:cNvSpPr/>
          <p:nvPr/>
        </p:nvSpPr>
        <p:spPr>
          <a:xfrm>
            <a:off x="598645" y="1487359"/>
            <a:ext cx="518415" cy="518415"/>
          </a:xfrm>
          <a:custGeom>
            <a:avLst/>
            <a:gdLst/>
            <a:ahLst/>
            <a:cxnLst/>
            <a:rect l="l" t="t" r="r" b="b"/>
            <a:pathLst>
              <a:path w="518415" h="518415">
                <a:moveTo>
                  <a:pt x="111091" y="0"/>
                </a:moveTo>
                <a:lnTo>
                  <a:pt x="407324" y="0"/>
                </a:lnTo>
                <a:cubicBezTo>
                  <a:pt x="468636" y="0"/>
                  <a:pt x="518415" y="49778"/>
                  <a:pt x="518415" y="111091"/>
                </a:cubicBezTo>
                <a:lnTo>
                  <a:pt x="518415" y="407324"/>
                </a:lnTo>
                <a:cubicBezTo>
                  <a:pt x="518415" y="468677"/>
                  <a:pt x="468677" y="518415"/>
                  <a:pt x="407324" y="518415"/>
                </a:cubicBezTo>
                <a:lnTo>
                  <a:pt x="111091" y="518415"/>
                </a:lnTo>
                <a:cubicBezTo>
                  <a:pt x="49737" y="518415"/>
                  <a:pt x="0" y="468677"/>
                  <a:pt x="0" y="407324"/>
                </a:cubicBezTo>
                <a:lnTo>
                  <a:pt x="0" y="111091"/>
                </a:lnTo>
                <a:cubicBezTo>
                  <a:pt x="0" y="49778"/>
                  <a:pt x="49778" y="0"/>
                  <a:pt x="111091" y="0"/>
                </a:cubicBezTo>
                <a:close/>
              </a:path>
            </a:pathLst>
          </a:custGeom>
          <a:solidFill>
            <a:srgbClr val="FFE2E2"/>
          </a:solidFill>
          <a:ln/>
        </p:spPr>
      </p:sp>
      <p:sp>
        <p:nvSpPr>
          <p:cNvPr id="6" name="Shape 4"/>
          <p:cNvSpPr/>
          <p:nvPr/>
        </p:nvSpPr>
        <p:spPr>
          <a:xfrm>
            <a:off x="746764" y="1635478"/>
            <a:ext cx="222178" cy="222178"/>
          </a:xfrm>
          <a:custGeom>
            <a:avLst/>
            <a:gdLst/>
            <a:ahLst/>
            <a:cxnLst/>
            <a:rect l="l" t="t" r="r" b="b"/>
            <a:pathLst>
              <a:path w="222178" h="222178">
                <a:moveTo>
                  <a:pt x="111089" y="222178"/>
                </a:moveTo>
                <a:cubicBezTo>
                  <a:pt x="172400" y="222178"/>
                  <a:pt x="222178" y="172400"/>
                  <a:pt x="222178" y="111089"/>
                </a:cubicBezTo>
                <a:cubicBezTo>
                  <a:pt x="222178" y="49777"/>
                  <a:pt x="172400" y="0"/>
                  <a:pt x="111089" y="0"/>
                </a:cubicBezTo>
                <a:cubicBezTo>
                  <a:pt x="49777" y="0"/>
                  <a:pt x="0" y="49777"/>
                  <a:pt x="0" y="111089"/>
                </a:cubicBezTo>
                <a:cubicBezTo>
                  <a:pt x="0" y="172400"/>
                  <a:pt x="49777" y="222178"/>
                  <a:pt x="111089" y="222178"/>
                </a:cubicBezTo>
                <a:close/>
                <a:moveTo>
                  <a:pt x="72468" y="72468"/>
                </a:moveTo>
                <a:cubicBezTo>
                  <a:pt x="76547" y="68389"/>
                  <a:pt x="83143" y="68389"/>
                  <a:pt x="87179" y="72468"/>
                </a:cubicBezTo>
                <a:lnTo>
                  <a:pt x="111045" y="96335"/>
                </a:lnTo>
                <a:lnTo>
                  <a:pt x="134912" y="72468"/>
                </a:lnTo>
                <a:cubicBezTo>
                  <a:pt x="138991" y="68389"/>
                  <a:pt x="145587" y="68389"/>
                  <a:pt x="149623" y="72468"/>
                </a:cubicBezTo>
                <a:cubicBezTo>
                  <a:pt x="153658" y="76547"/>
                  <a:pt x="153702" y="83143"/>
                  <a:pt x="149623" y="87179"/>
                </a:cubicBezTo>
                <a:lnTo>
                  <a:pt x="125756" y="111045"/>
                </a:lnTo>
                <a:lnTo>
                  <a:pt x="149623" y="134912"/>
                </a:lnTo>
                <a:cubicBezTo>
                  <a:pt x="153702" y="138991"/>
                  <a:pt x="153702" y="145587"/>
                  <a:pt x="149623" y="149623"/>
                </a:cubicBezTo>
                <a:cubicBezTo>
                  <a:pt x="145544" y="153658"/>
                  <a:pt x="138948" y="153702"/>
                  <a:pt x="134912" y="149623"/>
                </a:cubicBezTo>
                <a:lnTo>
                  <a:pt x="111045" y="125756"/>
                </a:lnTo>
                <a:lnTo>
                  <a:pt x="87179" y="149623"/>
                </a:lnTo>
                <a:cubicBezTo>
                  <a:pt x="83100" y="153702"/>
                  <a:pt x="76504" y="153702"/>
                  <a:pt x="72468" y="149623"/>
                </a:cubicBezTo>
                <a:cubicBezTo>
                  <a:pt x="68432" y="145544"/>
                  <a:pt x="68389" y="138948"/>
                  <a:pt x="72468" y="134912"/>
                </a:cubicBezTo>
                <a:lnTo>
                  <a:pt x="96335" y="111045"/>
                </a:lnTo>
                <a:lnTo>
                  <a:pt x="72468" y="87179"/>
                </a:lnTo>
                <a:cubicBezTo>
                  <a:pt x="68389" y="83100"/>
                  <a:pt x="68389" y="76504"/>
                  <a:pt x="72468" y="72468"/>
                </a:cubicBezTo>
                <a:close/>
              </a:path>
            </a:pathLst>
          </a:custGeom>
          <a:solidFill>
            <a:srgbClr val="FB2C36"/>
          </a:solidFill>
          <a:ln/>
        </p:spPr>
      </p:sp>
      <p:sp>
        <p:nvSpPr>
          <p:cNvPr id="7" name="Text 5"/>
          <p:cNvSpPr/>
          <p:nvPr/>
        </p:nvSpPr>
        <p:spPr>
          <a:xfrm>
            <a:off x="1228149" y="1598448"/>
            <a:ext cx="2675390" cy="296237"/>
          </a:xfrm>
          <a:prstGeom prst="rect">
            <a:avLst/>
          </a:prstGeom>
          <a:noFill/>
          <a:ln/>
        </p:spPr>
        <p:txBody>
          <a:bodyPr wrap="square" lIns="0" tIns="0" rIns="0" bIns="0" rtlCol="0" anchor="ctr"/>
          <a:lstStyle/>
          <a:p>
            <a:pPr>
              <a:lnSpc>
                <a:spcPct val="110000"/>
              </a:lnSpc>
            </a:pPr>
            <a:r>
              <a:rPr lang="en-US" sz="1749" b="1">
                <a:solidFill>
                  <a:srgbClr val="1D1D1F"/>
                </a:solidFill>
                <a:latin typeface="Hedvig Letters Sans" pitchFamily="34" charset="0"/>
                <a:ea typeface="Hedvig Letters Sans" pitchFamily="34" charset="-122"/>
                <a:cs typeface="Hedvig Letters Sans" pitchFamily="34" charset="-120"/>
              </a:rPr>
              <a:t>Decision Tree Limitations</a:t>
            </a:r>
            <a:endParaRPr lang="en-US" sz="1600"/>
          </a:p>
        </p:txBody>
      </p:sp>
      <p:sp>
        <p:nvSpPr>
          <p:cNvPr id="8" name="Shape 6"/>
          <p:cNvSpPr/>
          <p:nvPr/>
        </p:nvSpPr>
        <p:spPr>
          <a:xfrm>
            <a:off x="617160" y="2190922"/>
            <a:ext cx="37030" cy="740592"/>
          </a:xfrm>
          <a:custGeom>
            <a:avLst/>
            <a:gdLst/>
            <a:ahLst/>
            <a:cxnLst/>
            <a:rect l="l" t="t" r="r" b="b"/>
            <a:pathLst>
              <a:path w="37030" h="740592">
                <a:moveTo>
                  <a:pt x="0" y="0"/>
                </a:moveTo>
                <a:lnTo>
                  <a:pt x="37030" y="0"/>
                </a:lnTo>
                <a:lnTo>
                  <a:pt x="37030" y="740592"/>
                </a:lnTo>
                <a:lnTo>
                  <a:pt x="0" y="740592"/>
                </a:lnTo>
                <a:lnTo>
                  <a:pt x="0" y="0"/>
                </a:lnTo>
                <a:close/>
              </a:path>
            </a:pathLst>
          </a:custGeom>
          <a:solidFill>
            <a:srgbClr val="FF6467"/>
          </a:solidFill>
          <a:ln/>
        </p:spPr>
      </p:sp>
      <p:sp>
        <p:nvSpPr>
          <p:cNvPr id="9" name="Text 7"/>
          <p:cNvSpPr/>
          <p:nvPr/>
        </p:nvSpPr>
        <p:spPr>
          <a:xfrm>
            <a:off x="783794" y="2190922"/>
            <a:ext cx="5054542" cy="259207"/>
          </a:xfrm>
          <a:prstGeom prst="rect">
            <a:avLst/>
          </a:prstGeom>
          <a:noFill/>
          <a:ln/>
        </p:spPr>
        <p:txBody>
          <a:bodyPr wrap="square" lIns="0" tIns="0" rIns="0" bIns="0" rtlCol="0" anchor="ctr"/>
          <a:lstStyle/>
          <a:p>
            <a:pPr>
              <a:lnSpc>
                <a:spcPct val="130000"/>
              </a:lnSpc>
            </a:pPr>
            <a:r>
              <a:rPr lang="en-US" sz="1312" b="1">
                <a:solidFill>
                  <a:srgbClr val="1D1D1F"/>
                </a:solidFill>
                <a:latin typeface="Liter" pitchFamily="34" charset="0"/>
                <a:ea typeface="Liter" pitchFamily="34" charset="-122"/>
                <a:cs typeface="Liter" pitchFamily="34" charset="-120"/>
              </a:rPr>
              <a:t>Step-Function Probabilities</a:t>
            </a:r>
            <a:endParaRPr lang="en-US" sz="1600"/>
          </a:p>
        </p:txBody>
      </p:sp>
      <p:sp>
        <p:nvSpPr>
          <p:cNvPr id="10" name="Text 8"/>
          <p:cNvSpPr/>
          <p:nvPr/>
        </p:nvSpPr>
        <p:spPr>
          <a:xfrm>
            <a:off x="783794" y="2487159"/>
            <a:ext cx="5045285" cy="444355"/>
          </a:xfrm>
          <a:prstGeom prst="rect">
            <a:avLst/>
          </a:prstGeom>
          <a:noFill/>
          <a:ln/>
        </p:spPr>
        <p:txBody>
          <a:bodyPr wrap="square" lIns="0" tIns="0" rIns="0" bIns="0" rtlCol="0" anchor="ctr"/>
          <a:lstStyle/>
          <a:p>
            <a:pPr>
              <a:lnSpc>
                <a:spcPct val="130000"/>
              </a:lnSpc>
            </a:pPr>
            <a:r>
              <a:rPr lang="en-US" sz="1166">
                <a:solidFill>
                  <a:srgbClr val="86868B"/>
                </a:solidFill>
                <a:latin typeface="Liter" pitchFamily="34" charset="0"/>
                <a:ea typeface="Liter" pitchFamily="34" charset="-122"/>
                <a:cs typeface="Liter" pitchFamily="34" charset="-120"/>
              </a:rPr>
              <a:t>Hard thresholds create unnatural jumps in predicted probabilities, reducing granularity for targeting</a:t>
            </a:r>
            <a:endParaRPr lang="en-US" sz="1600"/>
          </a:p>
        </p:txBody>
      </p:sp>
      <p:sp>
        <p:nvSpPr>
          <p:cNvPr id="11" name="Shape 9"/>
          <p:cNvSpPr/>
          <p:nvPr/>
        </p:nvSpPr>
        <p:spPr>
          <a:xfrm>
            <a:off x="617160" y="3079632"/>
            <a:ext cx="37030" cy="740592"/>
          </a:xfrm>
          <a:custGeom>
            <a:avLst/>
            <a:gdLst/>
            <a:ahLst/>
            <a:cxnLst/>
            <a:rect l="l" t="t" r="r" b="b"/>
            <a:pathLst>
              <a:path w="37030" h="740592">
                <a:moveTo>
                  <a:pt x="0" y="0"/>
                </a:moveTo>
                <a:lnTo>
                  <a:pt x="37030" y="0"/>
                </a:lnTo>
                <a:lnTo>
                  <a:pt x="37030" y="740592"/>
                </a:lnTo>
                <a:lnTo>
                  <a:pt x="0" y="740592"/>
                </a:lnTo>
                <a:lnTo>
                  <a:pt x="0" y="0"/>
                </a:lnTo>
                <a:close/>
              </a:path>
            </a:pathLst>
          </a:custGeom>
          <a:solidFill>
            <a:srgbClr val="FF6467"/>
          </a:solidFill>
          <a:ln/>
        </p:spPr>
      </p:sp>
      <p:sp>
        <p:nvSpPr>
          <p:cNvPr id="12" name="Text 10"/>
          <p:cNvSpPr/>
          <p:nvPr/>
        </p:nvSpPr>
        <p:spPr>
          <a:xfrm>
            <a:off x="783794" y="3079632"/>
            <a:ext cx="5054542" cy="259207"/>
          </a:xfrm>
          <a:prstGeom prst="rect">
            <a:avLst/>
          </a:prstGeom>
          <a:noFill/>
          <a:ln/>
        </p:spPr>
        <p:txBody>
          <a:bodyPr wrap="square" lIns="0" tIns="0" rIns="0" bIns="0" rtlCol="0" anchor="ctr"/>
          <a:lstStyle/>
          <a:p>
            <a:pPr>
              <a:lnSpc>
                <a:spcPct val="130000"/>
              </a:lnSpc>
            </a:pPr>
            <a:r>
              <a:rPr lang="en-US" sz="1312" b="1">
                <a:solidFill>
                  <a:srgbClr val="1D1D1F"/>
                </a:solidFill>
                <a:latin typeface="Liter" pitchFamily="34" charset="0"/>
                <a:ea typeface="Liter" pitchFamily="34" charset="-122"/>
                <a:cs typeface="Liter" pitchFamily="34" charset="-120"/>
              </a:rPr>
              <a:t>Overfits Small Segments</a:t>
            </a:r>
            <a:endParaRPr lang="en-US" sz="1600"/>
          </a:p>
        </p:txBody>
      </p:sp>
      <p:sp>
        <p:nvSpPr>
          <p:cNvPr id="13" name="Text 11"/>
          <p:cNvSpPr/>
          <p:nvPr/>
        </p:nvSpPr>
        <p:spPr>
          <a:xfrm>
            <a:off x="783794" y="3375869"/>
            <a:ext cx="5045285" cy="444355"/>
          </a:xfrm>
          <a:prstGeom prst="rect">
            <a:avLst/>
          </a:prstGeom>
          <a:noFill/>
          <a:ln/>
        </p:spPr>
        <p:txBody>
          <a:bodyPr wrap="square" lIns="0" tIns="0" rIns="0" bIns="0" rtlCol="0" anchor="ctr"/>
          <a:lstStyle/>
          <a:p>
            <a:pPr>
              <a:lnSpc>
                <a:spcPct val="130000"/>
              </a:lnSpc>
            </a:pPr>
            <a:r>
              <a:rPr lang="en-US" sz="1166">
                <a:solidFill>
                  <a:srgbClr val="86868B"/>
                </a:solidFill>
                <a:latin typeface="Liter" pitchFamily="34" charset="0"/>
                <a:ea typeface="Liter" pitchFamily="34" charset="-122"/>
                <a:cs typeface="Liter" pitchFamily="34" charset="-120"/>
              </a:rPr>
              <a:t>Trees create overly specific rules for small user segments that don't generalize well</a:t>
            </a:r>
            <a:endParaRPr lang="en-US" sz="1600"/>
          </a:p>
        </p:txBody>
      </p:sp>
      <p:sp>
        <p:nvSpPr>
          <p:cNvPr id="14" name="Shape 12"/>
          <p:cNvSpPr/>
          <p:nvPr/>
        </p:nvSpPr>
        <p:spPr>
          <a:xfrm>
            <a:off x="617160" y="3968343"/>
            <a:ext cx="37030" cy="740592"/>
          </a:xfrm>
          <a:custGeom>
            <a:avLst/>
            <a:gdLst/>
            <a:ahLst/>
            <a:cxnLst/>
            <a:rect l="l" t="t" r="r" b="b"/>
            <a:pathLst>
              <a:path w="37030" h="740592">
                <a:moveTo>
                  <a:pt x="0" y="0"/>
                </a:moveTo>
                <a:lnTo>
                  <a:pt x="37030" y="0"/>
                </a:lnTo>
                <a:lnTo>
                  <a:pt x="37030" y="740592"/>
                </a:lnTo>
                <a:lnTo>
                  <a:pt x="0" y="740592"/>
                </a:lnTo>
                <a:lnTo>
                  <a:pt x="0" y="0"/>
                </a:lnTo>
                <a:close/>
              </a:path>
            </a:pathLst>
          </a:custGeom>
          <a:solidFill>
            <a:srgbClr val="FF6467"/>
          </a:solidFill>
          <a:ln/>
        </p:spPr>
      </p:sp>
      <p:sp>
        <p:nvSpPr>
          <p:cNvPr id="15" name="Text 13"/>
          <p:cNvSpPr/>
          <p:nvPr/>
        </p:nvSpPr>
        <p:spPr>
          <a:xfrm>
            <a:off x="783794" y="3968343"/>
            <a:ext cx="5054542" cy="259207"/>
          </a:xfrm>
          <a:prstGeom prst="rect">
            <a:avLst/>
          </a:prstGeom>
          <a:noFill/>
          <a:ln/>
        </p:spPr>
        <p:txBody>
          <a:bodyPr wrap="square" lIns="0" tIns="0" rIns="0" bIns="0" rtlCol="0" anchor="ctr"/>
          <a:lstStyle/>
          <a:p>
            <a:pPr>
              <a:lnSpc>
                <a:spcPct val="130000"/>
              </a:lnSpc>
            </a:pPr>
            <a:r>
              <a:rPr lang="en-US" sz="1312" b="1">
                <a:solidFill>
                  <a:srgbClr val="1D1D1F"/>
                </a:solidFill>
                <a:latin typeface="Liter" pitchFamily="34" charset="0"/>
                <a:ea typeface="Liter" pitchFamily="34" charset="-122"/>
                <a:cs typeface="Liter" pitchFamily="34" charset="-120"/>
              </a:rPr>
              <a:t>Poor Calibration</a:t>
            </a:r>
            <a:endParaRPr lang="en-US" sz="1600"/>
          </a:p>
        </p:txBody>
      </p:sp>
      <p:sp>
        <p:nvSpPr>
          <p:cNvPr id="16" name="Text 14"/>
          <p:cNvSpPr/>
          <p:nvPr/>
        </p:nvSpPr>
        <p:spPr>
          <a:xfrm>
            <a:off x="783794" y="4264580"/>
            <a:ext cx="5045285" cy="444355"/>
          </a:xfrm>
          <a:prstGeom prst="rect">
            <a:avLst/>
          </a:prstGeom>
          <a:noFill/>
          <a:ln/>
        </p:spPr>
        <p:txBody>
          <a:bodyPr wrap="square" lIns="0" tIns="0" rIns="0" bIns="0" rtlCol="0" anchor="ctr"/>
          <a:lstStyle/>
          <a:p>
            <a:pPr>
              <a:lnSpc>
                <a:spcPct val="130000"/>
              </a:lnSpc>
            </a:pPr>
            <a:r>
              <a:rPr lang="en-US" sz="1166">
                <a:solidFill>
                  <a:srgbClr val="86868B"/>
                </a:solidFill>
                <a:latin typeface="Liter" pitchFamily="34" charset="0"/>
                <a:ea typeface="Liter" pitchFamily="34" charset="-122"/>
                <a:cs typeface="Liter" pitchFamily="34" charset="-120"/>
              </a:rPr>
              <a:t>Predicted probabilities don't align well with actual conversion rates, hurting profit calculations</a:t>
            </a:r>
            <a:endParaRPr lang="en-US" sz="1600"/>
          </a:p>
        </p:txBody>
      </p:sp>
      <p:sp>
        <p:nvSpPr>
          <p:cNvPr id="17" name="Shape 15"/>
          <p:cNvSpPr/>
          <p:nvPr/>
        </p:nvSpPr>
        <p:spPr>
          <a:xfrm>
            <a:off x="617160" y="4857054"/>
            <a:ext cx="37030" cy="518415"/>
          </a:xfrm>
          <a:custGeom>
            <a:avLst/>
            <a:gdLst/>
            <a:ahLst/>
            <a:cxnLst/>
            <a:rect l="l" t="t" r="r" b="b"/>
            <a:pathLst>
              <a:path w="37030" h="518415">
                <a:moveTo>
                  <a:pt x="0" y="0"/>
                </a:moveTo>
                <a:lnTo>
                  <a:pt x="37030" y="0"/>
                </a:lnTo>
                <a:lnTo>
                  <a:pt x="37030" y="518415"/>
                </a:lnTo>
                <a:lnTo>
                  <a:pt x="0" y="518415"/>
                </a:lnTo>
                <a:lnTo>
                  <a:pt x="0" y="0"/>
                </a:lnTo>
                <a:close/>
              </a:path>
            </a:pathLst>
          </a:custGeom>
          <a:solidFill>
            <a:srgbClr val="FF6467"/>
          </a:solidFill>
          <a:ln/>
        </p:spPr>
      </p:sp>
      <p:sp>
        <p:nvSpPr>
          <p:cNvPr id="18" name="Text 16"/>
          <p:cNvSpPr/>
          <p:nvPr/>
        </p:nvSpPr>
        <p:spPr>
          <a:xfrm>
            <a:off x="783794" y="4857054"/>
            <a:ext cx="5054542" cy="259207"/>
          </a:xfrm>
          <a:prstGeom prst="rect">
            <a:avLst/>
          </a:prstGeom>
          <a:noFill/>
          <a:ln/>
        </p:spPr>
        <p:txBody>
          <a:bodyPr wrap="square" lIns="0" tIns="0" rIns="0" bIns="0" rtlCol="0" anchor="ctr"/>
          <a:lstStyle/>
          <a:p>
            <a:pPr>
              <a:lnSpc>
                <a:spcPct val="130000"/>
              </a:lnSpc>
            </a:pPr>
            <a:r>
              <a:rPr lang="en-US" sz="1312" b="1">
                <a:solidFill>
                  <a:srgbClr val="1D1D1F"/>
                </a:solidFill>
                <a:latin typeface="Liter" pitchFamily="34" charset="0"/>
                <a:ea typeface="Liter" pitchFamily="34" charset="-122"/>
                <a:cs typeface="Liter" pitchFamily="34" charset="-120"/>
              </a:rPr>
              <a:t>Unstable Segmentation</a:t>
            </a:r>
            <a:endParaRPr lang="en-US" sz="1600"/>
          </a:p>
        </p:txBody>
      </p:sp>
      <p:sp>
        <p:nvSpPr>
          <p:cNvPr id="19" name="Text 17"/>
          <p:cNvSpPr/>
          <p:nvPr/>
        </p:nvSpPr>
        <p:spPr>
          <a:xfrm>
            <a:off x="783794" y="5153291"/>
            <a:ext cx="5045285" cy="222178"/>
          </a:xfrm>
          <a:prstGeom prst="rect">
            <a:avLst/>
          </a:prstGeom>
          <a:noFill/>
          <a:ln/>
        </p:spPr>
        <p:txBody>
          <a:bodyPr wrap="square" lIns="0" tIns="0" rIns="0" bIns="0" rtlCol="0" anchor="ctr"/>
          <a:lstStyle/>
          <a:p>
            <a:pPr>
              <a:lnSpc>
                <a:spcPct val="130000"/>
              </a:lnSpc>
            </a:pPr>
            <a:r>
              <a:rPr lang="en-US" sz="1166">
                <a:solidFill>
                  <a:srgbClr val="86868B"/>
                </a:solidFill>
                <a:latin typeface="Liter" pitchFamily="34" charset="0"/>
                <a:ea typeface="Liter" pitchFamily="34" charset="-122"/>
                <a:cs typeface="Liter" pitchFamily="34" charset="-120"/>
              </a:rPr>
              <a:t>Small data changes can completely alter tree structure, reducing reliability</a:t>
            </a:r>
            <a:endParaRPr lang="en-US" sz="1600"/>
          </a:p>
        </p:txBody>
      </p:sp>
      <p:sp>
        <p:nvSpPr>
          <p:cNvPr id="20" name="Shape 18"/>
          <p:cNvSpPr/>
          <p:nvPr/>
        </p:nvSpPr>
        <p:spPr>
          <a:xfrm>
            <a:off x="370296" y="5751939"/>
            <a:ext cx="5619244" cy="1110888"/>
          </a:xfrm>
          <a:custGeom>
            <a:avLst/>
            <a:gdLst/>
            <a:ahLst/>
            <a:cxnLst/>
            <a:rect l="l" t="t" r="r" b="b"/>
            <a:pathLst>
              <a:path w="5619244" h="1110888">
                <a:moveTo>
                  <a:pt x="148115" y="0"/>
                </a:moveTo>
                <a:lnTo>
                  <a:pt x="5471129" y="0"/>
                </a:lnTo>
                <a:cubicBezTo>
                  <a:pt x="5552931" y="0"/>
                  <a:pt x="5619244" y="66313"/>
                  <a:pt x="5619244" y="148115"/>
                </a:cubicBezTo>
                <a:lnTo>
                  <a:pt x="5619244" y="962774"/>
                </a:lnTo>
                <a:cubicBezTo>
                  <a:pt x="5619244" y="1044575"/>
                  <a:pt x="5552931" y="1110888"/>
                  <a:pt x="5471129" y="1110888"/>
                </a:cubicBezTo>
                <a:lnTo>
                  <a:pt x="148115" y="1110888"/>
                </a:lnTo>
                <a:cubicBezTo>
                  <a:pt x="66368" y="1110888"/>
                  <a:pt x="0" y="1044520"/>
                  <a:pt x="0" y="962774"/>
                </a:cubicBezTo>
                <a:lnTo>
                  <a:pt x="0" y="148115"/>
                </a:lnTo>
                <a:cubicBezTo>
                  <a:pt x="0" y="66368"/>
                  <a:pt x="66368" y="0"/>
                  <a:pt x="148115" y="0"/>
                </a:cubicBezTo>
                <a:close/>
              </a:path>
            </a:pathLst>
          </a:custGeom>
          <a:solidFill>
            <a:srgbClr val="1D1D1F"/>
          </a:solidFill>
          <a:ln/>
        </p:spPr>
      </p:sp>
      <p:sp>
        <p:nvSpPr>
          <p:cNvPr id="21" name="Shape 19"/>
          <p:cNvSpPr/>
          <p:nvPr/>
        </p:nvSpPr>
        <p:spPr>
          <a:xfrm>
            <a:off x="564702" y="6196295"/>
            <a:ext cx="222178" cy="222178"/>
          </a:xfrm>
          <a:custGeom>
            <a:avLst/>
            <a:gdLst/>
            <a:ahLst/>
            <a:cxnLst/>
            <a:rect l="l" t="t" r="r" b="b"/>
            <a:pathLst>
              <a:path w="222178" h="222178">
                <a:moveTo>
                  <a:pt x="83317" y="27772"/>
                </a:moveTo>
                <a:cubicBezTo>
                  <a:pt x="83317" y="20091"/>
                  <a:pt x="89522" y="13886"/>
                  <a:pt x="97203" y="13886"/>
                </a:cubicBezTo>
                <a:lnTo>
                  <a:pt x="124975" y="13886"/>
                </a:lnTo>
                <a:cubicBezTo>
                  <a:pt x="132656" y="13886"/>
                  <a:pt x="138861" y="20091"/>
                  <a:pt x="138861" y="27772"/>
                </a:cubicBezTo>
                <a:lnTo>
                  <a:pt x="138861" y="55544"/>
                </a:lnTo>
                <a:cubicBezTo>
                  <a:pt x="138861" y="63225"/>
                  <a:pt x="132656" y="69431"/>
                  <a:pt x="124975" y="69431"/>
                </a:cubicBezTo>
                <a:lnTo>
                  <a:pt x="121503" y="69431"/>
                </a:lnTo>
                <a:lnTo>
                  <a:pt x="121503" y="97203"/>
                </a:lnTo>
                <a:lnTo>
                  <a:pt x="173576" y="97203"/>
                </a:lnTo>
                <a:cubicBezTo>
                  <a:pt x="190847" y="97203"/>
                  <a:pt x="204820" y="111176"/>
                  <a:pt x="204820" y="128446"/>
                </a:cubicBezTo>
                <a:lnTo>
                  <a:pt x="204820" y="152747"/>
                </a:lnTo>
                <a:lnTo>
                  <a:pt x="208292" y="152747"/>
                </a:lnTo>
                <a:cubicBezTo>
                  <a:pt x="215972" y="152747"/>
                  <a:pt x="222178" y="158953"/>
                  <a:pt x="222178" y="166633"/>
                </a:cubicBezTo>
                <a:lnTo>
                  <a:pt x="222178" y="194405"/>
                </a:lnTo>
                <a:cubicBezTo>
                  <a:pt x="222178" y="202086"/>
                  <a:pt x="215972" y="208292"/>
                  <a:pt x="208292" y="208292"/>
                </a:cubicBezTo>
                <a:lnTo>
                  <a:pt x="180519" y="208292"/>
                </a:lnTo>
                <a:cubicBezTo>
                  <a:pt x="172839" y="208292"/>
                  <a:pt x="166633" y="202086"/>
                  <a:pt x="166633" y="194405"/>
                </a:cubicBezTo>
                <a:lnTo>
                  <a:pt x="166633" y="166633"/>
                </a:lnTo>
                <a:cubicBezTo>
                  <a:pt x="166633" y="158953"/>
                  <a:pt x="172839" y="152747"/>
                  <a:pt x="180519" y="152747"/>
                </a:cubicBezTo>
                <a:lnTo>
                  <a:pt x="183991" y="152747"/>
                </a:lnTo>
                <a:lnTo>
                  <a:pt x="183991" y="128446"/>
                </a:lnTo>
                <a:cubicBezTo>
                  <a:pt x="183991" y="122675"/>
                  <a:pt x="179348" y="118032"/>
                  <a:pt x="173576" y="118032"/>
                </a:cubicBezTo>
                <a:lnTo>
                  <a:pt x="121503" y="118032"/>
                </a:lnTo>
                <a:lnTo>
                  <a:pt x="121503" y="152747"/>
                </a:lnTo>
                <a:lnTo>
                  <a:pt x="124975" y="152747"/>
                </a:lnTo>
                <a:cubicBezTo>
                  <a:pt x="132656" y="152747"/>
                  <a:pt x="138861" y="158953"/>
                  <a:pt x="138861" y="166633"/>
                </a:cubicBezTo>
                <a:lnTo>
                  <a:pt x="138861" y="194405"/>
                </a:lnTo>
                <a:cubicBezTo>
                  <a:pt x="138861" y="202086"/>
                  <a:pt x="132656" y="208292"/>
                  <a:pt x="124975" y="208292"/>
                </a:cubicBezTo>
                <a:lnTo>
                  <a:pt x="97203" y="208292"/>
                </a:lnTo>
                <a:cubicBezTo>
                  <a:pt x="89522" y="208292"/>
                  <a:pt x="83317" y="202086"/>
                  <a:pt x="83317" y="194405"/>
                </a:cubicBezTo>
                <a:lnTo>
                  <a:pt x="83317" y="166633"/>
                </a:lnTo>
                <a:cubicBezTo>
                  <a:pt x="83317" y="158953"/>
                  <a:pt x="89522" y="152747"/>
                  <a:pt x="97203" y="152747"/>
                </a:cubicBezTo>
                <a:lnTo>
                  <a:pt x="100674" y="152747"/>
                </a:lnTo>
                <a:lnTo>
                  <a:pt x="100674" y="118032"/>
                </a:lnTo>
                <a:lnTo>
                  <a:pt x="48601" y="118032"/>
                </a:lnTo>
                <a:cubicBezTo>
                  <a:pt x="42830" y="118032"/>
                  <a:pt x="38187" y="122675"/>
                  <a:pt x="38187" y="128446"/>
                </a:cubicBezTo>
                <a:lnTo>
                  <a:pt x="38187" y="152747"/>
                </a:lnTo>
                <a:lnTo>
                  <a:pt x="41658" y="152747"/>
                </a:lnTo>
                <a:cubicBezTo>
                  <a:pt x="49339" y="152747"/>
                  <a:pt x="55544" y="158953"/>
                  <a:pt x="55544" y="166633"/>
                </a:cubicBezTo>
                <a:lnTo>
                  <a:pt x="55544" y="194405"/>
                </a:lnTo>
                <a:cubicBezTo>
                  <a:pt x="55544" y="202086"/>
                  <a:pt x="49339" y="208292"/>
                  <a:pt x="41658" y="208292"/>
                </a:cubicBezTo>
                <a:lnTo>
                  <a:pt x="13886" y="208292"/>
                </a:lnTo>
                <a:cubicBezTo>
                  <a:pt x="6205" y="208292"/>
                  <a:pt x="0" y="202086"/>
                  <a:pt x="0" y="194405"/>
                </a:cubicBezTo>
                <a:lnTo>
                  <a:pt x="0" y="166633"/>
                </a:lnTo>
                <a:cubicBezTo>
                  <a:pt x="0" y="158953"/>
                  <a:pt x="6205" y="152747"/>
                  <a:pt x="13886" y="152747"/>
                </a:cubicBezTo>
                <a:lnTo>
                  <a:pt x="17358" y="152747"/>
                </a:lnTo>
                <a:lnTo>
                  <a:pt x="17358" y="128446"/>
                </a:lnTo>
                <a:cubicBezTo>
                  <a:pt x="17358" y="111176"/>
                  <a:pt x="31331" y="97203"/>
                  <a:pt x="48601" y="97203"/>
                </a:cubicBezTo>
                <a:lnTo>
                  <a:pt x="100674" y="97203"/>
                </a:lnTo>
                <a:lnTo>
                  <a:pt x="100674" y="69431"/>
                </a:lnTo>
                <a:lnTo>
                  <a:pt x="97203" y="69431"/>
                </a:lnTo>
                <a:cubicBezTo>
                  <a:pt x="89522" y="69431"/>
                  <a:pt x="83317" y="63225"/>
                  <a:pt x="83317" y="55544"/>
                </a:cubicBezTo>
                <a:lnTo>
                  <a:pt x="83317" y="27772"/>
                </a:lnTo>
                <a:close/>
              </a:path>
            </a:pathLst>
          </a:custGeom>
          <a:solidFill>
            <a:srgbClr val="0071E3"/>
          </a:solidFill>
          <a:ln/>
        </p:spPr>
      </p:sp>
      <p:sp>
        <p:nvSpPr>
          <p:cNvPr id="22" name="Text 20"/>
          <p:cNvSpPr/>
          <p:nvPr/>
        </p:nvSpPr>
        <p:spPr>
          <a:xfrm>
            <a:off x="907033" y="5937087"/>
            <a:ext cx="4980483" cy="259207"/>
          </a:xfrm>
          <a:prstGeom prst="rect">
            <a:avLst/>
          </a:prstGeom>
          <a:noFill/>
          <a:ln/>
        </p:spPr>
        <p:txBody>
          <a:bodyPr wrap="square" lIns="0" tIns="0" rIns="0" bIns="0" rtlCol="0" anchor="ctr"/>
          <a:lstStyle/>
          <a:p>
            <a:pPr>
              <a:lnSpc>
                <a:spcPct val="130000"/>
              </a:lnSpc>
            </a:pPr>
            <a:r>
              <a:rPr lang="en-US" sz="1312" b="1">
                <a:solidFill>
                  <a:srgbClr val="FFFFFF"/>
                </a:solidFill>
                <a:latin typeface="Liter" pitchFamily="34" charset="0"/>
                <a:ea typeface="Liter" pitchFamily="34" charset="-122"/>
                <a:cs typeface="Liter" pitchFamily="34" charset="-120"/>
              </a:rPr>
              <a:t>Tree Top Splits</a:t>
            </a:r>
            <a:endParaRPr lang="en-US" sz="1600"/>
          </a:p>
        </p:txBody>
      </p:sp>
      <p:sp>
        <p:nvSpPr>
          <p:cNvPr id="23" name="Text 21"/>
          <p:cNvSpPr/>
          <p:nvPr/>
        </p:nvSpPr>
        <p:spPr>
          <a:xfrm>
            <a:off x="907033" y="6233324"/>
            <a:ext cx="4971226" cy="444355"/>
          </a:xfrm>
          <a:prstGeom prst="rect">
            <a:avLst/>
          </a:prstGeom>
          <a:noFill/>
          <a:ln/>
        </p:spPr>
        <p:txBody>
          <a:bodyPr wrap="square" lIns="0" tIns="0" rIns="0" bIns="0" rtlCol="0" anchor="ctr"/>
          <a:lstStyle/>
          <a:p>
            <a:pPr>
              <a:lnSpc>
                <a:spcPct val="130000"/>
              </a:lnSpc>
            </a:pPr>
            <a:r>
              <a:rPr lang="en-US" sz="1166">
                <a:solidFill>
                  <a:srgbClr val="FFFFFF">
                    <a:alpha val="80000"/>
                  </a:srgbClr>
                </a:solidFill>
                <a:latin typeface="Liter" pitchFamily="34" charset="0"/>
                <a:ea typeface="Liter" pitchFamily="34" charset="-122"/>
                <a:cs typeface="Liter" pitchFamily="34" charset="-120"/>
              </a:rPr>
              <a:t>Loved tracks → Subscriber friends → Songs listened (validates our feature importance)</a:t>
            </a:r>
            <a:endParaRPr lang="en-US" sz="1600"/>
          </a:p>
        </p:txBody>
      </p:sp>
      <p:sp>
        <p:nvSpPr>
          <p:cNvPr id="24" name="Shape 22"/>
          <p:cNvSpPr/>
          <p:nvPr/>
        </p:nvSpPr>
        <p:spPr>
          <a:xfrm>
            <a:off x="6208632" y="1259007"/>
            <a:ext cx="5619244" cy="4036228"/>
          </a:xfrm>
          <a:custGeom>
            <a:avLst/>
            <a:gdLst/>
            <a:ahLst/>
            <a:cxnLst/>
            <a:rect l="l" t="t" r="r" b="b"/>
            <a:pathLst>
              <a:path w="5619244" h="4036228">
                <a:moveTo>
                  <a:pt x="148130" y="0"/>
                </a:moveTo>
                <a:lnTo>
                  <a:pt x="5471114" y="0"/>
                </a:lnTo>
                <a:cubicBezTo>
                  <a:pt x="5552924" y="0"/>
                  <a:pt x="5619244" y="66320"/>
                  <a:pt x="5619244" y="148130"/>
                </a:cubicBezTo>
                <a:lnTo>
                  <a:pt x="5619244" y="3888098"/>
                </a:lnTo>
                <a:cubicBezTo>
                  <a:pt x="5619244" y="3969853"/>
                  <a:pt x="5552869" y="4036228"/>
                  <a:pt x="5471114" y="4036228"/>
                </a:cubicBezTo>
                <a:lnTo>
                  <a:pt x="148130" y="4036228"/>
                </a:lnTo>
                <a:cubicBezTo>
                  <a:pt x="66320" y="4036228"/>
                  <a:pt x="0" y="3969908"/>
                  <a:pt x="0" y="3888098"/>
                </a:cubicBezTo>
                <a:lnTo>
                  <a:pt x="0" y="148130"/>
                </a:lnTo>
                <a:cubicBezTo>
                  <a:pt x="0" y="66375"/>
                  <a:pt x="66375" y="0"/>
                  <a:pt x="148130" y="0"/>
                </a:cubicBezTo>
                <a:close/>
              </a:path>
            </a:pathLst>
          </a:custGeom>
          <a:gradFill flip="none" rotWithShape="1">
            <a:gsLst>
              <a:gs pos="0">
                <a:srgbClr val="0071E3"/>
              </a:gs>
              <a:gs pos="100000">
                <a:srgbClr val="0071E3">
                  <a:alpha val="80000"/>
                </a:srgbClr>
              </a:gs>
            </a:gsLst>
            <a:lin ang="2700000" scaled="1"/>
          </a:gradFill>
          <a:ln/>
        </p:spPr>
      </p:sp>
      <p:sp>
        <p:nvSpPr>
          <p:cNvPr id="25" name="Shape 23"/>
          <p:cNvSpPr/>
          <p:nvPr/>
        </p:nvSpPr>
        <p:spPr>
          <a:xfrm>
            <a:off x="6430810" y="1481185"/>
            <a:ext cx="518415" cy="518415"/>
          </a:xfrm>
          <a:custGeom>
            <a:avLst/>
            <a:gdLst/>
            <a:ahLst/>
            <a:cxnLst/>
            <a:rect l="l" t="t" r="r" b="b"/>
            <a:pathLst>
              <a:path w="518415" h="518415">
                <a:moveTo>
                  <a:pt x="111091" y="0"/>
                </a:moveTo>
                <a:lnTo>
                  <a:pt x="407324" y="0"/>
                </a:lnTo>
                <a:cubicBezTo>
                  <a:pt x="468636" y="0"/>
                  <a:pt x="518415" y="49778"/>
                  <a:pt x="518415" y="111091"/>
                </a:cubicBezTo>
                <a:lnTo>
                  <a:pt x="518415" y="407324"/>
                </a:lnTo>
                <a:cubicBezTo>
                  <a:pt x="518415" y="468677"/>
                  <a:pt x="468677" y="518415"/>
                  <a:pt x="407324" y="518415"/>
                </a:cubicBezTo>
                <a:lnTo>
                  <a:pt x="111091" y="518415"/>
                </a:lnTo>
                <a:cubicBezTo>
                  <a:pt x="49737" y="518415"/>
                  <a:pt x="0" y="468677"/>
                  <a:pt x="0" y="407324"/>
                </a:cubicBezTo>
                <a:lnTo>
                  <a:pt x="0" y="111091"/>
                </a:lnTo>
                <a:cubicBezTo>
                  <a:pt x="0" y="49778"/>
                  <a:pt x="49778" y="0"/>
                  <a:pt x="111091" y="0"/>
                </a:cubicBezTo>
                <a:close/>
              </a:path>
            </a:pathLst>
          </a:custGeom>
          <a:solidFill>
            <a:srgbClr val="FFFFFF">
              <a:alpha val="20000"/>
            </a:srgbClr>
          </a:solidFill>
          <a:ln/>
        </p:spPr>
      </p:sp>
      <p:sp>
        <p:nvSpPr>
          <p:cNvPr id="26" name="Shape 24"/>
          <p:cNvSpPr/>
          <p:nvPr/>
        </p:nvSpPr>
        <p:spPr>
          <a:xfrm>
            <a:off x="6578928" y="1629303"/>
            <a:ext cx="222178" cy="222178"/>
          </a:xfrm>
          <a:custGeom>
            <a:avLst/>
            <a:gdLst/>
            <a:ahLst/>
            <a:cxnLst/>
            <a:rect l="l" t="t" r="r" b="b"/>
            <a:pathLst>
              <a:path w="222178" h="222178">
                <a:moveTo>
                  <a:pt x="111089" y="222178"/>
                </a:moveTo>
                <a:cubicBezTo>
                  <a:pt x="172400" y="222178"/>
                  <a:pt x="222178" y="172400"/>
                  <a:pt x="222178" y="111089"/>
                </a:cubicBezTo>
                <a:cubicBezTo>
                  <a:pt x="222178" y="49777"/>
                  <a:pt x="172400" y="0"/>
                  <a:pt x="111089" y="0"/>
                </a:cubicBezTo>
                <a:cubicBezTo>
                  <a:pt x="49777" y="0"/>
                  <a:pt x="0" y="49777"/>
                  <a:pt x="0" y="111089"/>
                </a:cubicBezTo>
                <a:cubicBezTo>
                  <a:pt x="0" y="172400"/>
                  <a:pt x="49777" y="222178"/>
                  <a:pt x="111089" y="222178"/>
                </a:cubicBezTo>
                <a:close/>
                <a:moveTo>
                  <a:pt x="147713" y="92299"/>
                </a:moveTo>
                <a:lnTo>
                  <a:pt x="112998" y="147844"/>
                </a:lnTo>
                <a:cubicBezTo>
                  <a:pt x="111176" y="150751"/>
                  <a:pt x="108051" y="152574"/>
                  <a:pt x="104623" y="152747"/>
                </a:cubicBezTo>
                <a:cubicBezTo>
                  <a:pt x="101195" y="152921"/>
                  <a:pt x="97897" y="151359"/>
                  <a:pt x="95858" y="148581"/>
                </a:cubicBezTo>
                <a:lnTo>
                  <a:pt x="75028" y="120809"/>
                </a:lnTo>
                <a:cubicBezTo>
                  <a:pt x="71557" y="116209"/>
                  <a:pt x="72512" y="109700"/>
                  <a:pt x="77111" y="106229"/>
                </a:cubicBezTo>
                <a:cubicBezTo>
                  <a:pt x="81711" y="102757"/>
                  <a:pt x="88220" y="103712"/>
                  <a:pt x="91692" y="108312"/>
                </a:cubicBezTo>
                <a:lnTo>
                  <a:pt x="103408" y="123933"/>
                </a:lnTo>
                <a:lnTo>
                  <a:pt x="130052" y="81277"/>
                </a:lnTo>
                <a:cubicBezTo>
                  <a:pt x="133090" y="76417"/>
                  <a:pt x="139512" y="74898"/>
                  <a:pt x="144415" y="77979"/>
                </a:cubicBezTo>
                <a:cubicBezTo>
                  <a:pt x="149319" y="81060"/>
                  <a:pt x="150794" y="87439"/>
                  <a:pt x="147713" y="92343"/>
                </a:cubicBezTo>
                <a:close/>
              </a:path>
            </a:pathLst>
          </a:custGeom>
          <a:solidFill>
            <a:srgbClr val="FFFFFF"/>
          </a:solidFill>
          <a:ln/>
        </p:spPr>
      </p:sp>
      <p:sp>
        <p:nvSpPr>
          <p:cNvPr id="27" name="Text 25"/>
          <p:cNvSpPr/>
          <p:nvPr/>
        </p:nvSpPr>
        <p:spPr>
          <a:xfrm>
            <a:off x="7060313" y="1592273"/>
            <a:ext cx="3341923" cy="296237"/>
          </a:xfrm>
          <a:prstGeom prst="rect">
            <a:avLst/>
          </a:prstGeom>
          <a:noFill/>
          <a:ln/>
        </p:spPr>
        <p:txBody>
          <a:bodyPr wrap="square" lIns="0" tIns="0" rIns="0" bIns="0" rtlCol="0" anchor="ctr"/>
          <a:lstStyle/>
          <a:p>
            <a:pPr>
              <a:lnSpc>
                <a:spcPct val="110000"/>
              </a:lnSpc>
            </a:pPr>
            <a:r>
              <a:rPr lang="en-US" sz="1749" b="1">
                <a:solidFill>
                  <a:srgbClr val="FFFFFF"/>
                </a:solidFill>
                <a:latin typeface="Hedvig Letters Sans" pitchFamily="34" charset="0"/>
                <a:ea typeface="Hedvig Letters Sans" pitchFamily="34" charset="-122"/>
                <a:cs typeface="Hedvig Letters Sans" pitchFamily="34" charset="-120"/>
              </a:rPr>
              <a:t>Logistic Regression Advantages</a:t>
            </a:r>
            <a:endParaRPr lang="en-US" sz="1600"/>
          </a:p>
        </p:txBody>
      </p:sp>
      <p:sp>
        <p:nvSpPr>
          <p:cNvPr id="28" name="Shape 26"/>
          <p:cNvSpPr/>
          <p:nvPr/>
        </p:nvSpPr>
        <p:spPr>
          <a:xfrm>
            <a:off x="6430810" y="2184747"/>
            <a:ext cx="296237" cy="296237"/>
          </a:xfrm>
          <a:custGeom>
            <a:avLst/>
            <a:gdLst/>
            <a:ahLst/>
            <a:cxnLst/>
            <a:rect l="l" t="t" r="r" b="b"/>
            <a:pathLst>
              <a:path w="296237" h="296237">
                <a:moveTo>
                  <a:pt x="74059" y="0"/>
                </a:moveTo>
                <a:lnTo>
                  <a:pt x="222178" y="0"/>
                </a:lnTo>
                <a:cubicBezTo>
                  <a:pt x="263052" y="0"/>
                  <a:pt x="296237" y="33185"/>
                  <a:pt x="296237" y="74059"/>
                </a:cubicBezTo>
                <a:lnTo>
                  <a:pt x="296237" y="222178"/>
                </a:lnTo>
                <a:cubicBezTo>
                  <a:pt x="296237" y="263079"/>
                  <a:pt x="263079" y="296237"/>
                  <a:pt x="222178" y="296237"/>
                </a:cubicBezTo>
                <a:lnTo>
                  <a:pt x="74059" y="296237"/>
                </a:lnTo>
                <a:cubicBezTo>
                  <a:pt x="33185" y="296237"/>
                  <a:pt x="0" y="263052"/>
                  <a:pt x="0" y="222178"/>
                </a:cubicBezTo>
                <a:lnTo>
                  <a:pt x="0" y="74059"/>
                </a:lnTo>
                <a:cubicBezTo>
                  <a:pt x="0" y="33157"/>
                  <a:pt x="33157" y="0"/>
                  <a:pt x="74059" y="0"/>
                </a:cubicBezTo>
                <a:close/>
              </a:path>
            </a:pathLst>
          </a:custGeom>
          <a:solidFill>
            <a:srgbClr val="FFFFFF">
              <a:alpha val="20000"/>
            </a:srgbClr>
          </a:solidFill>
          <a:ln/>
        </p:spPr>
      </p:sp>
      <p:sp>
        <p:nvSpPr>
          <p:cNvPr id="29" name="Text 27"/>
          <p:cNvSpPr/>
          <p:nvPr/>
        </p:nvSpPr>
        <p:spPr>
          <a:xfrm>
            <a:off x="6549227" y="2221777"/>
            <a:ext cx="129604" cy="222178"/>
          </a:xfrm>
          <a:prstGeom prst="rect">
            <a:avLst/>
          </a:prstGeom>
          <a:noFill/>
          <a:ln/>
        </p:spPr>
        <p:txBody>
          <a:bodyPr wrap="square" lIns="0" tIns="0" rIns="0" bIns="0" rtlCol="0" anchor="ctr"/>
          <a:lstStyle/>
          <a:p>
            <a:pPr>
              <a:lnSpc>
                <a:spcPct val="130000"/>
              </a:lnSpc>
            </a:pPr>
            <a:r>
              <a:rPr lang="en-US" sz="1166" b="1">
                <a:solidFill>
                  <a:srgbClr val="FFFFFF"/>
                </a:solidFill>
                <a:latin typeface="Liter" pitchFamily="34" charset="0"/>
                <a:ea typeface="Liter" pitchFamily="34" charset="-122"/>
                <a:cs typeface="Liter" pitchFamily="34" charset="-120"/>
              </a:rPr>
              <a:t>1</a:t>
            </a:r>
            <a:endParaRPr lang="en-US" sz="1600"/>
          </a:p>
        </p:txBody>
      </p:sp>
      <p:sp>
        <p:nvSpPr>
          <p:cNvPr id="30" name="Text 28"/>
          <p:cNvSpPr/>
          <p:nvPr/>
        </p:nvSpPr>
        <p:spPr>
          <a:xfrm>
            <a:off x="6838135" y="2184747"/>
            <a:ext cx="4600929" cy="259207"/>
          </a:xfrm>
          <a:prstGeom prst="rect">
            <a:avLst/>
          </a:prstGeom>
          <a:noFill/>
          <a:ln/>
        </p:spPr>
        <p:txBody>
          <a:bodyPr wrap="square" lIns="0" tIns="0" rIns="0" bIns="0" rtlCol="0" anchor="ctr"/>
          <a:lstStyle/>
          <a:p>
            <a:pPr>
              <a:lnSpc>
                <a:spcPct val="130000"/>
              </a:lnSpc>
            </a:pPr>
            <a:r>
              <a:rPr lang="en-US" sz="1312" b="1">
                <a:solidFill>
                  <a:srgbClr val="FFFFFF"/>
                </a:solidFill>
                <a:latin typeface="Liter" pitchFamily="34" charset="0"/>
                <a:ea typeface="Liter" pitchFamily="34" charset="-122"/>
                <a:cs typeface="Liter" pitchFamily="34" charset="-120"/>
              </a:rPr>
              <a:t>Smooth Probability Ranking</a:t>
            </a:r>
            <a:endParaRPr lang="en-US" sz="1600"/>
          </a:p>
        </p:txBody>
      </p:sp>
      <p:sp>
        <p:nvSpPr>
          <p:cNvPr id="31" name="Text 29"/>
          <p:cNvSpPr/>
          <p:nvPr/>
        </p:nvSpPr>
        <p:spPr>
          <a:xfrm>
            <a:off x="6838135" y="2480984"/>
            <a:ext cx="4591672" cy="222178"/>
          </a:xfrm>
          <a:prstGeom prst="rect">
            <a:avLst/>
          </a:prstGeom>
          <a:noFill/>
          <a:ln/>
        </p:spPr>
        <p:txBody>
          <a:bodyPr wrap="square" lIns="0" tIns="0" rIns="0" bIns="0" rtlCol="0" anchor="ctr"/>
          <a:lstStyle/>
          <a:p>
            <a:pPr>
              <a:lnSpc>
                <a:spcPct val="130000"/>
              </a:lnSpc>
            </a:pPr>
            <a:r>
              <a:rPr lang="en-US" sz="1166">
                <a:solidFill>
                  <a:srgbClr val="FFFFFF">
                    <a:alpha val="80000"/>
                  </a:srgbClr>
                </a:solidFill>
                <a:latin typeface="Liter" pitchFamily="34" charset="0"/>
                <a:ea typeface="Liter" pitchFamily="34" charset="-122"/>
                <a:cs typeface="Liter" pitchFamily="34" charset="-120"/>
              </a:rPr>
              <a:t>Continuous probability scores enable fine-grained targeting decisions</a:t>
            </a:r>
            <a:endParaRPr lang="en-US" sz="1600"/>
          </a:p>
        </p:txBody>
      </p:sp>
      <p:sp>
        <p:nvSpPr>
          <p:cNvPr id="32" name="Shape 30"/>
          <p:cNvSpPr/>
          <p:nvPr/>
        </p:nvSpPr>
        <p:spPr>
          <a:xfrm>
            <a:off x="6430810" y="2851280"/>
            <a:ext cx="296237" cy="296237"/>
          </a:xfrm>
          <a:custGeom>
            <a:avLst/>
            <a:gdLst/>
            <a:ahLst/>
            <a:cxnLst/>
            <a:rect l="l" t="t" r="r" b="b"/>
            <a:pathLst>
              <a:path w="296237" h="296237">
                <a:moveTo>
                  <a:pt x="74059" y="0"/>
                </a:moveTo>
                <a:lnTo>
                  <a:pt x="222178" y="0"/>
                </a:lnTo>
                <a:cubicBezTo>
                  <a:pt x="263052" y="0"/>
                  <a:pt x="296237" y="33185"/>
                  <a:pt x="296237" y="74059"/>
                </a:cubicBezTo>
                <a:lnTo>
                  <a:pt x="296237" y="222178"/>
                </a:lnTo>
                <a:cubicBezTo>
                  <a:pt x="296237" y="263079"/>
                  <a:pt x="263079" y="296237"/>
                  <a:pt x="222178" y="296237"/>
                </a:cubicBezTo>
                <a:lnTo>
                  <a:pt x="74059" y="296237"/>
                </a:lnTo>
                <a:cubicBezTo>
                  <a:pt x="33185" y="296237"/>
                  <a:pt x="0" y="263052"/>
                  <a:pt x="0" y="222178"/>
                </a:cubicBezTo>
                <a:lnTo>
                  <a:pt x="0" y="74059"/>
                </a:lnTo>
                <a:cubicBezTo>
                  <a:pt x="0" y="33157"/>
                  <a:pt x="33157" y="0"/>
                  <a:pt x="74059" y="0"/>
                </a:cubicBezTo>
                <a:close/>
              </a:path>
            </a:pathLst>
          </a:custGeom>
          <a:solidFill>
            <a:srgbClr val="FFFFFF">
              <a:alpha val="20000"/>
            </a:srgbClr>
          </a:solidFill>
          <a:ln/>
        </p:spPr>
      </p:sp>
      <p:sp>
        <p:nvSpPr>
          <p:cNvPr id="33" name="Text 31"/>
          <p:cNvSpPr/>
          <p:nvPr/>
        </p:nvSpPr>
        <p:spPr>
          <a:xfrm>
            <a:off x="6535823" y="2888310"/>
            <a:ext cx="157376" cy="222178"/>
          </a:xfrm>
          <a:prstGeom prst="rect">
            <a:avLst/>
          </a:prstGeom>
          <a:noFill/>
          <a:ln/>
        </p:spPr>
        <p:txBody>
          <a:bodyPr wrap="square" lIns="0" tIns="0" rIns="0" bIns="0" rtlCol="0" anchor="ctr"/>
          <a:lstStyle/>
          <a:p>
            <a:pPr>
              <a:lnSpc>
                <a:spcPct val="130000"/>
              </a:lnSpc>
            </a:pPr>
            <a:r>
              <a:rPr lang="en-US" sz="1166" b="1">
                <a:solidFill>
                  <a:srgbClr val="FFFFFF"/>
                </a:solidFill>
                <a:latin typeface="Liter" pitchFamily="34" charset="0"/>
                <a:ea typeface="Liter" pitchFamily="34" charset="-122"/>
                <a:cs typeface="Liter" pitchFamily="34" charset="-120"/>
              </a:rPr>
              <a:t>2</a:t>
            </a:r>
            <a:endParaRPr lang="en-US" sz="1600"/>
          </a:p>
        </p:txBody>
      </p:sp>
      <p:sp>
        <p:nvSpPr>
          <p:cNvPr id="34" name="Text 32"/>
          <p:cNvSpPr/>
          <p:nvPr/>
        </p:nvSpPr>
        <p:spPr>
          <a:xfrm>
            <a:off x="6838135" y="2851280"/>
            <a:ext cx="3841822" cy="259207"/>
          </a:xfrm>
          <a:prstGeom prst="rect">
            <a:avLst/>
          </a:prstGeom>
          <a:noFill/>
          <a:ln/>
        </p:spPr>
        <p:txBody>
          <a:bodyPr wrap="square" lIns="0" tIns="0" rIns="0" bIns="0" rtlCol="0" anchor="ctr"/>
          <a:lstStyle/>
          <a:p>
            <a:pPr>
              <a:lnSpc>
                <a:spcPct val="130000"/>
              </a:lnSpc>
            </a:pPr>
            <a:r>
              <a:rPr lang="en-US" sz="1312" b="1">
                <a:solidFill>
                  <a:srgbClr val="FFFFFF"/>
                </a:solidFill>
                <a:latin typeface="Liter" pitchFamily="34" charset="0"/>
                <a:ea typeface="Liter" pitchFamily="34" charset="-122"/>
                <a:cs typeface="Liter" pitchFamily="34" charset="-120"/>
              </a:rPr>
              <a:t>Stable Across Samples</a:t>
            </a:r>
            <a:endParaRPr lang="en-US" sz="1600"/>
          </a:p>
        </p:txBody>
      </p:sp>
      <p:sp>
        <p:nvSpPr>
          <p:cNvPr id="35" name="Text 33"/>
          <p:cNvSpPr/>
          <p:nvPr/>
        </p:nvSpPr>
        <p:spPr>
          <a:xfrm>
            <a:off x="6838135" y="3147517"/>
            <a:ext cx="3832565" cy="222178"/>
          </a:xfrm>
          <a:prstGeom prst="rect">
            <a:avLst/>
          </a:prstGeom>
          <a:noFill/>
          <a:ln/>
        </p:spPr>
        <p:txBody>
          <a:bodyPr wrap="square" lIns="0" tIns="0" rIns="0" bIns="0" rtlCol="0" anchor="ctr"/>
          <a:lstStyle/>
          <a:p>
            <a:pPr>
              <a:lnSpc>
                <a:spcPct val="130000"/>
              </a:lnSpc>
            </a:pPr>
            <a:r>
              <a:rPr lang="en-US" sz="1166">
                <a:solidFill>
                  <a:srgbClr val="FFFFFF">
                    <a:alpha val="80000"/>
                  </a:srgbClr>
                </a:solidFill>
                <a:latin typeface="Liter" pitchFamily="34" charset="0"/>
                <a:ea typeface="Liter" pitchFamily="34" charset="-122"/>
                <a:cs typeface="Liter" pitchFamily="34" charset="-120"/>
              </a:rPr>
              <a:t>Coefficients remain consistent with different data subsets</a:t>
            </a:r>
            <a:endParaRPr lang="en-US" sz="1600"/>
          </a:p>
        </p:txBody>
      </p:sp>
      <p:sp>
        <p:nvSpPr>
          <p:cNvPr id="36" name="Shape 34"/>
          <p:cNvSpPr/>
          <p:nvPr/>
        </p:nvSpPr>
        <p:spPr>
          <a:xfrm>
            <a:off x="6430810" y="3517813"/>
            <a:ext cx="296237" cy="296237"/>
          </a:xfrm>
          <a:custGeom>
            <a:avLst/>
            <a:gdLst/>
            <a:ahLst/>
            <a:cxnLst/>
            <a:rect l="l" t="t" r="r" b="b"/>
            <a:pathLst>
              <a:path w="296237" h="296237">
                <a:moveTo>
                  <a:pt x="74059" y="0"/>
                </a:moveTo>
                <a:lnTo>
                  <a:pt x="222178" y="0"/>
                </a:lnTo>
                <a:cubicBezTo>
                  <a:pt x="263052" y="0"/>
                  <a:pt x="296237" y="33185"/>
                  <a:pt x="296237" y="74059"/>
                </a:cubicBezTo>
                <a:lnTo>
                  <a:pt x="296237" y="222178"/>
                </a:lnTo>
                <a:cubicBezTo>
                  <a:pt x="296237" y="263079"/>
                  <a:pt x="263079" y="296237"/>
                  <a:pt x="222178" y="296237"/>
                </a:cubicBezTo>
                <a:lnTo>
                  <a:pt x="74059" y="296237"/>
                </a:lnTo>
                <a:cubicBezTo>
                  <a:pt x="33185" y="296237"/>
                  <a:pt x="0" y="263052"/>
                  <a:pt x="0" y="222178"/>
                </a:cubicBezTo>
                <a:lnTo>
                  <a:pt x="0" y="74059"/>
                </a:lnTo>
                <a:cubicBezTo>
                  <a:pt x="0" y="33157"/>
                  <a:pt x="33157" y="0"/>
                  <a:pt x="74059" y="0"/>
                </a:cubicBezTo>
                <a:close/>
              </a:path>
            </a:pathLst>
          </a:custGeom>
          <a:solidFill>
            <a:srgbClr val="FFFFFF">
              <a:alpha val="20000"/>
            </a:srgbClr>
          </a:solidFill>
          <a:ln/>
        </p:spPr>
      </p:sp>
      <p:sp>
        <p:nvSpPr>
          <p:cNvPr id="37" name="Text 35"/>
          <p:cNvSpPr/>
          <p:nvPr/>
        </p:nvSpPr>
        <p:spPr>
          <a:xfrm>
            <a:off x="6535148" y="3554843"/>
            <a:ext cx="157376" cy="222178"/>
          </a:xfrm>
          <a:prstGeom prst="rect">
            <a:avLst/>
          </a:prstGeom>
          <a:noFill/>
          <a:ln/>
        </p:spPr>
        <p:txBody>
          <a:bodyPr wrap="square" lIns="0" tIns="0" rIns="0" bIns="0" rtlCol="0" anchor="ctr"/>
          <a:lstStyle/>
          <a:p>
            <a:pPr>
              <a:lnSpc>
                <a:spcPct val="130000"/>
              </a:lnSpc>
            </a:pPr>
            <a:r>
              <a:rPr lang="en-US" sz="1166" b="1">
                <a:solidFill>
                  <a:srgbClr val="FFFFFF"/>
                </a:solidFill>
                <a:latin typeface="Liter" pitchFamily="34" charset="0"/>
                <a:ea typeface="Liter" pitchFamily="34" charset="-122"/>
                <a:cs typeface="Liter" pitchFamily="34" charset="-120"/>
              </a:rPr>
              <a:t>3</a:t>
            </a:r>
            <a:endParaRPr lang="en-US" sz="1600"/>
          </a:p>
        </p:txBody>
      </p:sp>
      <p:sp>
        <p:nvSpPr>
          <p:cNvPr id="38" name="Text 36"/>
          <p:cNvSpPr/>
          <p:nvPr/>
        </p:nvSpPr>
        <p:spPr>
          <a:xfrm>
            <a:off x="6838135" y="3517813"/>
            <a:ext cx="4184346" cy="259207"/>
          </a:xfrm>
          <a:prstGeom prst="rect">
            <a:avLst/>
          </a:prstGeom>
          <a:noFill/>
          <a:ln/>
        </p:spPr>
        <p:txBody>
          <a:bodyPr wrap="square" lIns="0" tIns="0" rIns="0" bIns="0" rtlCol="0" anchor="ctr"/>
          <a:lstStyle/>
          <a:p>
            <a:pPr>
              <a:lnSpc>
                <a:spcPct val="130000"/>
              </a:lnSpc>
            </a:pPr>
            <a:r>
              <a:rPr lang="en-US" sz="1312" b="1">
                <a:solidFill>
                  <a:srgbClr val="FFFFFF"/>
                </a:solidFill>
                <a:latin typeface="Liter" pitchFamily="34" charset="0"/>
                <a:ea typeface="Liter" pitchFamily="34" charset="-122"/>
                <a:cs typeface="Liter" pitchFamily="34" charset="-120"/>
              </a:rPr>
              <a:t>Transparent Economics</a:t>
            </a:r>
            <a:endParaRPr lang="en-US" sz="1600"/>
          </a:p>
        </p:txBody>
      </p:sp>
      <p:sp>
        <p:nvSpPr>
          <p:cNvPr id="39" name="Text 37"/>
          <p:cNvSpPr/>
          <p:nvPr/>
        </p:nvSpPr>
        <p:spPr>
          <a:xfrm>
            <a:off x="6838135" y="3814050"/>
            <a:ext cx="4175089" cy="222178"/>
          </a:xfrm>
          <a:prstGeom prst="rect">
            <a:avLst/>
          </a:prstGeom>
          <a:noFill/>
          <a:ln/>
        </p:spPr>
        <p:txBody>
          <a:bodyPr wrap="square" lIns="0" tIns="0" rIns="0" bIns="0" rtlCol="0" anchor="ctr"/>
          <a:lstStyle/>
          <a:p>
            <a:pPr>
              <a:lnSpc>
                <a:spcPct val="130000"/>
              </a:lnSpc>
            </a:pPr>
            <a:r>
              <a:rPr lang="en-US" sz="1166">
                <a:solidFill>
                  <a:srgbClr val="FFFFFF">
                    <a:alpha val="80000"/>
                  </a:srgbClr>
                </a:solidFill>
                <a:latin typeface="Liter" pitchFamily="34" charset="0"/>
                <a:ea typeface="Liter" pitchFamily="34" charset="-122"/>
                <a:cs typeface="Liter" pitchFamily="34" charset="-120"/>
              </a:rPr>
              <a:t>Each feature's contribution to probability is clearly interpretable</a:t>
            </a:r>
            <a:endParaRPr lang="en-US" sz="1600"/>
          </a:p>
        </p:txBody>
      </p:sp>
      <p:sp>
        <p:nvSpPr>
          <p:cNvPr id="40" name="Shape 38"/>
          <p:cNvSpPr/>
          <p:nvPr/>
        </p:nvSpPr>
        <p:spPr>
          <a:xfrm>
            <a:off x="6430810" y="4184346"/>
            <a:ext cx="296237" cy="296237"/>
          </a:xfrm>
          <a:custGeom>
            <a:avLst/>
            <a:gdLst/>
            <a:ahLst/>
            <a:cxnLst/>
            <a:rect l="l" t="t" r="r" b="b"/>
            <a:pathLst>
              <a:path w="296237" h="296237">
                <a:moveTo>
                  <a:pt x="74059" y="0"/>
                </a:moveTo>
                <a:lnTo>
                  <a:pt x="222178" y="0"/>
                </a:lnTo>
                <a:cubicBezTo>
                  <a:pt x="263052" y="0"/>
                  <a:pt x="296237" y="33185"/>
                  <a:pt x="296237" y="74059"/>
                </a:cubicBezTo>
                <a:lnTo>
                  <a:pt x="296237" y="222178"/>
                </a:lnTo>
                <a:cubicBezTo>
                  <a:pt x="296237" y="263079"/>
                  <a:pt x="263079" y="296237"/>
                  <a:pt x="222178" y="296237"/>
                </a:cubicBezTo>
                <a:lnTo>
                  <a:pt x="74059" y="296237"/>
                </a:lnTo>
                <a:cubicBezTo>
                  <a:pt x="33185" y="296237"/>
                  <a:pt x="0" y="263052"/>
                  <a:pt x="0" y="222178"/>
                </a:cubicBezTo>
                <a:lnTo>
                  <a:pt x="0" y="74059"/>
                </a:lnTo>
                <a:cubicBezTo>
                  <a:pt x="0" y="33157"/>
                  <a:pt x="33157" y="0"/>
                  <a:pt x="74059" y="0"/>
                </a:cubicBezTo>
                <a:close/>
              </a:path>
            </a:pathLst>
          </a:custGeom>
          <a:solidFill>
            <a:srgbClr val="FFFFFF">
              <a:alpha val="20000"/>
            </a:srgbClr>
          </a:solidFill>
          <a:ln/>
        </p:spPr>
      </p:sp>
      <p:sp>
        <p:nvSpPr>
          <p:cNvPr id="41" name="Text 39"/>
          <p:cNvSpPr/>
          <p:nvPr/>
        </p:nvSpPr>
        <p:spPr>
          <a:xfrm>
            <a:off x="6535245" y="4221376"/>
            <a:ext cx="157376" cy="222178"/>
          </a:xfrm>
          <a:prstGeom prst="rect">
            <a:avLst/>
          </a:prstGeom>
          <a:noFill/>
          <a:ln/>
        </p:spPr>
        <p:txBody>
          <a:bodyPr wrap="square" lIns="0" tIns="0" rIns="0" bIns="0" rtlCol="0" anchor="ctr"/>
          <a:lstStyle/>
          <a:p>
            <a:pPr>
              <a:lnSpc>
                <a:spcPct val="130000"/>
              </a:lnSpc>
            </a:pPr>
            <a:r>
              <a:rPr lang="en-US" sz="1166" b="1">
                <a:solidFill>
                  <a:srgbClr val="FFFFFF"/>
                </a:solidFill>
                <a:latin typeface="Liter" pitchFamily="34" charset="0"/>
                <a:ea typeface="Liter" pitchFamily="34" charset="-122"/>
                <a:cs typeface="Liter" pitchFamily="34" charset="-120"/>
              </a:rPr>
              <a:t>4</a:t>
            </a:r>
            <a:endParaRPr lang="en-US" sz="1600"/>
          </a:p>
        </p:txBody>
      </p:sp>
      <p:sp>
        <p:nvSpPr>
          <p:cNvPr id="42" name="Text 40"/>
          <p:cNvSpPr/>
          <p:nvPr/>
        </p:nvSpPr>
        <p:spPr>
          <a:xfrm>
            <a:off x="6838135" y="4184346"/>
            <a:ext cx="4230633" cy="259207"/>
          </a:xfrm>
          <a:prstGeom prst="rect">
            <a:avLst/>
          </a:prstGeom>
          <a:noFill/>
          <a:ln/>
        </p:spPr>
        <p:txBody>
          <a:bodyPr wrap="square" lIns="0" tIns="0" rIns="0" bIns="0" rtlCol="0" anchor="ctr"/>
          <a:lstStyle/>
          <a:p>
            <a:pPr>
              <a:lnSpc>
                <a:spcPct val="130000"/>
              </a:lnSpc>
            </a:pPr>
            <a:r>
              <a:rPr lang="en-US" sz="1312" b="1">
                <a:solidFill>
                  <a:srgbClr val="FFFFFF"/>
                </a:solidFill>
                <a:latin typeface="Liter" pitchFamily="34" charset="0"/>
                <a:ea typeface="Liter" pitchFamily="34" charset="-122"/>
                <a:cs typeface="Liter" pitchFamily="34" charset="-120"/>
              </a:rPr>
              <a:t>Well-Calibrated</a:t>
            </a:r>
            <a:endParaRPr lang="en-US" sz="1600"/>
          </a:p>
        </p:txBody>
      </p:sp>
      <p:sp>
        <p:nvSpPr>
          <p:cNvPr id="43" name="Text 41"/>
          <p:cNvSpPr/>
          <p:nvPr/>
        </p:nvSpPr>
        <p:spPr>
          <a:xfrm>
            <a:off x="6838135" y="4480583"/>
            <a:ext cx="4221376" cy="222178"/>
          </a:xfrm>
          <a:prstGeom prst="rect">
            <a:avLst/>
          </a:prstGeom>
          <a:noFill/>
          <a:ln/>
        </p:spPr>
        <p:txBody>
          <a:bodyPr wrap="square" lIns="0" tIns="0" rIns="0" bIns="0" rtlCol="0" anchor="ctr"/>
          <a:lstStyle/>
          <a:p>
            <a:pPr>
              <a:lnSpc>
                <a:spcPct val="130000"/>
              </a:lnSpc>
            </a:pPr>
            <a:r>
              <a:rPr lang="en-US" sz="1166">
                <a:solidFill>
                  <a:srgbClr val="FFFFFF">
                    <a:alpha val="80000"/>
                  </a:srgbClr>
                </a:solidFill>
                <a:latin typeface="Liter" pitchFamily="34" charset="0"/>
                <a:ea typeface="Liter" pitchFamily="34" charset="-122"/>
                <a:cs typeface="Liter" pitchFamily="34" charset="-120"/>
              </a:rPr>
              <a:t>Predicted probabilities closely match observed conversion rates</a:t>
            </a:r>
            <a:endParaRPr lang="en-US" sz="1600"/>
          </a:p>
        </p:txBody>
      </p:sp>
      <p:sp>
        <p:nvSpPr>
          <p:cNvPr id="44" name="Shape 42"/>
          <p:cNvSpPr/>
          <p:nvPr/>
        </p:nvSpPr>
        <p:spPr>
          <a:xfrm>
            <a:off x="6211718" y="5446439"/>
            <a:ext cx="5606901" cy="1413297"/>
          </a:xfrm>
          <a:custGeom>
            <a:avLst/>
            <a:gdLst/>
            <a:ahLst/>
            <a:cxnLst/>
            <a:rect l="l" t="t" r="r" b="b"/>
            <a:pathLst>
              <a:path w="5606901" h="1413297">
                <a:moveTo>
                  <a:pt x="148114" y="0"/>
                </a:moveTo>
                <a:lnTo>
                  <a:pt x="5458787" y="0"/>
                </a:lnTo>
                <a:cubicBezTo>
                  <a:pt x="5540588" y="0"/>
                  <a:pt x="5606901" y="66313"/>
                  <a:pt x="5606901" y="148114"/>
                </a:cubicBezTo>
                <a:lnTo>
                  <a:pt x="5606901" y="1265183"/>
                </a:lnTo>
                <a:cubicBezTo>
                  <a:pt x="5606901" y="1346984"/>
                  <a:pt x="5540588" y="1413297"/>
                  <a:pt x="5458787" y="1413297"/>
                </a:cubicBezTo>
                <a:lnTo>
                  <a:pt x="148114" y="1413297"/>
                </a:lnTo>
                <a:cubicBezTo>
                  <a:pt x="66313" y="1413297"/>
                  <a:pt x="0" y="1346984"/>
                  <a:pt x="0" y="1265183"/>
                </a:cubicBezTo>
                <a:lnTo>
                  <a:pt x="0" y="148114"/>
                </a:lnTo>
                <a:cubicBezTo>
                  <a:pt x="0" y="66367"/>
                  <a:pt x="66367" y="0"/>
                  <a:pt x="148114" y="0"/>
                </a:cubicBezTo>
                <a:close/>
              </a:path>
            </a:pathLst>
          </a:custGeom>
          <a:solidFill>
            <a:srgbClr val="FFFFFF"/>
          </a:solidFill>
          <a:ln w="8467">
            <a:solidFill>
              <a:srgbClr val="F3F4F6"/>
            </a:solidFill>
            <a:prstDash val="solid"/>
          </a:ln>
          <a:effectLst>
            <a:outerShdw blurRad="27772" dist="9257" dir="5400000" algn="bl" rotWithShape="0">
              <a:srgbClr val="000000">
                <a:alpha val="10196"/>
              </a:srgbClr>
            </a:outerShdw>
          </a:effectLst>
        </p:spPr>
      </p:sp>
      <p:sp>
        <p:nvSpPr>
          <p:cNvPr id="45" name="Shape 43"/>
          <p:cNvSpPr/>
          <p:nvPr/>
        </p:nvSpPr>
        <p:spPr>
          <a:xfrm>
            <a:off x="6455496" y="5653191"/>
            <a:ext cx="166633" cy="222178"/>
          </a:xfrm>
          <a:custGeom>
            <a:avLst/>
            <a:gdLst/>
            <a:ahLst/>
            <a:cxnLst/>
            <a:rect l="l" t="t" r="r" b="b"/>
            <a:pathLst>
              <a:path w="166633" h="222178">
                <a:moveTo>
                  <a:pt x="127101" y="166633"/>
                </a:moveTo>
                <a:cubicBezTo>
                  <a:pt x="130269" y="156956"/>
                  <a:pt x="136605" y="148191"/>
                  <a:pt x="143765" y="140640"/>
                </a:cubicBezTo>
                <a:cubicBezTo>
                  <a:pt x="157954" y="125713"/>
                  <a:pt x="166633" y="105534"/>
                  <a:pt x="166633" y="83317"/>
                </a:cubicBezTo>
                <a:cubicBezTo>
                  <a:pt x="166633" y="37319"/>
                  <a:pt x="129314" y="0"/>
                  <a:pt x="83317" y="0"/>
                </a:cubicBezTo>
                <a:cubicBezTo>
                  <a:pt x="37319" y="0"/>
                  <a:pt x="0" y="37319"/>
                  <a:pt x="0" y="83317"/>
                </a:cubicBezTo>
                <a:cubicBezTo>
                  <a:pt x="0" y="105534"/>
                  <a:pt x="8679" y="125713"/>
                  <a:pt x="22869" y="140640"/>
                </a:cubicBezTo>
                <a:cubicBezTo>
                  <a:pt x="30029" y="148191"/>
                  <a:pt x="36408" y="156956"/>
                  <a:pt x="39532" y="166633"/>
                </a:cubicBezTo>
                <a:lnTo>
                  <a:pt x="127058" y="166633"/>
                </a:lnTo>
                <a:close/>
                <a:moveTo>
                  <a:pt x="124975" y="187462"/>
                </a:moveTo>
                <a:lnTo>
                  <a:pt x="41658" y="187462"/>
                </a:lnTo>
                <a:lnTo>
                  <a:pt x="41658" y="194405"/>
                </a:lnTo>
                <a:cubicBezTo>
                  <a:pt x="41658" y="213586"/>
                  <a:pt x="57193" y="229121"/>
                  <a:pt x="76374" y="229121"/>
                </a:cubicBezTo>
                <a:lnTo>
                  <a:pt x="90260" y="229121"/>
                </a:lnTo>
                <a:cubicBezTo>
                  <a:pt x="109440" y="229121"/>
                  <a:pt x="124975" y="213586"/>
                  <a:pt x="124975" y="194405"/>
                </a:cubicBezTo>
                <a:lnTo>
                  <a:pt x="124975" y="187462"/>
                </a:lnTo>
                <a:close/>
                <a:moveTo>
                  <a:pt x="79845" y="48601"/>
                </a:moveTo>
                <a:cubicBezTo>
                  <a:pt x="62574" y="48601"/>
                  <a:pt x="48601" y="62574"/>
                  <a:pt x="48601" y="79845"/>
                </a:cubicBezTo>
                <a:cubicBezTo>
                  <a:pt x="48601" y="85617"/>
                  <a:pt x="43958" y="90260"/>
                  <a:pt x="38187" y="90260"/>
                </a:cubicBezTo>
                <a:cubicBezTo>
                  <a:pt x="32415" y="90260"/>
                  <a:pt x="27772" y="85617"/>
                  <a:pt x="27772" y="79845"/>
                </a:cubicBezTo>
                <a:cubicBezTo>
                  <a:pt x="27772" y="51075"/>
                  <a:pt x="51075" y="27772"/>
                  <a:pt x="79845" y="27772"/>
                </a:cubicBezTo>
                <a:cubicBezTo>
                  <a:pt x="85617" y="27772"/>
                  <a:pt x="90260" y="32415"/>
                  <a:pt x="90260" y="38187"/>
                </a:cubicBezTo>
                <a:cubicBezTo>
                  <a:pt x="90260" y="43958"/>
                  <a:pt x="85617" y="48601"/>
                  <a:pt x="79845" y="48601"/>
                </a:cubicBezTo>
                <a:close/>
              </a:path>
            </a:pathLst>
          </a:custGeom>
          <a:solidFill>
            <a:srgbClr val="0071E3"/>
          </a:solidFill>
          <a:ln/>
        </p:spPr>
      </p:sp>
      <p:sp>
        <p:nvSpPr>
          <p:cNvPr id="46" name="Text 44"/>
          <p:cNvSpPr/>
          <p:nvPr/>
        </p:nvSpPr>
        <p:spPr>
          <a:xfrm>
            <a:off x="6788763" y="5634676"/>
            <a:ext cx="999800" cy="259207"/>
          </a:xfrm>
          <a:prstGeom prst="rect">
            <a:avLst/>
          </a:prstGeom>
          <a:noFill/>
          <a:ln/>
        </p:spPr>
        <p:txBody>
          <a:bodyPr wrap="square" lIns="0" tIns="0" rIns="0" bIns="0" rtlCol="0" anchor="ctr"/>
          <a:lstStyle/>
          <a:p>
            <a:pPr>
              <a:lnSpc>
                <a:spcPct val="130000"/>
              </a:lnSpc>
            </a:pPr>
            <a:r>
              <a:rPr lang="en-US" sz="1312" b="1">
                <a:solidFill>
                  <a:srgbClr val="1D1D1F"/>
                </a:solidFill>
                <a:latin typeface="Hedvig Letters Sans" pitchFamily="34" charset="0"/>
                <a:ea typeface="Hedvig Letters Sans" pitchFamily="34" charset="-122"/>
                <a:cs typeface="Hedvig Letters Sans" pitchFamily="34" charset="-120"/>
              </a:rPr>
              <a:t>Bottom Line</a:t>
            </a:r>
            <a:endParaRPr lang="en-US" sz="1600"/>
          </a:p>
        </p:txBody>
      </p:sp>
      <p:sp>
        <p:nvSpPr>
          <p:cNvPr id="47" name="Text 45"/>
          <p:cNvSpPr/>
          <p:nvPr/>
        </p:nvSpPr>
        <p:spPr>
          <a:xfrm>
            <a:off x="6399952" y="6004972"/>
            <a:ext cx="5304492" cy="666533"/>
          </a:xfrm>
          <a:prstGeom prst="rect">
            <a:avLst/>
          </a:prstGeom>
          <a:noFill/>
          <a:ln/>
        </p:spPr>
        <p:txBody>
          <a:bodyPr wrap="square" lIns="0" tIns="0" rIns="0" bIns="0" rtlCol="0" anchor="ctr"/>
          <a:lstStyle/>
          <a:p>
            <a:pPr>
              <a:lnSpc>
                <a:spcPct val="130000"/>
              </a:lnSpc>
            </a:pPr>
            <a:r>
              <a:rPr lang="en-US" sz="1166" b="1">
                <a:solidFill>
                  <a:srgbClr val="1D1D1F"/>
                </a:solidFill>
                <a:latin typeface="Liter" pitchFamily="34" charset="0"/>
                <a:ea typeface="Liter" pitchFamily="34" charset="-122"/>
                <a:cs typeface="Liter" pitchFamily="34" charset="-120"/>
              </a:rPr>
              <a:t>Trees are useful for exploration</a:t>
            </a:r>
            <a:r>
              <a:rPr lang="en-US" sz="1166">
                <a:solidFill>
                  <a:srgbClr val="86868B"/>
                </a:solidFill>
                <a:latin typeface="Liter" pitchFamily="34" charset="0"/>
                <a:ea typeface="Liter" pitchFamily="34" charset="-122"/>
                <a:cs typeface="Liter" pitchFamily="34" charset="-120"/>
              </a:rPr>
              <a:t> to identify important features and interactions, but </a:t>
            </a:r>
            <a:r>
              <a:rPr lang="en-US" sz="1166" b="1">
                <a:solidFill>
                  <a:srgbClr val="0071E3"/>
                </a:solidFill>
                <a:latin typeface="Liter" pitchFamily="34" charset="0"/>
                <a:ea typeface="Liter" pitchFamily="34" charset="-122"/>
                <a:cs typeface="Liter" pitchFamily="34" charset="-120"/>
              </a:rPr>
              <a:t>logistic regression is superior for decision-making</a:t>
            </a:r>
            <a:r>
              <a:rPr lang="en-US" sz="1166">
                <a:solidFill>
                  <a:srgbClr val="86868B"/>
                </a:solidFill>
                <a:latin typeface="Liter" pitchFamily="34" charset="0"/>
                <a:ea typeface="Liter" pitchFamily="34" charset="-122"/>
                <a:cs typeface="Liter" pitchFamily="34" charset="-120"/>
              </a:rPr>
              <a:t> where calibrated probabilities and stability matter.</a:t>
            </a:r>
            <a:endParaRPr lang="en-US" sz="1600"/>
          </a:p>
        </p:txBody>
      </p:sp>
      <p:pic>
        <p:nvPicPr>
          <p:cNvPr id="49" name="Picture 48" descr="A logo on a glass wall&#10;&#10;AI-generated content may be incorrect.">
            <a:extLst>
              <a:ext uri="{FF2B5EF4-FFF2-40B4-BE49-F238E27FC236}">
                <a16:creationId xmlns:a16="http://schemas.microsoft.com/office/drawing/2014/main" id="{88CB1F5F-3A84-44E7-7600-E49CAEECFDB4}"/>
              </a:ext>
            </a:extLst>
          </p:cNvPr>
          <p:cNvPicPr>
            <a:picLocks noChangeAspect="1"/>
          </p:cNvPicPr>
          <p:nvPr/>
        </p:nvPicPr>
        <p:blipFill>
          <a:blip r:embed="rId3"/>
          <a:stretch>
            <a:fillRect/>
          </a:stretch>
        </p:blipFill>
        <p:spPr>
          <a:xfrm>
            <a:off x="11070936" y="-1"/>
            <a:ext cx="1121065" cy="107384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62318" y="362318"/>
            <a:ext cx="11530770" cy="181159"/>
          </a:xfrm>
          <a:prstGeom prst="rect">
            <a:avLst/>
          </a:prstGeom>
          <a:noFill/>
          <a:ln/>
        </p:spPr>
        <p:txBody>
          <a:bodyPr wrap="square" lIns="0" tIns="0" rIns="0" bIns="0" rtlCol="0" anchor="ctr"/>
          <a:lstStyle/>
          <a:p>
            <a:pPr>
              <a:lnSpc>
                <a:spcPct val="120000"/>
              </a:lnSpc>
            </a:pPr>
            <a:r>
              <a:rPr lang="en-US" sz="999" b="1" kern="0" spc="50" dirty="0">
                <a:solidFill>
                  <a:srgbClr val="0071E3"/>
                </a:solidFill>
                <a:latin typeface="Liter" pitchFamily="34" charset="0"/>
                <a:ea typeface="Liter" pitchFamily="34" charset="-122"/>
                <a:cs typeface="Liter" pitchFamily="34" charset="-120"/>
              </a:rPr>
              <a:t>Model Comparison</a:t>
            </a:r>
            <a:endParaRPr lang="en-US" sz="1600" dirty="0"/>
          </a:p>
        </p:txBody>
      </p:sp>
      <p:sp>
        <p:nvSpPr>
          <p:cNvPr id="3" name="Text 1"/>
          <p:cNvSpPr/>
          <p:nvPr/>
        </p:nvSpPr>
        <p:spPr>
          <a:xfrm>
            <a:off x="362318" y="615941"/>
            <a:ext cx="11684755" cy="434782"/>
          </a:xfrm>
          <a:prstGeom prst="rect">
            <a:avLst/>
          </a:prstGeom>
          <a:noFill/>
          <a:ln/>
        </p:spPr>
        <p:txBody>
          <a:bodyPr wrap="square" lIns="0" tIns="0" rIns="0" bIns="0" rtlCol="0" anchor="ctr"/>
          <a:lstStyle/>
          <a:p>
            <a:pPr>
              <a:lnSpc>
                <a:spcPct val="80000"/>
              </a:lnSpc>
            </a:pPr>
            <a:r>
              <a:rPr lang="en-US" sz="3423" b="1" dirty="0">
                <a:solidFill>
                  <a:srgbClr val="1D1D1F"/>
                </a:solidFill>
                <a:latin typeface="Hedvig Letters Sans" pitchFamily="34" charset="0"/>
                <a:ea typeface="Hedvig Letters Sans" pitchFamily="34" charset="-122"/>
                <a:cs typeface="Hedvig Letters Sans" pitchFamily="34" charset="-120"/>
              </a:rPr>
              <a:t>Level vs Delta Logistic Regression</a:t>
            </a:r>
            <a:endParaRPr lang="en-US" sz="1600" dirty="0"/>
          </a:p>
        </p:txBody>
      </p:sp>
      <p:sp>
        <p:nvSpPr>
          <p:cNvPr id="4" name="Text 2"/>
          <p:cNvSpPr/>
          <p:nvPr/>
        </p:nvSpPr>
        <p:spPr>
          <a:xfrm>
            <a:off x="362318" y="1159418"/>
            <a:ext cx="11557944" cy="253623"/>
          </a:xfrm>
          <a:prstGeom prst="rect">
            <a:avLst/>
          </a:prstGeom>
          <a:noFill/>
          <a:ln/>
        </p:spPr>
        <p:txBody>
          <a:bodyPr wrap="square" lIns="0" tIns="0" rIns="0" bIns="0" rtlCol="0" anchor="ctr"/>
          <a:lstStyle/>
          <a:p>
            <a:pPr>
              <a:lnSpc>
                <a:spcPct val="120000"/>
              </a:lnSpc>
            </a:pPr>
            <a:r>
              <a:rPr lang="en-US" sz="1426" dirty="0">
                <a:solidFill>
                  <a:srgbClr val="86868B"/>
                </a:solidFill>
                <a:latin typeface="Liter" pitchFamily="34" charset="0"/>
                <a:ea typeface="Liter" pitchFamily="34" charset="-122"/>
                <a:cs typeface="Liter" pitchFamily="34" charset="-120"/>
              </a:rPr>
              <a:t>Is change in behavior more informative than current level?</a:t>
            </a:r>
            <a:endParaRPr lang="en-US" sz="1600" dirty="0"/>
          </a:p>
        </p:txBody>
      </p:sp>
      <p:sp>
        <p:nvSpPr>
          <p:cNvPr id="5" name="Shape 3"/>
          <p:cNvSpPr/>
          <p:nvPr/>
        </p:nvSpPr>
        <p:spPr>
          <a:xfrm>
            <a:off x="154426" y="1597217"/>
            <a:ext cx="6057073" cy="5035132"/>
          </a:xfrm>
          <a:custGeom>
            <a:avLst/>
            <a:gdLst/>
            <a:ahLst/>
            <a:cxnLst/>
            <a:rect l="l" t="t" r="r" b="b"/>
            <a:pathLst>
              <a:path w="5839358" h="5259649">
                <a:moveTo>
                  <a:pt x="144903" y="0"/>
                </a:moveTo>
                <a:lnTo>
                  <a:pt x="5694455" y="0"/>
                </a:lnTo>
                <a:cubicBezTo>
                  <a:pt x="5774483" y="0"/>
                  <a:pt x="5839358" y="64875"/>
                  <a:pt x="5839358" y="144903"/>
                </a:cubicBezTo>
                <a:lnTo>
                  <a:pt x="5839358" y="5114746"/>
                </a:lnTo>
                <a:cubicBezTo>
                  <a:pt x="5839358" y="5194774"/>
                  <a:pt x="5774483" y="5259649"/>
                  <a:pt x="5694455" y="5259649"/>
                </a:cubicBezTo>
                <a:lnTo>
                  <a:pt x="144903" y="5259649"/>
                </a:lnTo>
                <a:cubicBezTo>
                  <a:pt x="64875" y="5259649"/>
                  <a:pt x="0" y="5194774"/>
                  <a:pt x="0" y="5114746"/>
                </a:cubicBezTo>
                <a:lnTo>
                  <a:pt x="0" y="144903"/>
                </a:lnTo>
                <a:cubicBezTo>
                  <a:pt x="0" y="64929"/>
                  <a:pt x="64929" y="0"/>
                  <a:pt x="144903" y="0"/>
                </a:cubicBezTo>
                <a:close/>
              </a:path>
            </a:pathLst>
          </a:custGeom>
          <a:solidFill>
            <a:srgbClr val="FFFFFF"/>
          </a:solidFill>
          <a:ln w="8467">
            <a:solidFill>
              <a:srgbClr val="F3F4F6"/>
            </a:solidFill>
            <a:prstDash val="solid"/>
          </a:ln>
          <a:effectLst>
            <a:outerShdw blurRad="27174" dist="9058" dir="5400000" algn="bl" rotWithShape="0">
              <a:srgbClr val="000000">
                <a:alpha val="10196"/>
              </a:srgbClr>
            </a:outerShdw>
          </a:effectLst>
        </p:spPr>
      </p:sp>
      <p:sp>
        <p:nvSpPr>
          <p:cNvPr id="6" name="Text 4"/>
          <p:cNvSpPr/>
          <p:nvPr/>
        </p:nvSpPr>
        <p:spPr>
          <a:xfrm>
            <a:off x="436068" y="1817631"/>
            <a:ext cx="5489117" cy="253623"/>
          </a:xfrm>
          <a:prstGeom prst="rect">
            <a:avLst/>
          </a:prstGeom>
          <a:noFill/>
          <a:ln/>
        </p:spPr>
        <p:txBody>
          <a:bodyPr wrap="square" lIns="0" tIns="0" rIns="0" bIns="0" rtlCol="0" anchor="ctr"/>
          <a:lstStyle/>
          <a:p>
            <a:pPr algn="ctr">
              <a:lnSpc>
                <a:spcPct val="120000"/>
              </a:lnSpc>
            </a:pPr>
            <a:r>
              <a:rPr lang="en-US" b="1" dirty="0">
                <a:solidFill>
                  <a:srgbClr val="1D1D1F"/>
                </a:solidFill>
                <a:latin typeface="Hedvig Letters Sans"/>
                <a:ea typeface="Hedvig Letters Sans" pitchFamily="34" charset="-122"/>
                <a:cs typeface="Hedvig Letters Sans" pitchFamily="34" charset="-120"/>
              </a:rPr>
              <a:t>AUC Performance Comparison</a:t>
            </a:r>
            <a:endParaRPr lang="en-US">
              <a:latin typeface="Hedvig Letters Sans"/>
              <a:ea typeface="Calibri"/>
              <a:cs typeface="Calibri"/>
            </a:endParaRPr>
          </a:p>
        </p:txBody>
      </p:sp>
      <p:sp>
        <p:nvSpPr>
          <p:cNvPr id="8" name="Shape 5"/>
          <p:cNvSpPr/>
          <p:nvPr/>
        </p:nvSpPr>
        <p:spPr>
          <a:xfrm>
            <a:off x="490497" y="4728165"/>
            <a:ext cx="2626805" cy="833331"/>
          </a:xfrm>
          <a:custGeom>
            <a:avLst/>
            <a:gdLst/>
            <a:ahLst/>
            <a:cxnLst/>
            <a:rect l="l" t="t" r="r" b="b"/>
            <a:pathLst>
              <a:path w="2626805" h="833331">
                <a:moveTo>
                  <a:pt x="108691" y="0"/>
                </a:moveTo>
                <a:lnTo>
                  <a:pt x="2518114" y="0"/>
                </a:lnTo>
                <a:cubicBezTo>
                  <a:pt x="2578143" y="0"/>
                  <a:pt x="2626805" y="48663"/>
                  <a:pt x="2626805" y="108691"/>
                </a:cubicBezTo>
                <a:lnTo>
                  <a:pt x="2626805" y="724640"/>
                </a:lnTo>
                <a:cubicBezTo>
                  <a:pt x="2626805" y="784669"/>
                  <a:pt x="2578143" y="833331"/>
                  <a:pt x="2518114" y="833331"/>
                </a:cubicBezTo>
                <a:lnTo>
                  <a:pt x="108691" y="833331"/>
                </a:lnTo>
                <a:cubicBezTo>
                  <a:pt x="48663" y="833331"/>
                  <a:pt x="0" y="784669"/>
                  <a:pt x="0" y="724640"/>
                </a:cubicBezTo>
                <a:lnTo>
                  <a:pt x="0" y="108691"/>
                </a:lnTo>
                <a:cubicBezTo>
                  <a:pt x="0" y="48703"/>
                  <a:pt x="48703" y="0"/>
                  <a:pt x="108691" y="0"/>
                </a:cubicBezTo>
                <a:close/>
              </a:path>
            </a:pathLst>
          </a:custGeom>
          <a:solidFill>
            <a:srgbClr val="ED7D31"/>
          </a:solidFill>
          <a:ln/>
        </p:spPr>
      </p:sp>
      <p:sp>
        <p:nvSpPr>
          <p:cNvPr id="9" name="Text 6"/>
          <p:cNvSpPr/>
          <p:nvPr/>
        </p:nvSpPr>
        <p:spPr>
          <a:xfrm>
            <a:off x="644543" y="4859485"/>
            <a:ext cx="2400357" cy="181159"/>
          </a:xfrm>
          <a:prstGeom prst="rect">
            <a:avLst/>
          </a:prstGeom>
          <a:noFill/>
          <a:ln/>
        </p:spPr>
        <p:txBody>
          <a:bodyPr wrap="square" lIns="0" tIns="0" rIns="0" bIns="0" rtlCol="0" anchor="ctr"/>
          <a:lstStyle/>
          <a:p>
            <a:pPr algn="ctr">
              <a:lnSpc>
                <a:spcPct val="120000"/>
              </a:lnSpc>
            </a:pPr>
            <a:r>
              <a:rPr lang="en-US" sz="1400" b="1" dirty="0">
                <a:solidFill>
                  <a:schemeClr val="bg1"/>
                </a:solidFill>
                <a:latin typeface="Liter"/>
                <a:ea typeface="Liter" pitchFamily="34" charset="-122"/>
                <a:cs typeface="Liter" pitchFamily="34" charset="-120"/>
              </a:rPr>
              <a:t>Level Model AUC</a:t>
            </a:r>
            <a:endParaRPr lang="en-US" sz="1400" b="1">
              <a:solidFill>
                <a:schemeClr val="bg1"/>
              </a:solidFill>
              <a:latin typeface="Liter"/>
              <a:ea typeface="Calibri"/>
              <a:cs typeface="Calibri"/>
            </a:endParaRPr>
          </a:p>
        </p:txBody>
      </p:sp>
      <p:sp>
        <p:nvSpPr>
          <p:cNvPr id="10" name="Text 7"/>
          <p:cNvSpPr/>
          <p:nvPr/>
        </p:nvSpPr>
        <p:spPr>
          <a:xfrm>
            <a:off x="567490" y="5090483"/>
            <a:ext cx="2472820" cy="326086"/>
          </a:xfrm>
          <a:prstGeom prst="rect">
            <a:avLst/>
          </a:prstGeom>
          <a:noFill/>
          <a:ln/>
        </p:spPr>
        <p:txBody>
          <a:bodyPr wrap="square" lIns="0" tIns="0" rIns="0" bIns="0" rtlCol="0" anchor="ctr"/>
          <a:lstStyle/>
          <a:p>
            <a:pPr algn="ctr">
              <a:lnSpc>
                <a:spcPct val="100000"/>
              </a:lnSpc>
            </a:pPr>
            <a:r>
              <a:rPr lang="en-US" sz="2100" b="1" dirty="0">
                <a:solidFill>
                  <a:srgbClr val="0071E3"/>
                </a:solidFill>
                <a:latin typeface="Liter"/>
              </a:rPr>
              <a:t>0.732</a:t>
            </a:r>
            <a:endParaRPr lang="en-US" sz="1600" dirty="0"/>
          </a:p>
        </p:txBody>
      </p:sp>
      <p:sp>
        <p:nvSpPr>
          <p:cNvPr id="11" name="Shape 8"/>
          <p:cNvSpPr/>
          <p:nvPr/>
        </p:nvSpPr>
        <p:spPr>
          <a:xfrm>
            <a:off x="3263174" y="4728165"/>
            <a:ext cx="2626805" cy="833331"/>
          </a:xfrm>
          <a:custGeom>
            <a:avLst/>
            <a:gdLst/>
            <a:ahLst/>
            <a:cxnLst/>
            <a:rect l="l" t="t" r="r" b="b"/>
            <a:pathLst>
              <a:path w="2626805" h="833331">
                <a:moveTo>
                  <a:pt x="108691" y="0"/>
                </a:moveTo>
                <a:lnTo>
                  <a:pt x="2518114" y="0"/>
                </a:lnTo>
                <a:cubicBezTo>
                  <a:pt x="2578143" y="0"/>
                  <a:pt x="2626805" y="48663"/>
                  <a:pt x="2626805" y="108691"/>
                </a:cubicBezTo>
                <a:lnTo>
                  <a:pt x="2626805" y="724640"/>
                </a:lnTo>
                <a:cubicBezTo>
                  <a:pt x="2626805" y="784669"/>
                  <a:pt x="2578143" y="833331"/>
                  <a:pt x="2518114" y="833331"/>
                </a:cubicBezTo>
                <a:lnTo>
                  <a:pt x="108691" y="833331"/>
                </a:lnTo>
                <a:cubicBezTo>
                  <a:pt x="48663" y="833331"/>
                  <a:pt x="0" y="784669"/>
                  <a:pt x="0" y="724640"/>
                </a:cubicBezTo>
                <a:lnTo>
                  <a:pt x="0" y="108691"/>
                </a:lnTo>
                <a:cubicBezTo>
                  <a:pt x="0" y="48703"/>
                  <a:pt x="48703" y="0"/>
                  <a:pt x="108691" y="0"/>
                </a:cubicBezTo>
                <a:close/>
              </a:path>
            </a:pathLst>
          </a:custGeom>
          <a:solidFill>
            <a:srgbClr val="86868B">
              <a:alpha val="5098"/>
            </a:srgbClr>
          </a:solidFill>
          <a:ln/>
        </p:spPr>
      </p:sp>
      <p:sp>
        <p:nvSpPr>
          <p:cNvPr id="12" name="Text 9"/>
          <p:cNvSpPr/>
          <p:nvPr/>
        </p:nvSpPr>
        <p:spPr>
          <a:xfrm>
            <a:off x="3376398" y="4873092"/>
            <a:ext cx="2400357" cy="181159"/>
          </a:xfrm>
          <a:prstGeom prst="rect">
            <a:avLst/>
          </a:prstGeom>
          <a:noFill/>
          <a:ln/>
        </p:spPr>
        <p:txBody>
          <a:bodyPr wrap="square" lIns="0" tIns="0" rIns="0" bIns="0" rtlCol="0" anchor="ctr"/>
          <a:lstStyle/>
          <a:p>
            <a:pPr algn="ctr">
              <a:lnSpc>
                <a:spcPct val="120000"/>
              </a:lnSpc>
            </a:pPr>
            <a:r>
              <a:rPr lang="en-US" sz="1400" dirty="0">
                <a:solidFill>
                  <a:srgbClr val="86868B"/>
                </a:solidFill>
                <a:latin typeface="Liter"/>
                <a:ea typeface="Liter" pitchFamily="34" charset="-122"/>
                <a:cs typeface="Liter" pitchFamily="34" charset="-120"/>
              </a:rPr>
              <a:t>Delta Model AUC</a:t>
            </a:r>
            <a:endParaRPr lang="en-US" sz="1400">
              <a:latin typeface="Liter"/>
            </a:endParaRPr>
          </a:p>
        </p:txBody>
      </p:sp>
      <p:sp>
        <p:nvSpPr>
          <p:cNvPr id="13" name="Text 10"/>
          <p:cNvSpPr/>
          <p:nvPr/>
        </p:nvSpPr>
        <p:spPr>
          <a:xfrm>
            <a:off x="3340166" y="5090483"/>
            <a:ext cx="2472820" cy="326086"/>
          </a:xfrm>
          <a:prstGeom prst="rect">
            <a:avLst/>
          </a:prstGeom>
          <a:noFill/>
          <a:ln/>
        </p:spPr>
        <p:txBody>
          <a:bodyPr wrap="square" lIns="0" tIns="0" rIns="0" bIns="0" rtlCol="0" anchor="ctr"/>
          <a:lstStyle/>
          <a:p>
            <a:pPr algn="ctr">
              <a:lnSpc>
                <a:spcPct val="100000"/>
              </a:lnSpc>
            </a:pPr>
            <a:r>
              <a:rPr lang="en-US" sz="2100" b="1" dirty="0">
                <a:solidFill>
                  <a:srgbClr val="86868B"/>
                </a:solidFill>
                <a:latin typeface="Liter"/>
              </a:rPr>
              <a:t>0.719</a:t>
            </a:r>
            <a:endParaRPr lang="en-US" sz="1600" dirty="0"/>
          </a:p>
        </p:txBody>
      </p:sp>
      <p:sp>
        <p:nvSpPr>
          <p:cNvPr id="14" name="Shape 11"/>
          <p:cNvSpPr/>
          <p:nvPr/>
        </p:nvSpPr>
        <p:spPr>
          <a:xfrm>
            <a:off x="6430107" y="1597218"/>
            <a:ext cx="5395519" cy="4100232"/>
          </a:xfrm>
          <a:custGeom>
            <a:avLst/>
            <a:gdLst/>
            <a:ahLst/>
            <a:cxnLst/>
            <a:rect l="l" t="t" r="r" b="b"/>
            <a:pathLst>
              <a:path w="5395519" h="4100232">
                <a:moveTo>
                  <a:pt x="144943" y="0"/>
                </a:moveTo>
                <a:lnTo>
                  <a:pt x="5250575" y="0"/>
                </a:lnTo>
                <a:cubicBezTo>
                  <a:pt x="5330625" y="0"/>
                  <a:pt x="5395519" y="64893"/>
                  <a:pt x="5395519" y="144943"/>
                </a:cubicBezTo>
                <a:lnTo>
                  <a:pt x="5395519" y="3955289"/>
                </a:lnTo>
                <a:cubicBezTo>
                  <a:pt x="5395519" y="4035339"/>
                  <a:pt x="5330625" y="4100232"/>
                  <a:pt x="5250575" y="4100232"/>
                </a:cubicBezTo>
                <a:lnTo>
                  <a:pt x="144943" y="4100232"/>
                </a:lnTo>
                <a:cubicBezTo>
                  <a:pt x="64893" y="4100232"/>
                  <a:pt x="0" y="4035339"/>
                  <a:pt x="0" y="3955289"/>
                </a:cubicBezTo>
                <a:lnTo>
                  <a:pt x="0" y="144943"/>
                </a:lnTo>
                <a:cubicBezTo>
                  <a:pt x="0" y="64947"/>
                  <a:pt x="64947" y="0"/>
                  <a:pt x="144943" y="0"/>
                </a:cubicBezTo>
                <a:close/>
              </a:path>
            </a:pathLst>
          </a:custGeom>
          <a:solidFill>
            <a:srgbClr val="FFFFFF"/>
          </a:solidFill>
          <a:ln w="8467">
            <a:solidFill>
              <a:srgbClr val="F3F4F6"/>
            </a:solidFill>
            <a:prstDash val="solid"/>
          </a:ln>
          <a:effectLst>
            <a:outerShdw blurRad="27174" dist="9058" dir="5400000" algn="bl" rotWithShape="0">
              <a:srgbClr val="000000">
                <a:alpha val="10196"/>
              </a:srgbClr>
            </a:outerShdw>
          </a:effectLst>
        </p:spPr>
      </p:sp>
      <p:sp>
        <p:nvSpPr>
          <p:cNvPr id="15" name="Text 12"/>
          <p:cNvSpPr/>
          <p:nvPr/>
        </p:nvSpPr>
        <p:spPr>
          <a:xfrm>
            <a:off x="6650516" y="1817631"/>
            <a:ext cx="5045278" cy="253623"/>
          </a:xfrm>
          <a:prstGeom prst="rect">
            <a:avLst/>
          </a:prstGeom>
          <a:noFill/>
          <a:ln/>
        </p:spPr>
        <p:txBody>
          <a:bodyPr wrap="square" lIns="0" tIns="0" rIns="0" bIns="0" rtlCol="0" anchor="ctr"/>
          <a:lstStyle/>
          <a:p>
            <a:pPr>
              <a:lnSpc>
                <a:spcPct val="120000"/>
              </a:lnSpc>
            </a:pPr>
            <a:r>
              <a:rPr lang="en-US" sz="1426" b="1" dirty="0">
                <a:solidFill>
                  <a:srgbClr val="1D1D1F"/>
                </a:solidFill>
                <a:latin typeface="Hedvig Letters Sans" pitchFamily="34" charset="0"/>
                <a:ea typeface="Hedvig Letters Sans" pitchFamily="34" charset="-122"/>
                <a:cs typeface="Hedvig Letters Sans" pitchFamily="34" charset="-120"/>
              </a:rPr>
              <a:t>Key Takeaway</a:t>
            </a:r>
            <a:endParaRPr lang="en-US" sz="1600" dirty="0"/>
          </a:p>
        </p:txBody>
      </p:sp>
      <p:sp>
        <p:nvSpPr>
          <p:cNvPr id="16" name="Shape 13"/>
          <p:cNvSpPr/>
          <p:nvPr/>
        </p:nvSpPr>
        <p:spPr>
          <a:xfrm>
            <a:off x="6650516" y="2216181"/>
            <a:ext cx="434782" cy="434782"/>
          </a:xfrm>
          <a:custGeom>
            <a:avLst/>
            <a:gdLst/>
            <a:ahLst/>
            <a:cxnLst/>
            <a:rect l="l" t="t" r="r" b="b"/>
            <a:pathLst>
              <a:path w="434782" h="434782">
                <a:moveTo>
                  <a:pt x="108695" y="0"/>
                </a:moveTo>
                <a:lnTo>
                  <a:pt x="326086" y="0"/>
                </a:lnTo>
                <a:cubicBezTo>
                  <a:pt x="386117" y="0"/>
                  <a:pt x="434782" y="48665"/>
                  <a:pt x="434782" y="108695"/>
                </a:cubicBezTo>
                <a:lnTo>
                  <a:pt x="434782" y="326086"/>
                </a:lnTo>
                <a:cubicBezTo>
                  <a:pt x="434782" y="386117"/>
                  <a:pt x="386117" y="434782"/>
                  <a:pt x="326086" y="434782"/>
                </a:cubicBezTo>
                <a:lnTo>
                  <a:pt x="108695" y="434782"/>
                </a:lnTo>
                <a:cubicBezTo>
                  <a:pt x="48665" y="434782"/>
                  <a:pt x="0" y="386117"/>
                  <a:pt x="0" y="326086"/>
                </a:cubicBezTo>
                <a:lnTo>
                  <a:pt x="0" y="108695"/>
                </a:lnTo>
                <a:cubicBezTo>
                  <a:pt x="0" y="48665"/>
                  <a:pt x="48665" y="0"/>
                  <a:pt x="108695" y="0"/>
                </a:cubicBezTo>
                <a:close/>
              </a:path>
            </a:pathLst>
          </a:custGeom>
          <a:solidFill>
            <a:srgbClr val="0071E3">
              <a:alpha val="10196"/>
            </a:srgbClr>
          </a:solidFill>
          <a:ln/>
        </p:spPr>
      </p:sp>
      <p:sp>
        <p:nvSpPr>
          <p:cNvPr id="17" name="Shape 14"/>
          <p:cNvSpPr/>
          <p:nvPr/>
        </p:nvSpPr>
        <p:spPr>
          <a:xfrm>
            <a:off x="6777328" y="2342993"/>
            <a:ext cx="181159" cy="181159"/>
          </a:xfrm>
          <a:custGeom>
            <a:avLst/>
            <a:gdLst/>
            <a:ahLst/>
            <a:cxnLst/>
            <a:rect l="l" t="t" r="r" b="b"/>
            <a:pathLst>
              <a:path w="181159" h="181159">
                <a:moveTo>
                  <a:pt x="51057" y="0"/>
                </a:moveTo>
                <a:lnTo>
                  <a:pt x="130314" y="0"/>
                </a:lnTo>
                <a:cubicBezTo>
                  <a:pt x="139691" y="0"/>
                  <a:pt x="147333" y="7713"/>
                  <a:pt x="146979" y="17054"/>
                </a:cubicBezTo>
                <a:cubicBezTo>
                  <a:pt x="146909" y="18930"/>
                  <a:pt x="146838" y="20805"/>
                  <a:pt x="146732" y="22645"/>
                </a:cubicBezTo>
                <a:lnTo>
                  <a:pt x="164281" y="22645"/>
                </a:lnTo>
                <a:cubicBezTo>
                  <a:pt x="173516" y="22645"/>
                  <a:pt x="181654" y="30288"/>
                  <a:pt x="180947" y="40265"/>
                </a:cubicBezTo>
                <a:cubicBezTo>
                  <a:pt x="178293" y="76957"/>
                  <a:pt x="159540" y="97125"/>
                  <a:pt x="139195" y="107669"/>
                </a:cubicBezTo>
                <a:cubicBezTo>
                  <a:pt x="133605" y="110571"/>
                  <a:pt x="127908" y="112729"/>
                  <a:pt x="122495" y="114321"/>
                </a:cubicBezTo>
                <a:cubicBezTo>
                  <a:pt x="115347" y="124441"/>
                  <a:pt x="107917" y="129783"/>
                  <a:pt x="102008" y="132649"/>
                </a:cubicBezTo>
                <a:lnTo>
                  <a:pt x="102008" y="158514"/>
                </a:lnTo>
                <a:lnTo>
                  <a:pt x="124653" y="158514"/>
                </a:lnTo>
                <a:cubicBezTo>
                  <a:pt x="130916" y="158514"/>
                  <a:pt x="135975" y="163574"/>
                  <a:pt x="135975" y="169837"/>
                </a:cubicBezTo>
                <a:cubicBezTo>
                  <a:pt x="135975" y="176099"/>
                  <a:pt x="130916" y="181159"/>
                  <a:pt x="124653" y="181159"/>
                </a:cubicBezTo>
                <a:lnTo>
                  <a:pt x="56718" y="181159"/>
                </a:lnTo>
                <a:cubicBezTo>
                  <a:pt x="50456" y="181159"/>
                  <a:pt x="45396" y="176099"/>
                  <a:pt x="45396" y="169837"/>
                </a:cubicBezTo>
                <a:cubicBezTo>
                  <a:pt x="45396" y="163574"/>
                  <a:pt x="50456" y="158514"/>
                  <a:pt x="56718" y="158514"/>
                </a:cubicBezTo>
                <a:lnTo>
                  <a:pt x="79363" y="158514"/>
                </a:lnTo>
                <a:lnTo>
                  <a:pt x="79363" y="132649"/>
                </a:lnTo>
                <a:cubicBezTo>
                  <a:pt x="73702" y="129925"/>
                  <a:pt x="66661" y="124865"/>
                  <a:pt x="59797" y="115560"/>
                </a:cubicBezTo>
                <a:cubicBezTo>
                  <a:pt x="53286" y="113861"/>
                  <a:pt x="46210" y="111278"/>
                  <a:pt x="39310" y="107386"/>
                </a:cubicBezTo>
                <a:cubicBezTo>
                  <a:pt x="20168" y="96665"/>
                  <a:pt x="2901" y="76462"/>
                  <a:pt x="425" y="40195"/>
                </a:cubicBezTo>
                <a:cubicBezTo>
                  <a:pt x="-248" y="30252"/>
                  <a:pt x="7855" y="22609"/>
                  <a:pt x="17090" y="22609"/>
                </a:cubicBezTo>
                <a:lnTo>
                  <a:pt x="34640" y="22609"/>
                </a:lnTo>
                <a:cubicBezTo>
                  <a:pt x="34533" y="20770"/>
                  <a:pt x="34463" y="18930"/>
                  <a:pt x="34392" y="17019"/>
                </a:cubicBezTo>
                <a:cubicBezTo>
                  <a:pt x="34038" y="7643"/>
                  <a:pt x="41681" y="-35"/>
                  <a:pt x="51057" y="-35"/>
                </a:cubicBezTo>
                <a:close/>
                <a:moveTo>
                  <a:pt x="35913" y="39629"/>
                </a:moveTo>
                <a:lnTo>
                  <a:pt x="17373" y="39629"/>
                </a:lnTo>
                <a:cubicBezTo>
                  <a:pt x="19567" y="69598"/>
                  <a:pt x="33330" y="84600"/>
                  <a:pt x="47519" y="92561"/>
                </a:cubicBezTo>
                <a:cubicBezTo>
                  <a:pt x="42424" y="79363"/>
                  <a:pt x="38213" y="62132"/>
                  <a:pt x="35913" y="39629"/>
                </a:cubicBezTo>
                <a:close/>
                <a:moveTo>
                  <a:pt x="134454" y="90863"/>
                </a:moveTo>
                <a:cubicBezTo>
                  <a:pt x="148784" y="82441"/>
                  <a:pt x="161734" y="67475"/>
                  <a:pt x="163928" y="39629"/>
                </a:cubicBezTo>
                <a:lnTo>
                  <a:pt x="145423" y="39629"/>
                </a:lnTo>
                <a:cubicBezTo>
                  <a:pt x="143229" y="61177"/>
                  <a:pt x="139266" y="77913"/>
                  <a:pt x="134454" y="90863"/>
                </a:cubicBezTo>
                <a:close/>
              </a:path>
            </a:pathLst>
          </a:custGeom>
          <a:solidFill>
            <a:srgbClr val="0071E3"/>
          </a:solidFill>
          <a:ln/>
        </p:spPr>
      </p:sp>
      <p:sp>
        <p:nvSpPr>
          <p:cNvPr id="18" name="Text 15"/>
          <p:cNvSpPr/>
          <p:nvPr/>
        </p:nvSpPr>
        <p:spPr>
          <a:xfrm>
            <a:off x="7230225" y="2216181"/>
            <a:ext cx="4456511" cy="253623"/>
          </a:xfrm>
          <a:prstGeom prst="rect">
            <a:avLst/>
          </a:prstGeom>
          <a:noFill/>
          <a:ln/>
        </p:spPr>
        <p:txBody>
          <a:bodyPr wrap="square" lIns="0" tIns="0" rIns="0" bIns="0" rtlCol="0" anchor="ctr"/>
          <a:lstStyle/>
          <a:p>
            <a:pPr>
              <a:lnSpc>
                <a:spcPct val="130000"/>
              </a:lnSpc>
            </a:pPr>
            <a:r>
              <a:rPr lang="en-US" sz="1250" b="1">
                <a:solidFill>
                  <a:srgbClr val="1D1D1F"/>
                </a:solidFill>
                <a:latin typeface="Liter"/>
                <a:ea typeface="+mn-lt"/>
                <a:cs typeface="+mn-lt"/>
              </a:rPr>
              <a:t>Level Model Ranks Customers Better</a:t>
            </a:r>
            <a:endParaRPr lang="en-US"/>
          </a:p>
        </p:txBody>
      </p:sp>
      <p:sp>
        <p:nvSpPr>
          <p:cNvPr id="19" name="Text 16"/>
          <p:cNvSpPr/>
          <p:nvPr/>
        </p:nvSpPr>
        <p:spPr>
          <a:xfrm>
            <a:off x="7230225" y="2542267"/>
            <a:ext cx="4447453" cy="434782"/>
          </a:xfrm>
          <a:prstGeom prst="rect">
            <a:avLst/>
          </a:prstGeom>
          <a:noFill/>
          <a:ln/>
        </p:spPr>
        <p:txBody>
          <a:bodyPr wrap="square" lIns="0" tIns="0" rIns="0" bIns="0" rtlCol="0" anchor="ctr"/>
          <a:lstStyle/>
          <a:p>
            <a:pPr>
              <a:lnSpc>
                <a:spcPct val="120000"/>
              </a:lnSpc>
            </a:pPr>
            <a:r>
              <a:rPr lang="en-US" sz="1141" dirty="0">
                <a:solidFill>
                  <a:srgbClr val="86868B"/>
                </a:solidFill>
                <a:latin typeface="Liter" pitchFamily="34" charset="0"/>
                <a:ea typeface="Liter" pitchFamily="34" charset="-122"/>
                <a:cs typeface="Liter" pitchFamily="34" charset="-120"/>
              </a:rPr>
              <a:t>Level model achieves marginally higher AUC, indicating absolute usage levels are strong predictors</a:t>
            </a:r>
            <a:endParaRPr lang="en-US" sz="1600" dirty="0"/>
          </a:p>
        </p:txBody>
      </p:sp>
      <p:sp>
        <p:nvSpPr>
          <p:cNvPr id="20" name="Shape 17"/>
          <p:cNvSpPr/>
          <p:nvPr/>
        </p:nvSpPr>
        <p:spPr>
          <a:xfrm>
            <a:off x="6650516" y="3121976"/>
            <a:ext cx="434782" cy="434782"/>
          </a:xfrm>
          <a:custGeom>
            <a:avLst/>
            <a:gdLst/>
            <a:ahLst/>
            <a:cxnLst/>
            <a:rect l="l" t="t" r="r" b="b"/>
            <a:pathLst>
              <a:path w="434782" h="434782">
                <a:moveTo>
                  <a:pt x="108695" y="0"/>
                </a:moveTo>
                <a:lnTo>
                  <a:pt x="326086" y="0"/>
                </a:lnTo>
                <a:cubicBezTo>
                  <a:pt x="386117" y="0"/>
                  <a:pt x="434782" y="48665"/>
                  <a:pt x="434782" y="108695"/>
                </a:cubicBezTo>
                <a:lnTo>
                  <a:pt x="434782" y="326086"/>
                </a:lnTo>
                <a:cubicBezTo>
                  <a:pt x="434782" y="386117"/>
                  <a:pt x="386117" y="434782"/>
                  <a:pt x="326086" y="434782"/>
                </a:cubicBezTo>
                <a:lnTo>
                  <a:pt x="108695" y="434782"/>
                </a:lnTo>
                <a:cubicBezTo>
                  <a:pt x="48665" y="434782"/>
                  <a:pt x="0" y="386117"/>
                  <a:pt x="0" y="326086"/>
                </a:cubicBezTo>
                <a:lnTo>
                  <a:pt x="0" y="108695"/>
                </a:lnTo>
                <a:cubicBezTo>
                  <a:pt x="0" y="48665"/>
                  <a:pt x="48665" y="0"/>
                  <a:pt x="108695" y="0"/>
                </a:cubicBezTo>
                <a:close/>
              </a:path>
            </a:pathLst>
          </a:custGeom>
          <a:solidFill>
            <a:srgbClr val="86868B">
              <a:alpha val="10196"/>
            </a:srgbClr>
          </a:solidFill>
          <a:ln/>
        </p:spPr>
      </p:sp>
      <p:sp>
        <p:nvSpPr>
          <p:cNvPr id="21" name="Shape 18"/>
          <p:cNvSpPr/>
          <p:nvPr/>
        </p:nvSpPr>
        <p:spPr>
          <a:xfrm>
            <a:off x="6777328" y="3248787"/>
            <a:ext cx="181159" cy="181159"/>
          </a:xfrm>
          <a:custGeom>
            <a:avLst/>
            <a:gdLst/>
            <a:ahLst/>
            <a:cxnLst/>
            <a:rect l="l" t="t" r="r" b="b"/>
            <a:pathLst>
              <a:path w="181159" h="181159">
                <a:moveTo>
                  <a:pt x="22645" y="22645"/>
                </a:moveTo>
                <a:cubicBezTo>
                  <a:pt x="22645" y="16382"/>
                  <a:pt x="17585" y="11322"/>
                  <a:pt x="11322" y="11322"/>
                </a:cubicBezTo>
                <a:cubicBezTo>
                  <a:pt x="5060" y="11322"/>
                  <a:pt x="0" y="16382"/>
                  <a:pt x="0" y="22645"/>
                </a:cubicBezTo>
                <a:lnTo>
                  <a:pt x="0" y="141530"/>
                </a:lnTo>
                <a:cubicBezTo>
                  <a:pt x="0" y="157170"/>
                  <a:pt x="12667" y="169837"/>
                  <a:pt x="28306" y="169837"/>
                </a:cubicBezTo>
                <a:lnTo>
                  <a:pt x="169837" y="169837"/>
                </a:lnTo>
                <a:cubicBezTo>
                  <a:pt x="176099" y="169837"/>
                  <a:pt x="181159" y="164777"/>
                  <a:pt x="181159" y="158514"/>
                </a:cubicBezTo>
                <a:cubicBezTo>
                  <a:pt x="181159" y="152251"/>
                  <a:pt x="176099" y="147192"/>
                  <a:pt x="169837" y="147192"/>
                </a:cubicBezTo>
                <a:lnTo>
                  <a:pt x="28306" y="147192"/>
                </a:lnTo>
                <a:cubicBezTo>
                  <a:pt x="25192" y="147192"/>
                  <a:pt x="22645" y="144644"/>
                  <a:pt x="22645" y="141530"/>
                </a:cubicBezTo>
                <a:lnTo>
                  <a:pt x="22645" y="22645"/>
                </a:lnTo>
                <a:close/>
                <a:moveTo>
                  <a:pt x="166511" y="53286"/>
                </a:moveTo>
                <a:cubicBezTo>
                  <a:pt x="170933" y="48863"/>
                  <a:pt x="170933" y="41681"/>
                  <a:pt x="166511" y="37258"/>
                </a:cubicBezTo>
                <a:cubicBezTo>
                  <a:pt x="162088" y="32835"/>
                  <a:pt x="154905" y="32835"/>
                  <a:pt x="150482" y="37258"/>
                </a:cubicBezTo>
                <a:lnTo>
                  <a:pt x="113224" y="74551"/>
                </a:lnTo>
                <a:lnTo>
                  <a:pt x="92915" y="54277"/>
                </a:lnTo>
                <a:cubicBezTo>
                  <a:pt x="88492" y="49854"/>
                  <a:pt x="81309" y="49854"/>
                  <a:pt x="76886" y="54277"/>
                </a:cubicBezTo>
                <a:lnTo>
                  <a:pt x="42919" y="88244"/>
                </a:lnTo>
                <a:cubicBezTo>
                  <a:pt x="38496" y="92667"/>
                  <a:pt x="38496" y="99850"/>
                  <a:pt x="42919" y="104273"/>
                </a:cubicBezTo>
                <a:cubicBezTo>
                  <a:pt x="47342" y="108695"/>
                  <a:pt x="54525" y="108695"/>
                  <a:pt x="58947" y="104273"/>
                </a:cubicBezTo>
                <a:lnTo>
                  <a:pt x="84918" y="78302"/>
                </a:lnTo>
                <a:lnTo>
                  <a:pt x="105228" y="98611"/>
                </a:lnTo>
                <a:cubicBezTo>
                  <a:pt x="109651" y="103034"/>
                  <a:pt x="116833" y="103034"/>
                  <a:pt x="121256" y="98611"/>
                </a:cubicBezTo>
                <a:lnTo>
                  <a:pt x="166546" y="53322"/>
                </a:lnTo>
                <a:close/>
              </a:path>
            </a:pathLst>
          </a:custGeom>
          <a:solidFill>
            <a:srgbClr val="86868B"/>
          </a:solidFill>
          <a:ln/>
        </p:spPr>
      </p:sp>
      <p:sp>
        <p:nvSpPr>
          <p:cNvPr id="22" name="Text 19"/>
          <p:cNvSpPr/>
          <p:nvPr/>
        </p:nvSpPr>
        <p:spPr>
          <a:xfrm>
            <a:off x="7230225" y="3121976"/>
            <a:ext cx="4456511" cy="253623"/>
          </a:xfrm>
          <a:prstGeom prst="rect">
            <a:avLst/>
          </a:prstGeom>
          <a:noFill/>
          <a:ln/>
        </p:spPr>
        <p:txBody>
          <a:bodyPr wrap="square" lIns="0" tIns="0" rIns="0" bIns="0" rtlCol="0" anchor="ctr"/>
          <a:lstStyle/>
          <a:p>
            <a:pPr>
              <a:lnSpc>
                <a:spcPct val="130000"/>
              </a:lnSpc>
            </a:pPr>
            <a:r>
              <a:rPr lang="en-US" sz="1284" b="1" dirty="0">
                <a:solidFill>
                  <a:srgbClr val="1D1D1F"/>
                </a:solidFill>
                <a:latin typeface="Liter" pitchFamily="34" charset="0"/>
                <a:ea typeface="Liter" pitchFamily="34" charset="-122"/>
                <a:cs typeface="Liter" pitchFamily="34" charset="-120"/>
              </a:rPr>
              <a:t>Delta Features Remain Valuable</a:t>
            </a:r>
            <a:endParaRPr lang="en-US" sz="1600" dirty="0"/>
          </a:p>
        </p:txBody>
      </p:sp>
      <p:sp>
        <p:nvSpPr>
          <p:cNvPr id="23" name="Text 20"/>
          <p:cNvSpPr/>
          <p:nvPr/>
        </p:nvSpPr>
        <p:spPr>
          <a:xfrm>
            <a:off x="7230225" y="3448062"/>
            <a:ext cx="4447453" cy="434782"/>
          </a:xfrm>
          <a:prstGeom prst="rect">
            <a:avLst/>
          </a:prstGeom>
          <a:noFill/>
          <a:ln/>
        </p:spPr>
        <p:txBody>
          <a:bodyPr wrap="square" lIns="0" tIns="0" rIns="0" bIns="0" rtlCol="0" anchor="ctr"/>
          <a:lstStyle/>
          <a:p>
            <a:pPr>
              <a:lnSpc>
                <a:spcPct val="120000"/>
              </a:lnSpc>
            </a:pPr>
            <a:r>
              <a:rPr lang="en-US" sz="1141" dirty="0">
                <a:solidFill>
                  <a:srgbClr val="86868B"/>
                </a:solidFill>
                <a:latin typeface="Liter" pitchFamily="34" charset="0"/>
                <a:ea typeface="Liter" pitchFamily="34" charset="-122"/>
                <a:cs typeface="Liter" pitchFamily="34" charset="-120"/>
              </a:rPr>
              <a:t>Momentum indicators are highly informative and provide complementary signal to level features</a:t>
            </a:r>
            <a:endParaRPr lang="en-US" sz="1600" dirty="0"/>
          </a:p>
        </p:txBody>
      </p:sp>
      <p:sp>
        <p:nvSpPr>
          <p:cNvPr id="24" name="Shape 21"/>
          <p:cNvSpPr/>
          <p:nvPr/>
        </p:nvSpPr>
        <p:spPr>
          <a:xfrm>
            <a:off x="6650516" y="4027771"/>
            <a:ext cx="434782" cy="434782"/>
          </a:xfrm>
          <a:custGeom>
            <a:avLst/>
            <a:gdLst/>
            <a:ahLst/>
            <a:cxnLst/>
            <a:rect l="l" t="t" r="r" b="b"/>
            <a:pathLst>
              <a:path w="434782" h="434782">
                <a:moveTo>
                  <a:pt x="108695" y="0"/>
                </a:moveTo>
                <a:lnTo>
                  <a:pt x="326086" y="0"/>
                </a:lnTo>
                <a:cubicBezTo>
                  <a:pt x="386117" y="0"/>
                  <a:pt x="434782" y="48665"/>
                  <a:pt x="434782" y="108695"/>
                </a:cubicBezTo>
                <a:lnTo>
                  <a:pt x="434782" y="326086"/>
                </a:lnTo>
                <a:cubicBezTo>
                  <a:pt x="434782" y="386117"/>
                  <a:pt x="386117" y="434782"/>
                  <a:pt x="326086" y="434782"/>
                </a:cubicBezTo>
                <a:lnTo>
                  <a:pt x="108695" y="434782"/>
                </a:lnTo>
                <a:cubicBezTo>
                  <a:pt x="48665" y="434782"/>
                  <a:pt x="0" y="386117"/>
                  <a:pt x="0" y="326086"/>
                </a:cubicBezTo>
                <a:lnTo>
                  <a:pt x="0" y="108695"/>
                </a:lnTo>
                <a:cubicBezTo>
                  <a:pt x="0" y="48665"/>
                  <a:pt x="48665" y="0"/>
                  <a:pt x="108695" y="0"/>
                </a:cubicBezTo>
                <a:close/>
              </a:path>
            </a:pathLst>
          </a:custGeom>
          <a:solidFill>
            <a:srgbClr val="0071E3">
              <a:alpha val="10196"/>
            </a:srgbClr>
          </a:solidFill>
          <a:ln/>
        </p:spPr>
      </p:sp>
      <p:sp>
        <p:nvSpPr>
          <p:cNvPr id="25" name="Shape 22"/>
          <p:cNvSpPr/>
          <p:nvPr/>
        </p:nvSpPr>
        <p:spPr>
          <a:xfrm>
            <a:off x="6799973" y="4154582"/>
            <a:ext cx="135869" cy="181159"/>
          </a:xfrm>
          <a:custGeom>
            <a:avLst/>
            <a:gdLst/>
            <a:ahLst/>
            <a:cxnLst/>
            <a:rect l="l" t="t" r="r" b="b"/>
            <a:pathLst>
              <a:path w="135869" h="181159">
                <a:moveTo>
                  <a:pt x="103636" y="135869"/>
                </a:moveTo>
                <a:cubicBezTo>
                  <a:pt x="106219" y="127979"/>
                  <a:pt x="111384" y="120832"/>
                  <a:pt x="117223" y="114675"/>
                </a:cubicBezTo>
                <a:cubicBezTo>
                  <a:pt x="128793" y="102503"/>
                  <a:pt x="135869" y="86051"/>
                  <a:pt x="135869" y="67935"/>
                </a:cubicBezTo>
                <a:cubicBezTo>
                  <a:pt x="135869" y="30429"/>
                  <a:pt x="105440" y="0"/>
                  <a:pt x="67935" y="0"/>
                </a:cubicBezTo>
                <a:cubicBezTo>
                  <a:pt x="30429" y="0"/>
                  <a:pt x="0" y="30429"/>
                  <a:pt x="0" y="67935"/>
                </a:cubicBezTo>
                <a:cubicBezTo>
                  <a:pt x="0" y="86051"/>
                  <a:pt x="7077" y="102503"/>
                  <a:pt x="18647" y="114675"/>
                </a:cubicBezTo>
                <a:cubicBezTo>
                  <a:pt x="24485" y="120832"/>
                  <a:pt x="29686" y="127979"/>
                  <a:pt x="32234" y="135869"/>
                </a:cubicBezTo>
                <a:lnTo>
                  <a:pt x="103600" y="135869"/>
                </a:lnTo>
                <a:close/>
                <a:moveTo>
                  <a:pt x="101902" y="152853"/>
                </a:moveTo>
                <a:lnTo>
                  <a:pt x="33967" y="152853"/>
                </a:lnTo>
                <a:lnTo>
                  <a:pt x="33967" y="158514"/>
                </a:lnTo>
                <a:cubicBezTo>
                  <a:pt x="33967" y="174153"/>
                  <a:pt x="46634" y="186820"/>
                  <a:pt x="62273" y="186820"/>
                </a:cubicBezTo>
                <a:lnTo>
                  <a:pt x="73596" y="186820"/>
                </a:lnTo>
                <a:cubicBezTo>
                  <a:pt x="89235" y="186820"/>
                  <a:pt x="101902" y="174153"/>
                  <a:pt x="101902" y="158514"/>
                </a:cubicBezTo>
                <a:lnTo>
                  <a:pt x="101902" y="152853"/>
                </a:lnTo>
                <a:close/>
                <a:moveTo>
                  <a:pt x="65104" y="39629"/>
                </a:moveTo>
                <a:cubicBezTo>
                  <a:pt x="51022" y="39629"/>
                  <a:pt x="39629" y="51022"/>
                  <a:pt x="39629" y="65104"/>
                </a:cubicBezTo>
                <a:cubicBezTo>
                  <a:pt x="39629" y="69810"/>
                  <a:pt x="35843" y="73596"/>
                  <a:pt x="31137" y="73596"/>
                </a:cubicBezTo>
                <a:cubicBezTo>
                  <a:pt x="26431" y="73596"/>
                  <a:pt x="22645" y="69810"/>
                  <a:pt x="22645" y="65104"/>
                </a:cubicBezTo>
                <a:cubicBezTo>
                  <a:pt x="22645" y="41645"/>
                  <a:pt x="41645" y="22645"/>
                  <a:pt x="65104" y="22645"/>
                </a:cubicBezTo>
                <a:cubicBezTo>
                  <a:pt x="69810" y="22645"/>
                  <a:pt x="73596" y="26431"/>
                  <a:pt x="73596" y="31137"/>
                </a:cubicBezTo>
                <a:cubicBezTo>
                  <a:pt x="73596" y="35843"/>
                  <a:pt x="69810" y="39629"/>
                  <a:pt x="65104" y="39629"/>
                </a:cubicBezTo>
                <a:close/>
              </a:path>
            </a:pathLst>
          </a:custGeom>
          <a:solidFill>
            <a:srgbClr val="0071E3"/>
          </a:solidFill>
          <a:ln/>
        </p:spPr>
      </p:sp>
      <p:sp>
        <p:nvSpPr>
          <p:cNvPr id="26" name="Text 23"/>
          <p:cNvSpPr/>
          <p:nvPr/>
        </p:nvSpPr>
        <p:spPr>
          <a:xfrm>
            <a:off x="7230225" y="4027771"/>
            <a:ext cx="4456511" cy="253623"/>
          </a:xfrm>
          <a:prstGeom prst="rect">
            <a:avLst/>
          </a:prstGeom>
          <a:noFill/>
          <a:ln/>
        </p:spPr>
        <p:txBody>
          <a:bodyPr wrap="square" lIns="0" tIns="0" rIns="0" bIns="0" rtlCol="0" anchor="ctr"/>
          <a:lstStyle/>
          <a:p>
            <a:pPr>
              <a:lnSpc>
                <a:spcPct val="130000"/>
              </a:lnSpc>
            </a:pPr>
            <a:r>
              <a:rPr lang="en-US" sz="1284" b="1" dirty="0">
                <a:solidFill>
                  <a:srgbClr val="1D1D1F"/>
                </a:solidFill>
                <a:latin typeface="Liter" pitchFamily="34" charset="0"/>
                <a:ea typeface="Liter" pitchFamily="34" charset="-122"/>
                <a:cs typeface="Liter" pitchFamily="34" charset="-120"/>
              </a:rPr>
              <a:t>Combined Approach Optimal</a:t>
            </a:r>
            <a:endParaRPr lang="en-US" sz="1600" dirty="0"/>
          </a:p>
        </p:txBody>
      </p:sp>
      <p:sp>
        <p:nvSpPr>
          <p:cNvPr id="27" name="Text 24"/>
          <p:cNvSpPr/>
          <p:nvPr/>
        </p:nvSpPr>
        <p:spPr>
          <a:xfrm>
            <a:off x="7230225" y="4353857"/>
            <a:ext cx="4447453" cy="434782"/>
          </a:xfrm>
          <a:prstGeom prst="rect">
            <a:avLst/>
          </a:prstGeom>
          <a:noFill/>
          <a:ln/>
        </p:spPr>
        <p:txBody>
          <a:bodyPr wrap="square" lIns="0" tIns="0" rIns="0" bIns="0" rtlCol="0" anchor="ctr"/>
          <a:lstStyle/>
          <a:p>
            <a:pPr>
              <a:lnSpc>
                <a:spcPct val="120000"/>
              </a:lnSpc>
            </a:pPr>
            <a:r>
              <a:rPr lang="en-US" sz="1141" dirty="0">
                <a:solidFill>
                  <a:srgbClr val="86868B"/>
                </a:solidFill>
                <a:latin typeface="Liter" pitchFamily="34" charset="0"/>
                <a:ea typeface="Liter" pitchFamily="34" charset="-122"/>
                <a:cs typeface="Liter" pitchFamily="34" charset="-120"/>
              </a:rPr>
              <a:t>Using both level and delta features together captures both current intensity and growth trajectory</a:t>
            </a:r>
            <a:endParaRPr lang="en-US" sz="1600" dirty="0"/>
          </a:p>
        </p:txBody>
      </p:sp>
      <p:sp>
        <p:nvSpPr>
          <p:cNvPr id="28" name="Shape 25"/>
          <p:cNvSpPr/>
          <p:nvPr/>
        </p:nvSpPr>
        <p:spPr>
          <a:xfrm>
            <a:off x="6427087" y="5981469"/>
            <a:ext cx="5398538" cy="715134"/>
          </a:xfrm>
          <a:custGeom>
            <a:avLst/>
            <a:gdLst/>
            <a:ahLst/>
            <a:cxnLst/>
            <a:rect l="l" t="t" r="r" b="b"/>
            <a:pathLst>
              <a:path w="5398538" h="1014490">
                <a:moveTo>
                  <a:pt x="144930" y="0"/>
                </a:moveTo>
                <a:lnTo>
                  <a:pt x="5253608" y="0"/>
                </a:lnTo>
                <a:cubicBezTo>
                  <a:pt x="5333597" y="0"/>
                  <a:pt x="5398538" y="64941"/>
                  <a:pt x="5398538" y="144930"/>
                </a:cubicBezTo>
                <a:lnTo>
                  <a:pt x="5398538" y="869560"/>
                </a:lnTo>
                <a:cubicBezTo>
                  <a:pt x="5398538" y="949603"/>
                  <a:pt x="5333650" y="1014490"/>
                  <a:pt x="5253608" y="1014490"/>
                </a:cubicBezTo>
                <a:lnTo>
                  <a:pt x="144930" y="1014490"/>
                </a:lnTo>
                <a:cubicBezTo>
                  <a:pt x="64941" y="1014490"/>
                  <a:pt x="0" y="949549"/>
                  <a:pt x="0" y="869560"/>
                </a:cubicBezTo>
                <a:lnTo>
                  <a:pt x="0" y="144930"/>
                </a:lnTo>
                <a:cubicBezTo>
                  <a:pt x="0" y="64941"/>
                  <a:pt x="64941" y="0"/>
                  <a:pt x="144930" y="0"/>
                </a:cubicBezTo>
                <a:close/>
              </a:path>
            </a:pathLst>
          </a:custGeom>
          <a:gradFill flip="none" rotWithShape="1">
            <a:gsLst>
              <a:gs pos="0">
                <a:srgbClr val="1D1D1F"/>
              </a:gs>
              <a:gs pos="100000">
                <a:srgbClr val="86868B"/>
              </a:gs>
            </a:gsLst>
            <a:lin ang="0" scaled="1"/>
          </a:gradFill>
          <a:ln/>
        </p:spPr>
      </p:sp>
      <p:sp>
        <p:nvSpPr>
          <p:cNvPr id="29" name="Shape 26"/>
          <p:cNvSpPr/>
          <p:nvPr/>
        </p:nvSpPr>
        <p:spPr>
          <a:xfrm>
            <a:off x="6590130" y="6262064"/>
            <a:ext cx="181159" cy="181159"/>
          </a:xfrm>
          <a:custGeom>
            <a:avLst/>
            <a:gdLst/>
            <a:ahLst/>
            <a:cxnLst/>
            <a:rect l="l" t="t" r="r" b="b"/>
            <a:pathLst>
              <a:path w="181159" h="181159">
                <a:moveTo>
                  <a:pt x="90579" y="181159"/>
                </a:moveTo>
                <a:cubicBezTo>
                  <a:pt x="140572" y="181159"/>
                  <a:pt x="181159" y="140572"/>
                  <a:pt x="181159" y="90579"/>
                </a:cubicBezTo>
                <a:cubicBezTo>
                  <a:pt x="181159" y="40587"/>
                  <a:pt x="140572" y="0"/>
                  <a:pt x="90579" y="0"/>
                </a:cubicBezTo>
                <a:cubicBezTo>
                  <a:pt x="40587" y="0"/>
                  <a:pt x="0" y="40587"/>
                  <a:pt x="0" y="90579"/>
                </a:cubicBezTo>
                <a:cubicBezTo>
                  <a:pt x="0" y="140572"/>
                  <a:pt x="40587" y="181159"/>
                  <a:pt x="90579" y="181159"/>
                </a:cubicBezTo>
                <a:close/>
                <a:moveTo>
                  <a:pt x="79257" y="56612"/>
                </a:moveTo>
                <a:cubicBezTo>
                  <a:pt x="79257" y="50363"/>
                  <a:pt x="84330" y="45290"/>
                  <a:pt x="90579" y="45290"/>
                </a:cubicBezTo>
                <a:cubicBezTo>
                  <a:pt x="96829" y="45290"/>
                  <a:pt x="101902" y="50363"/>
                  <a:pt x="101902" y="56612"/>
                </a:cubicBezTo>
                <a:cubicBezTo>
                  <a:pt x="101902" y="62861"/>
                  <a:pt x="96829" y="67935"/>
                  <a:pt x="90579" y="67935"/>
                </a:cubicBezTo>
                <a:cubicBezTo>
                  <a:pt x="84330" y="67935"/>
                  <a:pt x="79257" y="62861"/>
                  <a:pt x="79257" y="56612"/>
                </a:cubicBezTo>
                <a:close/>
                <a:moveTo>
                  <a:pt x="76426" y="79257"/>
                </a:moveTo>
                <a:lnTo>
                  <a:pt x="93410" y="79257"/>
                </a:lnTo>
                <a:cubicBezTo>
                  <a:pt x="98116" y="79257"/>
                  <a:pt x="101902" y="83043"/>
                  <a:pt x="101902" y="87749"/>
                </a:cubicBezTo>
                <a:lnTo>
                  <a:pt x="101902" y="118886"/>
                </a:lnTo>
                <a:lnTo>
                  <a:pt x="104733" y="118886"/>
                </a:lnTo>
                <a:cubicBezTo>
                  <a:pt x="109438" y="118886"/>
                  <a:pt x="113224" y="122672"/>
                  <a:pt x="113224" y="127377"/>
                </a:cubicBezTo>
                <a:cubicBezTo>
                  <a:pt x="113224" y="132083"/>
                  <a:pt x="109438" y="135869"/>
                  <a:pt x="104733" y="135869"/>
                </a:cubicBezTo>
                <a:lnTo>
                  <a:pt x="76426" y="135869"/>
                </a:lnTo>
                <a:cubicBezTo>
                  <a:pt x="71721" y="135869"/>
                  <a:pt x="67935" y="132083"/>
                  <a:pt x="67935" y="127377"/>
                </a:cubicBezTo>
                <a:cubicBezTo>
                  <a:pt x="67935" y="122672"/>
                  <a:pt x="71721" y="118886"/>
                  <a:pt x="76426" y="118886"/>
                </a:cubicBezTo>
                <a:lnTo>
                  <a:pt x="84918" y="118886"/>
                </a:lnTo>
                <a:lnTo>
                  <a:pt x="84918" y="96241"/>
                </a:lnTo>
                <a:lnTo>
                  <a:pt x="76426" y="96241"/>
                </a:lnTo>
                <a:cubicBezTo>
                  <a:pt x="71721" y="96241"/>
                  <a:pt x="67935" y="92455"/>
                  <a:pt x="67935" y="87749"/>
                </a:cubicBezTo>
                <a:cubicBezTo>
                  <a:pt x="67935" y="83043"/>
                  <a:pt x="71721" y="79257"/>
                  <a:pt x="76426" y="79257"/>
                </a:cubicBezTo>
                <a:close/>
              </a:path>
            </a:pathLst>
          </a:custGeom>
          <a:solidFill>
            <a:srgbClr val="FFFFFF"/>
          </a:solidFill>
          <a:ln/>
        </p:spPr>
      </p:sp>
      <p:sp>
        <p:nvSpPr>
          <p:cNvPr id="30" name="Text 27"/>
          <p:cNvSpPr/>
          <p:nvPr/>
        </p:nvSpPr>
        <p:spPr>
          <a:xfrm>
            <a:off x="6857906" y="6026557"/>
            <a:ext cx="4864119" cy="652172"/>
          </a:xfrm>
          <a:prstGeom prst="rect">
            <a:avLst/>
          </a:prstGeom>
          <a:noFill/>
          <a:ln/>
        </p:spPr>
        <p:txBody>
          <a:bodyPr wrap="square" lIns="0" tIns="0" rIns="0" bIns="0" rtlCol="0" anchor="ctr"/>
          <a:lstStyle/>
          <a:p>
            <a:pPr>
              <a:lnSpc>
                <a:spcPct val="120000"/>
              </a:lnSpc>
            </a:pPr>
            <a:r>
              <a:rPr lang="en-US" sz="1100" b="1" dirty="0">
                <a:solidFill>
                  <a:srgbClr val="FFFFFF"/>
                </a:solidFill>
                <a:latin typeface="Liter"/>
                <a:ea typeface="Liter" pitchFamily="34" charset="-122"/>
                <a:cs typeface="Liter" pitchFamily="34" charset="-120"/>
              </a:rPr>
              <a:t>Insight:</a:t>
            </a:r>
            <a:r>
              <a:rPr lang="en-US" sz="1100">
                <a:solidFill>
                  <a:srgbClr val="FFFFFF"/>
                </a:solidFill>
                <a:latin typeface="Liter"/>
                <a:ea typeface="Liter" pitchFamily="34" charset="-122"/>
                <a:cs typeface="Liter" pitchFamily="34" charset="-120"/>
              </a:rPr>
              <a:t> The small AUC difference (0.013) suggests both perspectives </a:t>
            </a:r>
            <a:r>
              <a:rPr lang="en-US" sz="1100" dirty="0">
                <a:solidFill>
                  <a:srgbClr val="FFFFFF"/>
                </a:solidFill>
                <a:latin typeface="Liter"/>
                <a:ea typeface="Liter" pitchFamily="34" charset="-122"/>
                <a:cs typeface="Liter" pitchFamily="34" charset="-120"/>
              </a:rPr>
              <a:t>capture meaningful signal. Delta features add interpretability about user journey.</a:t>
            </a:r>
            <a:endParaRPr lang="en-US" sz="1100" dirty="0">
              <a:latin typeface="Liter"/>
            </a:endParaRPr>
          </a:p>
        </p:txBody>
      </p:sp>
      <p:graphicFrame>
        <p:nvGraphicFramePr>
          <p:cNvPr id="32" name="Table 31">
            <a:extLst>
              <a:ext uri="{FF2B5EF4-FFF2-40B4-BE49-F238E27FC236}">
                <a16:creationId xmlns:a16="http://schemas.microsoft.com/office/drawing/2014/main" id="{A64F5C56-167B-4A33-0267-9BED60B65647}"/>
              </a:ext>
            </a:extLst>
          </p:cNvPr>
          <p:cNvGraphicFramePr>
            <a:graphicFrameLocks noGrp="1"/>
          </p:cNvGraphicFramePr>
          <p:nvPr>
            <p:extLst>
              <p:ext uri="{D42A27DB-BD31-4B8C-83A1-F6EECF244321}">
                <p14:modId xmlns:p14="http://schemas.microsoft.com/office/powerpoint/2010/main" val="3791398364"/>
              </p:ext>
            </p:extLst>
          </p:nvPr>
        </p:nvGraphicFramePr>
        <p:xfrm>
          <a:off x="258535" y="2857500"/>
          <a:ext cx="5837444" cy="1333500"/>
        </p:xfrm>
        <a:graphic>
          <a:graphicData uri="http://schemas.openxmlformats.org/drawingml/2006/table">
            <a:tbl>
              <a:tblPr bandRow="1">
                <a:tableStyleId>{BDBED569-4797-4DF1-A0F4-6AAB3CD982D8}</a:tableStyleId>
              </a:tblPr>
              <a:tblGrid>
                <a:gridCol w="1499527">
                  <a:extLst>
                    <a:ext uri="{9D8B030D-6E8A-4147-A177-3AD203B41FA5}">
                      <a16:colId xmlns:a16="http://schemas.microsoft.com/office/drawing/2014/main" val="2817035448"/>
                    </a:ext>
                  </a:extLst>
                </a:gridCol>
                <a:gridCol w="1057702">
                  <a:extLst>
                    <a:ext uri="{9D8B030D-6E8A-4147-A177-3AD203B41FA5}">
                      <a16:colId xmlns:a16="http://schemas.microsoft.com/office/drawing/2014/main" val="143571754"/>
                    </a:ext>
                  </a:extLst>
                </a:gridCol>
                <a:gridCol w="1111256">
                  <a:extLst>
                    <a:ext uri="{9D8B030D-6E8A-4147-A177-3AD203B41FA5}">
                      <a16:colId xmlns:a16="http://schemas.microsoft.com/office/drawing/2014/main" val="4019062234"/>
                    </a:ext>
                  </a:extLst>
                </a:gridCol>
                <a:gridCol w="966107">
                  <a:extLst>
                    <a:ext uri="{9D8B030D-6E8A-4147-A177-3AD203B41FA5}">
                      <a16:colId xmlns:a16="http://schemas.microsoft.com/office/drawing/2014/main" val="1689920404"/>
                    </a:ext>
                  </a:extLst>
                </a:gridCol>
                <a:gridCol w="1202852">
                  <a:extLst>
                    <a:ext uri="{9D8B030D-6E8A-4147-A177-3AD203B41FA5}">
                      <a16:colId xmlns:a16="http://schemas.microsoft.com/office/drawing/2014/main" val="192283836"/>
                    </a:ext>
                  </a:extLst>
                </a:gridCol>
              </a:tblGrid>
              <a:tr h="200025">
                <a:tc>
                  <a:txBody>
                    <a:bodyPr/>
                    <a:lstStyle/>
                    <a:p>
                      <a:pPr algn="ctr" rtl="0" fontAlgn="b">
                        <a:buNone/>
                      </a:pPr>
                      <a:r>
                        <a:rPr lang="en-US" sz="1600">
                          <a:latin typeface="Hedvig Letters Sans"/>
                        </a:rPr>
                        <a:t>Model</a:t>
                      </a:r>
                    </a:p>
                  </a:txBody>
                  <a:tcPr marL="28575" marR="28575" marT="19050" marB="19050" anchor="b"/>
                </a:tc>
                <a:tc>
                  <a:txBody>
                    <a:bodyPr/>
                    <a:lstStyle/>
                    <a:p>
                      <a:pPr algn="ctr" rtl="0" fontAlgn="b">
                        <a:buNone/>
                      </a:pPr>
                      <a:r>
                        <a:rPr lang="en-US" sz="1600">
                          <a:latin typeface="Hedvig Letters Sans"/>
                        </a:rPr>
                        <a:t>Accuracy</a:t>
                      </a:r>
                    </a:p>
                  </a:txBody>
                  <a:tcPr marL="28575" marR="28575" marT="19050" marB="19050" anchor="b"/>
                </a:tc>
                <a:tc>
                  <a:txBody>
                    <a:bodyPr/>
                    <a:lstStyle/>
                    <a:p>
                      <a:pPr algn="ctr" rtl="0" fontAlgn="b">
                        <a:buNone/>
                      </a:pPr>
                      <a:r>
                        <a:rPr lang="en-US" sz="1600">
                          <a:latin typeface="Hedvig Letters Sans"/>
                        </a:rPr>
                        <a:t>Precision</a:t>
                      </a:r>
                    </a:p>
                  </a:txBody>
                  <a:tcPr marL="28575" marR="28575" marT="19050" marB="19050" anchor="b"/>
                </a:tc>
                <a:tc>
                  <a:txBody>
                    <a:bodyPr/>
                    <a:lstStyle/>
                    <a:p>
                      <a:pPr algn="ctr" rtl="0" fontAlgn="b">
                        <a:buNone/>
                      </a:pPr>
                      <a:r>
                        <a:rPr lang="en-US" sz="1600">
                          <a:latin typeface="Hedvig Letters Sans"/>
                        </a:rPr>
                        <a:t>Recall</a:t>
                      </a:r>
                    </a:p>
                  </a:txBody>
                  <a:tcPr marL="28575" marR="28575" marT="19050" marB="19050" anchor="b"/>
                </a:tc>
                <a:tc>
                  <a:txBody>
                    <a:bodyPr/>
                    <a:lstStyle/>
                    <a:p>
                      <a:pPr algn="ctr" rtl="0" fontAlgn="b">
                        <a:buNone/>
                      </a:pPr>
                      <a:r>
                        <a:rPr lang="en-US" sz="1600">
                          <a:latin typeface="Hedvig Letters Sans"/>
                        </a:rPr>
                        <a:t>Specificity</a:t>
                      </a:r>
                    </a:p>
                  </a:txBody>
                  <a:tcPr marL="28575" marR="28575" marT="19050" marB="19050" anchor="b"/>
                </a:tc>
                <a:extLst>
                  <a:ext uri="{0D108BD9-81ED-4DB2-BD59-A6C34878D82A}">
                    <a16:rowId xmlns:a16="http://schemas.microsoft.com/office/drawing/2014/main" val="3610124352"/>
                  </a:ext>
                </a:extLst>
              </a:tr>
              <a:tr h="200025">
                <a:tc>
                  <a:txBody>
                    <a:bodyPr/>
                    <a:lstStyle/>
                    <a:p>
                      <a:pPr algn="ctr" rtl="0" fontAlgn="b">
                        <a:buNone/>
                      </a:pPr>
                      <a:r>
                        <a:rPr lang="en-US" sz="1600">
                          <a:latin typeface="Hedvig Letters Sans"/>
                        </a:rPr>
                        <a:t>Level Logistic (Current)</a:t>
                      </a:r>
                    </a:p>
                  </a:txBody>
                  <a:tcPr marL="28575" marR="28575" marT="19050" marB="19050" anchor="b"/>
                </a:tc>
                <a:tc>
                  <a:txBody>
                    <a:bodyPr/>
                    <a:lstStyle/>
                    <a:p>
                      <a:pPr algn="ctr" rtl="0" fontAlgn="b">
                        <a:buNone/>
                      </a:pPr>
                      <a:r>
                        <a:rPr lang="en-US" sz="1600">
                          <a:latin typeface="Hedvig Letters Sans"/>
                        </a:rPr>
                        <a:t>0.917</a:t>
                      </a:r>
                    </a:p>
                  </a:txBody>
                  <a:tcPr marL="28575" marR="28575" marT="19050" marB="19050" anchor="b"/>
                </a:tc>
                <a:tc>
                  <a:txBody>
                    <a:bodyPr/>
                    <a:lstStyle/>
                    <a:p>
                      <a:pPr algn="ctr" rtl="0" fontAlgn="b">
                        <a:buNone/>
                      </a:pPr>
                      <a:r>
                        <a:rPr lang="en-US" sz="1600">
                          <a:latin typeface="Hedvig Letters Sans"/>
                        </a:rPr>
                        <a:t>0.291</a:t>
                      </a:r>
                    </a:p>
                  </a:txBody>
                  <a:tcPr marL="28575" marR="28575" marT="19050" marB="19050" anchor="b"/>
                </a:tc>
                <a:tc>
                  <a:txBody>
                    <a:bodyPr/>
                    <a:lstStyle/>
                    <a:p>
                      <a:pPr algn="ctr" rtl="0" fontAlgn="b">
                        <a:buNone/>
                      </a:pPr>
                      <a:r>
                        <a:rPr lang="en-US" sz="1600">
                          <a:latin typeface="Hedvig Letters Sans"/>
                        </a:rPr>
                        <a:t>0.159</a:t>
                      </a:r>
                    </a:p>
                  </a:txBody>
                  <a:tcPr marL="28575" marR="28575" marT="19050" marB="19050" anchor="b">
                    <a:solidFill>
                      <a:srgbClr val="ED7D31"/>
                    </a:solidFill>
                  </a:tcPr>
                </a:tc>
                <a:tc>
                  <a:txBody>
                    <a:bodyPr/>
                    <a:lstStyle/>
                    <a:p>
                      <a:pPr algn="ctr" rtl="0" fontAlgn="b">
                        <a:buNone/>
                      </a:pPr>
                      <a:r>
                        <a:rPr lang="en-US" sz="1600">
                          <a:latin typeface="Hedvig Letters Sans"/>
                        </a:rPr>
                        <a:t>0.972</a:t>
                      </a:r>
                    </a:p>
                  </a:txBody>
                  <a:tcPr marL="28575" marR="28575" marT="19050" marB="19050" anchor="b"/>
                </a:tc>
                <a:extLst>
                  <a:ext uri="{0D108BD9-81ED-4DB2-BD59-A6C34878D82A}">
                    <a16:rowId xmlns:a16="http://schemas.microsoft.com/office/drawing/2014/main" val="811575973"/>
                  </a:ext>
                </a:extLst>
              </a:tr>
              <a:tr h="200025">
                <a:tc>
                  <a:txBody>
                    <a:bodyPr/>
                    <a:lstStyle/>
                    <a:p>
                      <a:pPr algn="ctr" rtl="0" fontAlgn="b">
                        <a:buNone/>
                      </a:pPr>
                      <a:r>
                        <a:rPr lang="en-US" sz="1600">
                          <a:latin typeface="Hedvig Letters Sans"/>
                        </a:rPr>
                        <a:t>Delta Logistic (Change)</a:t>
                      </a:r>
                    </a:p>
                  </a:txBody>
                  <a:tcPr marL="28575" marR="28575" marT="19050" marB="19050" anchor="b"/>
                </a:tc>
                <a:tc>
                  <a:txBody>
                    <a:bodyPr/>
                    <a:lstStyle/>
                    <a:p>
                      <a:pPr algn="ctr" rtl="0" fontAlgn="b">
                        <a:buNone/>
                      </a:pPr>
                      <a:r>
                        <a:rPr lang="en-US" sz="1600">
                          <a:latin typeface="Hedvig Letters Sans"/>
                        </a:rPr>
                        <a:t>0.927</a:t>
                      </a:r>
                    </a:p>
                  </a:txBody>
                  <a:tcPr marL="28575" marR="28575" marT="19050" marB="19050" anchor="b">
                    <a:solidFill>
                      <a:srgbClr val="ED7D31"/>
                    </a:solidFill>
                  </a:tcPr>
                </a:tc>
                <a:tc>
                  <a:txBody>
                    <a:bodyPr/>
                    <a:lstStyle/>
                    <a:p>
                      <a:pPr algn="ctr" rtl="0" fontAlgn="b">
                        <a:buNone/>
                      </a:pPr>
                      <a:r>
                        <a:rPr lang="en-US" sz="1600">
                          <a:latin typeface="Hedvig Letters Sans"/>
                        </a:rPr>
                        <a:t>0.294</a:t>
                      </a:r>
                    </a:p>
                  </a:txBody>
                  <a:tcPr marL="28575" marR="28575" marT="19050" marB="19050" anchor="b">
                    <a:solidFill>
                      <a:srgbClr val="ED7D31"/>
                    </a:solidFill>
                  </a:tcPr>
                </a:tc>
                <a:tc>
                  <a:txBody>
                    <a:bodyPr/>
                    <a:lstStyle/>
                    <a:p>
                      <a:pPr algn="ctr" rtl="0" fontAlgn="b">
                        <a:buNone/>
                      </a:pPr>
                      <a:r>
                        <a:rPr lang="en-US" sz="1600">
                          <a:latin typeface="Hedvig Letters Sans"/>
                        </a:rPr>
                        <a:t>0.059</a:t>
                      </a:r>
                    </a:p>
                  </a:txBody>
                  <a:tcPr marL="28575" marR="28575" marT="19050" marB="19050" anchor="b"/>
                </a:tc>
                <a:tc>
                  <a:txBody>
                    <a:bodyPr/>
                    <a:lstStyle/>
                    <a:p>
                      <a:pPr algn="ctr" rtl="0" fontAlgn="b">
                        <a:buNone/>
                      </a:pPr>
                      <a:r>
                        <a:rPr lang="en-US" sz="1600">
                          <a:latin typeface="Hedvig Letters Sans"/>
                        </a:rPr>
                        <a:t>0.99</a:t>
                      </a:r>
                    </a:p>
                  </a:txBody>
                  <a:tcPr marL="28575" marR="28575" marT="19050" marB="19050" anchor="b">
                    <a:solidFill>
                      <a:srgbClr val="ED7D31"/>
                    </a:solidFill>
                  </a:tcPr>
                </a:tc>
                <a:extLst>
                  <a:ext uri="{0D108BD9-81ED-4DB2-BD59-A6C34878D82A}">
                    <a16:rowId xmlns:a16="http://schemas.microsoft.com/office/drawing/2014/main" val="3634628038"/>
                  </a:ext>
                </a:extLst>
              </a:tr>
            </a:tbl>
          </a:graphicData>
        </a:graphic>
      </p:graphicFrame>
      <p:pic>
        <p:nvPicPr>
          <p:cNvPr id="31" name="Picture 30" descr="A logo on a glass wall&#10;&#10;AI-generated content may be incorrect.">
            <a:extLst>
              <a:ext uri="{FF2B5EF4-FFF2-40B4-BE49-F238E27FC236}">
                <a16:creationId xmlns:a16="http://schemas.microsoft.com/office/drawing/2014/main" id="{AEB2475C-4B00-2A42-9CD8-CF0394291CFF}"/>
              </a:ext>
            </a:extLst>
          </p:cNvPr>
          <p:cNvPicPr>
            <a:picLocks noChangeAspect="1"/>
          </p:cNvPicPr>
          <p:nvPr/>
        </p:nvPicPr>
        <p:blipFill>
          <a:blip r:embed="rId3"/>
          <a:stretch>
            <a:fillRect/>
          </a:stretch>
        </p:blipFill>
        <p:spPr>
          <a:xfrm>
            <a:off x="11070936" y="-1"/>
            <a:ext cx="1121065" cy="107384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80406" y="380406"/>
            <a:ext cx="11497760" cy="190203"/>
          </a:xfrm>
          <a:prstGeom prst="rect">
            <a:avLst/>
          </a:prstGeom>
          <a:noFill/>
          <a:ln/>
        </p:spPr>
        <p:txBody>
          <a:bodyPr wrap="square" lIns="0" tIns="0" rIns="0" bIns="0" rtlCol="0" anchor="ctr"/>
          <a:lstStyle/>
          <a:p>
            <a:pPr>
              <a:lnSpc>
                <a:spcPct val="120000"/>
              </a:lnSpc>
            </a:pPr>
            <a:r>
              <a:rPr lang="en-US" sz="1048" b="1" kern="0" spc="52" dirty="0">
                <a:solidFill>
                  <a:srgbClr val="0071E3"/>
                </a:solidFill>
                <a:latin typeface="Liter" pitchFamily="34" charset="0"/>
                <a:ea typeface="Liter" pitchFamily="34" charset="-122"/>
                <a:cs typeface="Liter" pitchFamily="34" charset="-120"/>
              </a:rPr>
              <a:t>Model Validation</a:t>
            </a:r>
            <a:endParaRPr lang="en-US" sz="1600" dirty="0"/>
          </a:p>
        </p:txBody>
      </p:sp>
      <p:sp>
        <p:nvSpPr>
          <p:cNvPr id="3" name="Text 1"/>
          <p:cNvSpPr/>
          <p:nvPr/>
        </p:nvSpPr>
        <p:spPr>
          <a:xfrm>
            <a:off x="380406" y="646690"/>
            <a:ext cx="11659432" cy="456487"/>
          </a:xfrm>
          <a:prstGeom prst="rect">
            <a:avLst/>
          </a:prstGeom>
          <a:noFill/>
          <a:ln/>
        </p:spPr>
        <p:txBody>
          <a:bodyPr wrap="square" lIns="0" tIns="0" rIns="0" bIns="0" rtlCol="0" anchor="ctr"/>
          <a:lstStyle/>
          <a:p>
            <a:pPr>
              <a:lnSpc>
                <a:spcPct val="80000"/>
              </a:lnSpc>
            </a:pPr>
            <a:r>
              <a:rPr lang="en-US" sz="3594" b="1" dirty="0">
                <a:solidFill>
                  <a:srgbClr val="1D1D1F"/>
                </a:solidFill>
                <a:latin typeface="Hedvig Letters Sans" pitchFamily="34" charset="0"/>
                <a:ea typeface="Hedvig Letters Sans" pitchFamily="34" charset="-122"/>
                <a:cs typeface="Hedvig Letters Sans" pitchFamily="34" charset="-120"/>
              </a:rPr>
              <a:t>Targeting Quality: Decile Lift Curves</a:t>
            </a:r>
            <a:endParaRPr lang="en-US" sz="1600" dirty="0"/>
          </a:p>
        </p:txBody>
      </p:sp>
      <p:sp>
        <p:nvSpPr>
          <p:cNvPr id="4" name="Text 2"/>
          <p:cNvSpPr/>
          <p:nvPr/>
        </p:nvSpPr>
        <p:spPr>
          <a:xfrm>
            <a:off x="380406" y="1217298"/>
            <a:ext cx="11526290" cy="266284"/>
          </a:xfrm>
          <a:prstGeom prst="rect">
            <a:avLst/>
          </a:prstGeom>
          <a:noFill/>
          <a:ln/>
        </p:spPr>
        <p:txBody>
          <a:bodyPr wrap="square" lIns="0" tIns="0" rIns="0" bIns="0" rtlCol="0" anchor="ctr"/>
          <a:lstStyle/>
          <a:p>
            <a:pPr>
              <a:lnSpc>
                <a:spcPct val="120000"/>
              </a:lnSpc>
            </a:pPr>
            <a:r>
              <a:rPr lang="en-US" sz="1498" dirty="0">
                <a:solidFill>
                  <a:srgbClr val="86868B"/>
                </a:solidFill>
                <a:latin typeface="Liter" pitchFamily="34" charset="0"/>
                <a:ea typeface="Liter" pitchFamily="34" charset="-122"/>
                <a:cs typeface="Liter" pitchFamily="34" charset="-120"/>
              </a:rPr>
              <a:t>Does the model rank high-probability users correctly?</a:t>
            </a:r>
            <a:endParaRPr lang="en-US" sz="1600" dirty="0"/>
          </a:p>
        </p:txBody>
      </p:sp>
      <p:sp>
        <p:nvSpPr>
          <p:cNvPr id="5" name="Shape 3"/>
          <p:cNvSpPr/>
          <p:nvPr/>
        </p:nvSpPr>
        <p:spPr>
          <a:xfrm>
            <a:off x="383576" y="1676955"/>
            <a:ext cx="6901192" cy="5179856"/>
          </a:xfrm>
          <a:custGeom>
            <a:avLst/>
            <a:gdLst/>
            <a:ahLst/>
            <a:cxnLst/>
            <a:rect l="l" t="t" r="r" b="b"/>
            <a:pathLst>
              <a:path w="6901192" h="5179856">
                <a:moveTo>
                  <a:pt x="152184" y="0"/>
                </a:moveTo>
                <a:lnTo>
                  <a:pt x="6749008" y="0"/>
                </a:lnTo>
                <a:cubicBezTo>
                  <a:pt x="6833057" y="0"/>
                  <a:pt x="6901192" y="68135"/>
                  <a:pt x="6901192" y="152184"/>
                </a:cubicBezTo>
                <a:lnTo>
                  <a:pt x="6901192" y="5027672"/>
                </a:lnTo>
                <a:cubicBezTo>
                  <a:pt x="6901192" y="5111721"/>
                  <a:pt x="6833057" y="5179856"/>
                  <a:pt x="6749008" y="5179856"/>
                </a:cubicBezTo>
                <a:lnTo>
                  <a:pt x="152184" y="5179856"/>
                </a:lnTo>
                <a:cubicBezTo>
                  <a:pt x="68135" y="5179856"/>
                  <a:pt x="0" y="5111721"/>
                  <a:pt x="0" y="5027672"/>
                </a:cubicBezTo>
                <a:lnTo>
                  <a:pt x="0" y="152184"/>
                </a:lnTo>
                <a:cubicBezTo>
                  <a:pt x="0" y="68191"/>
                  <a:pt x="68191" y="0"/>
                  <a:pt x="152184" y="0"/>
                </a:cubicBezTo>
                <a:close/>
              </a:path>
            </a:pathLst>
          </a:custGeom>
          <a:solidFill>
            <a:srgbClr val="FFFFFF"/>
          </a:solidFill>
          <a:ln w="8467">
            <a:solidFill>
              <a:srgbClr val="F3F4F6"/>
            </a:solidFill>
            <a:prstDash val="solid"/>
          </a:ln>
          <a:effectLst>
            <a:outerShdw blurRad="28530" dist="9510" dir="5400000" algn="bl" rotWithShape="0">
              <a:srgbClr val="000000">
                <a:alpha val="10196"/>
              </a:srgbClr>
            </a:outerShdw>
          </a:effectLst>
        </p:spPr>
      </p:sp>
      <p:sp>
        <p:nvSpPr>
          <p:cNvPr id="6" name="Text 4"/>
          <p:cNvSpPr/>
          <p:nvPr/>
        </p:nvSpPr>
        <p:spPr>
          <a:xfrm>
            <a:off x="614989" y="1908371"/>
            <a:ext cx="6533466" cy="266284"/>
          </a:xfrm>
          <a:prstGeom prst="rect">
            <a:avLst/>
          </a:prstGeom>
          <a:noFill/>
          <a:ln/>
        </p:spPr>
        <p:txBody>
          <a:bodyPr wrap="square" lIns="0" tIns="0" rIns="0" bIns="0" rtlCol="0" anchor="ctr"/>
          <a:lstStyle/>
          <a:p>
            <a:pPr>
              <a:lnSpc>
                <a:spcPct val="120000"/>
              </a:lnSpc>
            </a:pPr>
            <a:r>
              <a:rPr lang="en-US" sz="1498" b="1" dirty="0">
                <a:solidFill>
                  <a:srgbClr val="1D1D1F"/>
                </a:solidFill>
                <a:latin typeface="Hedvig Letters Sans" pitchFamily="34" charset="0"/>
                <a:ea typeface="Hedvig Letters Sans" pitchFamily="34" charset="-122"/>
                <a:cs typeface="Hedvig Letters Sans" pitchFamily="34" charset="-120"/>
              </a:rPr>
              <a:t>Lift Curve Analysis</a:t>
            </a:r>
            <a:endParaRPr lang="en-US" sz="1600" dirty="0"/>
          </a:p>
        </p:txBody>
      </p:sp>
      <p:sp>
        <p:nvSpPr>
          <p:cNvPr id="8" name="Text 5"/>
          <p:cNvSpPr/>
          <p:nvPr/>
        </p:nvSpPr>
        <p:spPr>
          <a:xfrm>
            <a:off x="614989" y="6435198"/>
            <a:ext cx="6504936" cy="190203"/>
          </a:xfrm>
          <a:prstGeom prst="rect">
            <a:avLst/>
          </a:prstGeom>
          <a:noFill/>
          <a:ln/>
        </p:spPr>
        <p:txBody>
          <a:bodyPr wrap="square" lIns="0" tIns="0" rIns="0" bIns="0" rtlCol="0" anchor="ctr"/>
          <a:lstStyle/>
          <a:p>
            <a:pPr>
              <a:lnSpc>
                <a:spcPct val="120000"/>
              </a:lnSpc>
            </a:pPr>
            <a:r>
              <a:rPr lang="en-US" sz="1048" dirty="0">
                <a:solidFill>
                  <a:srgbClr val="86868B"/>
                </a:solidFill>
                <a:latin typeface="Liter" pitchFamily="34" charset="0"/>
                <a:ea typeface="Liter" pitchFamily="34" charset="-122"/>
                <a:cs typeface="Liter" pitchFamily="34" charset="-120"/>
              </a:rPr>
              <a:t>Higher lift in top deciles indicates effective ranking of high-probability users</a:t>
            </a:r>
            <a:endParaRPr lang="en-US" sz="1600" dirty="0"/>
          </a:p>
        </p:txBody>
      </p:sp>
      <p:sp>
        <p:nvSpPr>
          <p:cNvPr id="9" name="Shape 6"/>
          <p:cNvSpPr/>
          <p:nvPr/>
        </p:nvSpPr>
        <p:spPr>
          <a:xfrm>
            <a:off x="7519946" y="1676955"/>
            <a:ext cx="4285903" cy="3648724"/>
          </a:xfrm>
          <a:custGeom>
            <a:avLst/>
            <a:gdLst/>
            <a:ahLst/>
            <a:cxnLst/>
            <a:rect l="l" t="t" r="r" b="b"/>
            <a:pathLst>
              <a:path w="4285903" h="3648724">
                <a:moveTo>
                  <a:pt x="152152" y="0"/>
                </a:moveTo>
                <a:lnTo>
                  <a:pt x="4133751" y="0"/>
                </a:lnTo>
                <a:cubicBezTo>
                  <a:pt x="4217783" y="0"/>
                  <a:pt x="4285903" y="68121"/>
                  <a:pt x="4285903" y="152152"/>
                </a:cubicBezTo>
                <a:lnTo>
                  <a:pt x="4285903" y="3496572"/>
                </a:lnTo>
                <a:cubicBezTo>
                  <a:pt x="4285903" y="3580603"/>
                  <a:pt x="4217783" y="3648724"/>
                  <a:pt x="4133751" y="3648724"/>
                </a:cubicBezTo>
                <a:lnTo>
                  <a:pt x="152152" y="3648724"/>
                </a:lnTo>
                <a:cubicBezTo>
                  <a:pt x="68121" y="3648724"/>
                  <a:pt x="0" y="3580603"/>
                  <a:pt x="0" y="3496572"/>
                </a:cubicBezTo>
                <a:lnTo>
                  <a:pt x="0" y="152152"/>
                </a:lnTo>
                <a:cubicBezTo>
                  <a:pt x="0" y="68177"/>
                  <a:pt x="68177" y="0"/>
                  <a:pt x="152152" y="0"/>
                </a:cubicBezTo>
                <a:close/>
              </a:path>
            </a:pathLst>
          </a:custGeom>
          <a:solidFill>
            <a:srgbClr val="FFFFFF"/>
          </a:solidFill>
          <a:ln w="8467">
            <a:solidFill>
              <a:srgbClr val="F3F4F6"/>
            </a:solidFill>
            <a:prstDash val="solid"/>
          </a:ln>
          <a:effectLst>
            <a:outerShdw blurRad="28530" dist="9510" dir="5400000" algn="bl" rotWithShape="0">
              <a:srgbClr val="000000">
                <a:alpha val="10196"/>
              </a:srgbClr>
            </a:outerShdw>
          </a:effectLst>
        </p:spPr>
      </p:sp>
      <p:sp>
        <p:nvSpPr>
          <p:cNvPr id="10" name="Text 7"/>
          <p:cNvSpPr/>
          <p:nvPr/>
        </p:nvSpPr>
        <p:spPr>
          <a:xfrm>
            <a:off x="7751359" y="1908371"/>
            <a:ext cx="3918178" cy="266284"/>
          </a:xfrm>
          <a:prstGeom prst="rect">
            <a:avLst/>
          </a:prstGeom>
          <a:noFill/>
          <a:ln/>
        </p:spPr>
        <p:txBody>
          <a:bodyPr wrap="square" lIns="0" tIns="0" rIns="0" bIns="0" rtlCol="0" anchor="ctr"/>
          <a:lstStyle/>
          <a:p>
            <a:pPr>
              <a:lnSpc>
                <a:spcPct val="120000"/>
              </a:lnSpc>
            </a:pPr>
            <a:r>
              <a:rPr lang="en-US" sz="1498" b="1" dirty="0">
                <a:solidFill>
                  <a:srgbClr val="1D1D1F"/>
                </a:solidFill>
                <a:latin typeface="Hedvig Letters Sans" pitchFamily="34" charset="0"/>
                <a:ea typeface="Hedvig Letters Sans" pitchFamily="34" charset="-122"/>
                <a:cs typeface="Hedvig Letters Sans" pitchFamily="34" charset="-120"/>
              </a:rPr>
              <a:t>Key Observations</a:t>
            </a:r>
            <a:endParaRPr lang="en-US" sz="1600" dirty="0"/>
          </a:p>
        </p:txBody>
      </p:sp>
      <p:sp>
        <p:nvSpPr>
          <p:cNvPr id="11" name="Shape 8"/>
          <p:cNvSpPr/>
          <p:nvPr/>
        </p:nvSpPr>
        <p:spPr>
          <a:xfrm>
            <a:off x="7770379" y="2326817"/>
            <a:ext cx="38041" cy="760811"/>
          </a:xfrm>
          <a:custGeom>
            <a:avLst/>
            <a:gdLst/>
            <a:ahLst/>
            <a:cxnLst/>
            <a:rect l="l" t="t" r="r" b="b"/>
            <a:pathLst>
              <a:path w="38041" h="760811">
                <a:moveTo>
                  <a:pt x="0" y="0"/>
                </a:moveTo>
                <a:lnTo>
                  <a:pt x="38041" y="0"/>
                </a:lnTo>
                <a:lnTo>
                  <a:pt x="38041" y="760811"/>
                </a:lnTo>
                <a:lnTo>
                  <a:pt x="0" y="760811"/>
                </a:lnTo>
                <a:lnTo>
                  <a:pt x="0" y="0"/>
                </a:lnTo>
                <a:close/>
              </a:path>
            </a:pathLst>
          </a:custGeom>
          <a:solidFill>
            <a:srgbClr val="0071E3"/>
          </a:solidFill>
          <a:ln/>
        </p:spPr>
      </p:sp>
      <p:sp>
        <p:nvSpPr>
          <p:cNvPr id="12" name="Text 9"/>
          <p:cNvSpPr/>
          <p:nvPr/>
        </p:nvSpPr>
        <p:spPr>
          <a:xfrm>
            <a:off x="7941562" y="2326817"/>
            <a:ext cx="3718465" cy="266284"/>
          </a:xfrm>
          <a:prstGeom prst="rect">
            <a:avLst/>
          </a:prstGeom>
          <a:noFill/>
          <a:ln/>
        </p:spPr>
        <p:txBody>
          <a:bodyPr wrap="square" lIns="0" tIns="0" rIns="0" bIns="0" rtlCol="0" anchor="ctr"/>
          <a:lstStyle/>
          <a:p>
            <a:pPr>
              <a:lnSpc>
                <a:spcPct val="130000"/>
              </a:lnSpc>
            </a:pPr>
            <a:r>
              <a:rPr lang="en-US" sz="1348" b="1" dirty="0">
                <a:solidFill>
                  <a:srgbClr val="1D1D1F"/>
                </a:solidFill>
                <a:latin typeface="Liter" pitchFamily="34" charset="0"/>
                <a:ea typeface="Liter" pitchFamily="34" charset="-122"/>
                <a:cs typeface="Liter" pitchFamily="34" charset="-120"/>
              </a:rPr>
              <a:t>Strong Monotonic Lift</a:t>
            </a:r>
            <a:endParaRPr lang="en-US" sz="1600" dirty="0"/>
          </a:p>
        </p:txBody>
      </p:sp>
      <p:sp>
        <p:nvSpPr>
          <p:cNvPr id="13" name="Text 10"/>
          <p:cNvSpPr/>
          <p:nvPr/>
        </p:nvSpPr>
        <p:spPr>
          <a:xfrm>
            <a:off x="7941562" y="2631142"/>
            <a:ext cx="3708955" cy="456487"/>
          </a:xfrm>
          <a:prstGeom prst="rect">
            <a:avLst/>
          </a:prstGeom>
          <a:noFill/>
          <a:ln/>
        </p:spPr>
        <p:txBody>
          <a:bodyPr wrap="square" lIns="0" tIns="0" rIns="0" bIns="0" rtlCol="0" anchor="ctr"/>
          <a:lstStyle/>
          <a:p>
            <a:pPr>
              <a:lnSpc>
                <a:spcPct val="120000"/>
              </a:lnSpc>
            </a:pPr>
            <a:r>
              <a:rPr lang="en-US" sz="1198" dirty="0">
                <a:solidFill>
                  <a:srgbClr val="86868B"/>
                </a:solidFill>
                <a:latin typeface="Liter" pitchFamily="34" charset="0"/>
                <a:ea typeface="Liter" pitchFamily="34" charset="-122"/>
                <a:cs typeface="Liter" pitchFamily="34" charset="-120"/>
              </a:rPr>
              <a:t>Both Level and Delta LR show consistent ranking quality across deciles</a:t>
            </a:r>
            <a:endParaRPr lang="en-US" sz="1600" dirty="0"/>
          </a:p>
        </p:txBody>
      </p:sp>
      <p:sp>
        <p:nvSpPr>
          <p:cNvPr id="14" name="Shape 11"/>
          <p:cNvSpPr/>
          <p:nvPr/>
        </p:nvSpPr>
        <p:spPr>
          <a:xfrm>
            <a:off x="7770379" y="3239791"/>
            <a:ext cx="38041" cy="760811"/>
          </a:xfrm>
          <a:custGeom>
            <a:avLst/>
            <a:gdLst/>
            <a:ahLst/>
            <a:cxnLst/>
            <a:rect l="l" t="t" r="r" b="b"/>
            <a:pathLst>
              <a:path w="38041" h="760811">
                <a:moveTo>
                  <a:pt x="0" y="0"/>
                </a:moveTo>
                <a:lnTo>
                  <a:pt x="38041" y="0"/>
                </a:lnTo>
                <a:lnTo>
                  <a:pt x="38041" y="760811"/>
                </a:lnTo>
                <a:lnTo>
                  <a:pt x="0" y="760811"/>
                </a:lnTo>
                <a:lnTo>
                  <a:pt x="0" y="0"/>
                </a:lnTo>
                <a:close/>
              </a:path>
            </a:pathLst>
          </a:custGeom>
          <a:solidFill>
            <a:srgbClr val="0071E3"/>
          </a:solidFill>
          <a:ln/>
        </p:spPr>
      </p:sp>
      <p:sp>
        <p:nvSpPr>
          <p:cNvPr id="15" name="Text 12"/>
          <p:cNvSpPr/>
          <p:nvPr/>
        </p:nvSpPr>
        <p:spPr>
          <a:xfrm>
            <a:off x="7941562" y="3239791"/>
            <a:ext cx="3718465" cy="266284"/>
          </a:xfrm>
          <a:prstGeom prst="rect">
            <a:avLst/>
          </a:prstGeom>
          <a:noFill/>
          <a:ln/>
        </p:spPr>
        <p:txBody>
          <a:bodyPr wrap="square" lIns="0" tIns="0" rIns="0" bIns="0" rtlCol="0" anchor="ctr"/>
          <a:lstStyle/>
          <a:p>
            <a:pPr>
              <a:lnSpc>
                <a:spcPct val="130000"/>
              </a:lnSpc>
            </a:pPr>
            <a:r>
              <a:rPr lang="en-US" sz="1348" b="1" dirty="0">
                <a:solidFill>
                  <a:srgbClr val="1D1D1F"/>
                </a:solidFill>
                <a:latin typeface="Liter" pitchFamily="34" charset="0"/>
                <a:ea typeface="Liter" pitchFamily="34" charset="-122"/>
                <a:cs typeface="Liter" pitchFamily="34" charset="-120"/>
              </a:rPr>
              <a:t>3-4× Baseline in Top Decile</a:t>
            </a:r>
            <a:endParaRPr lang="en-US" sz="1600" dirty="0"/>
          </a:p>
        </p:txBody>
      </p:sp>
      <p:sp>
        <p:nvSpPr>
          <p:cNvPr id="16" name="Text 13"/>
          <p:cNvSpPr/>
          <p:nvPr/>
        </p:nvSpPr>
        <p:spPr>
          <a:xfrm>
            <a:off x="7941562" y="3544115"/>
            <a:ext cx="3708955" cy="456487"/>
          </a:xfrm>
          <a:prstGeom prst="rect">
            <a:avLst/>
          </a:prstGeom>
          <a:noFill/>
          <a:ln/>
        </p:spPr>
        <p:txBody>
          <a:bodyPr wrap="square" lIns="0" tIns="0" rIns="0" bIns="0" rtlCol="0" anchor="ctr"/>
          <a:lstStyle/>
          <a:p>
            <a:pPr>
              <a:lnSpc>
                <a:spcPct val="120000"/>
              </a:lnSpc>
            </a:pPr>
            <a:r>
              <a:rPr lang="en-US" sz="1198" dirty="0">
                <a:solidFill>
                  <a:srgbClr val="86868B"/>
                </a:solidFill>
                <a:latin typeface="Liter" pitchFamily="34" charset="0"/>
                <a:ea typeface="Liter" pitchFamily="34" charset="-122"/>
                <a:cs typeface="Liter" pitchFamily="34" charset="-120"/>
              </a:rPr>
              <a:t>Top 10% of predicted users have 3-4× higher adoption rate than average</a:t>
            </a:r>
            <a:endParaRPr lang="en-US" sz="1600" dirty="0"/>
          </a:p>
        </p:txBody>
      </p:sp>
      <p:sp>
        <p:nvSpPr>
          <p:cNvPr id="17" name="Shape 14"/>
          <p:cNvSpPr/>
          <p:nvPr/>
        </p:nvSpPr>
        <p:spPr>
          <a:xfrm>
            <a:off x="7770379" y="4152764"/>
            <a:ext cx="38041" cy="760811"/>
          </a:xfrm>
          <a:custGeom>
            <a:avLst/>
            <a:gdLst/>
            <a:ahLst/>
            <a:cxnLst/>
            <a:rect l="l" t="t" r="r" b="b"/>
            <a:pathLst>
              <a:path w="38041" h="760811">
                <a:moveTo>
                  <a:pt x="0" y="0"/>
                </a:moveTo>
                <a:lnTo>
                  <a:pt x="38041" y="0"/>
                </a:lnTo>
                <a:lnTo>
                  <a:pt x="38041" y="760811"/>
                </a:lnTo>
                <a:lnTo>
                  <a:pt x="0" y="760811"/>
                </a:lnTo>
                <a:lnTo>
                  <a:pt x="0" y="0"/>
                </a:lnTo>
                <a:close/>
              </a:path>
            </a:pathLst>
          </a:custGeom>
          <a:solidFill>
            <a:srgbClr val="86868B"/>
          </a:solidFill>
          <a:ln/>
        </p:spPr>
      </p:sp>
      <p:sp>
        <p:nvSpPr>
          <p:cNvPr id="18" name="Text 15"/>
          <p:cNvSpPr/>
          <p:nvPr/>
        </p:nvSpPr>
        <p:spPr>
          <a:xfrm>
            <a:off x="7941562" y="4152764"/>
            <a:ext cx="3718465" cy="266284"/>
          </a:xfrm>
          <a:prstGeom prst="rect">
            <a:avLst/>
          </a:prstGeom>
          <a:noFill/>
          <a:ln/>
        </p:spPr>
        <p:txBody>
          <a:bodyPr wrap="square" lIns="0" tIns="0" rIns="0" bIns="0" rtlCol="0" anchor="ctr"/>
          <a:lstStyle/>
          <a:p>
            <a:pPr>
              <a:lnSpc>
                <a:spcPct val="130000"/>
              </a:lnSpc>
            </a:pPr>
            <a:r>
              <a:rPr lang="en-US" sz="1348" b="1" dirty="0">
                <a:solidFill>
                  <a:srgbClr val="1D1D1F"/>
                </a:solidFill>
                <a:latin typeface="Liter" pitchFamily="34" charset="0"/>
                <a:ea typeface="Liter" pitchFamily="34" charset="-122"/>
                <a:cs typeface="Liter" pitchFamily="34" charset="-120"/>
              </a:rPr>
              <a:t>Delta Tracks Level Closely</a:t>
            </a:r>
            <a:endParaRPr lang="en-US" sz="1600" dirty="0"/>
          </a:p>
        </p:txBody>
      </p:sp>
      <p:sp>
        <p:nvSpPr>
          <p:cNvPr id="19" name="Text 16"/>
          <p:cNvSpPr/>
          <p:nvPr/>
        </p:nvSpPr>
        <p:spPr>
          <a:xfrm>
            <a:off x="7941562" y="4457089"/>
            <a:ext cx="3708955" cy="456487"/>
          </a:xfrm>
          <a:prstGeom prst="rect">
            <a:avLst/>
          </a:prstGeom>
          <a:noFill/>
          <a:ln/>
        </p:spPr>
        <p:txBody>
          <a:bodyPr wrap="square" lIns="0" tIns="0" rIns="0" bIns="0" rtlCol="0" anchor="ctr"/>
          <a:lstStyle/>
          <a:p>
            <a:pPr>
              <a:lnSpc>
                <a:spcPct val="120000"/>
              </a:lnSpc>
            </a:pPr>
            <a:r>
              <a:rPr lang="en-US" sz="1198" dirty="0">
                <a:solidFill>
                  <a:srgbClr val="86868B"/>
                </a:solidFill>
                <a:latin typeface="Liter" pitchFamily="34" charset="0"/>
                <a:ea typeface="Liter" pitchFamily="34" charset="-122"/>
                <a:cs typeface="Liter" pitchFamily="34" charset="-120"/>
              </a:rPr>
              <a:t>Momentum model closely follows level model, confirming meaningful signal</a:t>
            </a:r>
            <a:endParaRPr lang="en-US" sz="1600" dirty="0"/>
          </a:p>
        </p:txBody>
      </p:sp>
      <p:sp>
        <p:nvSpPr>
          <p:cNvPr id="20" name="Shape 17"/>
          <p:cNvSpPr/>
          <p:nvPr/>
        </p:nvSpPr>
        <p:spPr>
          <a:xfrm>
            <a:off x="7519946" y="5453796"/>
            <a:ext cx="4319920" cy="1232926"/>
          </a:xfrm>
          <a:custGeom>
            <a:avLst/>
            <a:gdLst/>
            <a:ahLst/>
            <a:cxnLst/>
            <a:rect l="l" t="t" r="r" b="b"/>
            <a:pathLst>
              <a:path w="4285903" h="1375800">
                <a:moveTo>
                  <a:pt x="152164" y="0"/>
                </a:moveTo>
                <a:lnTo>
                  <a:pt x="4133740" y="0"/>
                </a:lnTo>
                <a:cubicBezTo>
                  <a:pt x="4217777" y="0"/>
                  <a:pt x="4285903" y="68126"/>
                  <a:pt x="4285903" y="152164"/>
                </a:cubicBezTo>
                <a:lnTo>
                  <a:pt x="4285903" y="1223637"/>
                </a:lnTo>
                <a:cubicBezTo>
                  <a:pt x="4285903" y="1307674"/>
                  <a:pt x="4217777" y="1375800"/>
                  <a:pt x="4133740" y="1375800"/>
                </a:cubicBezTo>
                <a:lnTo>
                  <a:pt x="152164" y="1375800"/>
                </a:lnTo>
                <a:cubicBezTo>
                  <a:pt x="68126" y="1375800"/>
                  <a:pt x="0" y="1307674"/>
                  <a:pt x="0" y="1223637"/>
                </a:cubicBezTo>
                <a:lnTo>
                  <a:pt x="0" y="152164"/>
                </a:lnTo>
                <a:cubicBezTo>
                  <a:pt x="0" y="68182"/>
                  <a:pt x="68182" y="0"/>
                  <a:pt x="152164" y="0"/>
                </a:cubicBezTo>
                <a:close/>
              </a:path>
            </a:pathLst>
          </a:custGeom>
          <a:gradFill flip="none" rotWithShape="1">
            <a:gsLst>
              <a:gs pos="0">
                <a:srgbClr val="0071E3">
                  <a:alpha val="10000"/>
                </a:srgbClr>
              </a:gs>
              <a:gs pos="100000">
                <a:srgbClr val="0071E3">
                  <a:alpha val="5000"/>
                </a:srgbClr>
              </a:gs>
            </a:gsLst>
            <a:lin ang="0" scaled="1"/>
          </a:gradFill>
          <a:ln w="8467">
            <a:solidFill>
              <a:srgbClr val="0071E3">
                <a:alpha val="20000"/>
              </a:srgbClr>
            </a:solidFill>
            <a:prstDash val="solid"/>
          </a:ln>
        </p:spPr>
      </p:sp>
      <p:sp>
        <p:nvSpPr>
          <p:cNvPr id="21" name="Shape 18"/>
          <p:cNvSpPr/>
          <p:nvPr/>
        </p:nvSpPr>
        <p:spPr>
          <a:xfrm>
            <a:off x="7741849" y="5674387"/>
            <a:ext cx="228243" cy="228243"/>
          </a:xfrm>
          <a:custGeom>
            <a:avLst/>
            <a:gdLst/>
            <a:ahLst/>
            <a:cxnLst/>
            <a:rect l="l" t="t" r="r" b="b"/>
            <a:pathLst>
              <a:path w="228243" h="228243">
                <a:moveTo>
                  <a:pt x="114122" y="228243"/>
                </a:moveTo>
                <a:cubicBezTo>
                  <a:pt x="177107" y="228243"/>
                  <a:pt x="228243" y="177107"/>
                  <a:pt x="228243" y="114122"/>
                </a:cubicBezTo>
                <a:cubicBezTo>
                  <a:pt x="228243" y="51136"/>
                  <a:pt x="177107" y="0"/>
                  <a:pt x="114122" y="0"/>
                </a:cubicBezTo>
                <a:cubicBezTo>
                  <a:pt x="51136" y="0"/>
                  <a:pt x="0" y="51136"/>
                  <a:pt x="0" y="114122"/>
                </a:cubicBezTo>
                <a:cubicBezTo>
                  <a:pt x="0" y="177107"/>
                  <a:pt x="51136" y="228243"/>
                  <a:pt x="114122" y="228243"/>
                </a:cubicBezTo>
                <a:close/>
                <a:moveTo>
                  <a:pt x="151746" y="94819"/>
                </a:moveTo>
                <a:lnTo>
                  <a:pt x="116083" y="151880"/>
                </a:lnTo>
                <a:cubicBezTo>
                  <a:pt x="114211" y="154867"/>
                  <a:pt x="111001" y="156739"/>
                  <a:pt x="107479" y="156917"/>
                </a:cubicBezTo>
                <a:cubicBezTo>
                  <a:pt x="103958" y="157096"/>
                  <a:pt x="100570" y="155491"/>
                  <a:pt x="98475" y="152638"/>
                </a:cubicBezTo>
                <a:lnTo>
                  <a:pt x="77077" y="124107"/>
                </a:lnTo>
                <a:cubicBezTo>
                  <a:pt x="73510" y="119382"/>
                  <a:pt x="74491" y="112695"/>
                  <a:pt x="79216" y="109129"/>
                </a:cubicBezTo>
                <a:cubicBezTo>
                  <a:pt x="83942" y="105563"/>
                  <a:pt x="90629" y="106543"/>
                  <a:pt x="94195" y="111269"/>
                </a:cubicBezTo>
                <a:lnTo>
                  <a:pt x="106231" y="127317"/>
                </a:lnTo>
                <a:lnTo>
                  <a:pt x="133603" y="83496"/>
                </a:lnTo>
                <a:cubicBezTo>
                  <a:pt x="136723" y="78503"/>
                  <a:pt x="143321" y="76943"/>
                  <a:pt x="148358" y="80108"/>
                </a:cubicBezTo>
                <a:cubicBezTo>
                  <a:pt x="153396" y="83273"/>
                  <a:pt x="154911" y="89826"/>
                  <a:pt x="151746" y="94864"/>
                </a:cubicBezTo>
                <a:close/>
              </a:path>
            </a:pathLst>
          </a:custGeom>
          <a:solidFill>
            <a:srgbClr val="0071E3"/>
          </a:solidFill>
          <a:ln/>
        </p:spPr>
      </p:sp>
      <p:sp>
        <p:nvSpPr>
          <p:cNvPr id="22" name="Text 19"/>
          <p:cNvSpPr/>
          <p:nvPr/>
        </p:nvSpPr>
        <p:spPr>
          <a:xfrm>
            <a:off x="8112744" y="5328947"/>
            <a:ext cx="3554843" cy="571084"/>
          </a:xfrm>
          <a:prstGeom prst="rect">
            <a:avLst/>
          </a:prstGeom>
          <a:noFill/>
          <a:ln/>
        </p:spPr>
        <p:txBody>
          <a:bodyPr wrap="square" lIns="0" tIns="0" rIns="0" bIns="0" rtlCol="0" anchor="ctr"/>
          <a:lstStyle/>
          <a:p>
            <a:pPr>
              <a:lnSpc>
                <a:spcPct val="130000"/>
              </a:lnSpc>
            </a:pPr>
            <a:r>
              <a:rPr lang="en-US" sz="1348" b="1" dirty="0">
                <a:solidFill>
                  <a:srgbClr val="1D1D1F"/>
                </a:solidFill>
                <a:latin typeface="Liter" pitchFamily="34" charset="0"/>
                <a:ea typeface="Liter" pitchFamily="34" charset="-122"/>
                <a:cs typeface="Liter" pitchFamily="34" charset="-120"/>
              </a:rPr>
              <a:t>Business Implication</a:t>
            </a:r>
            <a:endParaRPr lang="en-US" sz="1600" dirty="0"/>
          </a:p>
        </p:txBody>
      </p:sp>
      <p:sp>
        <p:nvSpPr>
          <p:cNvPr id="23" name="Text 20"/>
          <p:cNvSpPr/>
          <p:nvPr/>
        </p:nvSpPr>
        <p:spPr>
          <a:xfrm>
            <a:off x="8112744" y="5673911"/>
            <a:ext cx="3555493" cy="999690"/>
          </a:xfrm>
          <a:prstGeom prst="rect">
            <a:avLst/>
          </a:prstGeom>
          <a:noFill/>
          <a:ln/>
        </p:spPr>
        <p:txBody>
          <a:bodyPr wrap="square" lIns="0" tIns="0" rIns="0" bIns="0" rtlCol="0" anchor="ctr"/>
          <a:lstStyle/>
          <a:p>
            <a:pPr>
              <a:lnSpc>
                <a:spcPct val="120000"/>
              </a:lnSpc>
            </a:pPr>
            <a:r>
              <a:rPr lang="en-US" sz="1150" dirty="0">
                <a:solidFill>
                  <a:srgbClr val="86868B"/>
                </a:solidFill>
                <a:latin typeface="Liter"/>
              </a:rPr>
              <a:t>The model is specifically designed to identify which user segments we should prioritize in our marketing strategy to achieve maximum revenue growth and </a:t>
            </a:r>
            <a:r>
              <a:rPr lang="en-US" sz="1150">
                <a:solidFill>
                  <a:srgbClr val="86868B"/>
                </a:solidFill>
                <a:latin typeface="Liter"/>
              </a:rPr>
              <a:t>resource efficiency.</a:t>
            </a:r>
            <a:endParaRPr lang="en-US" sz="1150" dirty="0">
              <a:solidFill>
                <a:srgbClr val="86868B"/>
              </a:solidFill>
              <a:latin typeface="Liter"/>
            </a:endParaRPr>
          </a:p>
        </p:txBody>
      </p:sp>
      <p:pic>
        <p:nvPicPr>
          <p:cNvPr id="24" name="Picture 23" descr="A graph with a line and a red line&#10;&#10;AI-generated content may be incorrect.">
            <a:extLst>
              <a:ext uri="{FF2B5EF4-FFF2-40B4-BE49-F238E27FC236}">
                <a16:creationId xmlns:a16="http://schemas.microsoft.com/office/drawing/2014/main" id="{10C0DD25-12E1-963A-3AB4-9E4D6FD21CAD}"/>
              </a:ext>
            </a:extLst>
          </p:cNvPr>
          <p:cNvPicPr>
            <a:picLocks noChangeAspect="1"/>
          </p:cNvPicPr>
          <p:nvPr/>
        </p:nvPicPr>
        <p:blipFill>
          <a:blip r:embed="rId3"/>
          <a:srcRect t="364" r="169" b="4894"/>
          <a:stretch>
            <a:fillRect/>
          </a:stretch>
        </p:blipFill>
        <p:spPr>
          <a:xfrm>
            <a:off x="617084" y="2445882"/>
            <a:ext cx="5593946" cy="3538752"/>
          </a:xfrm>
          <a:prstGeom prst="rect">
            <a:avLst/>
          </a:prstGeom>
        </p:spPr>
      </p:pic>
      <p:pic>
        <p:nvPicPr>
          <p:cNvPr id="25" name="Picture 24" descr="A logo on a glass wall&#10;&#10;AI-generated content may be incorrect.">
            <a:extLst>
              <a:ext uri="{FF2B5EF4-FFF2-40B4-BE49-F238E27FC236}">
                <a16:creationId xmlns:a16="http://schemas.microsoft.com/office/drawing/2014/main" id="{0BA9EE29-7F5C-1E38-0A65-847A6F523009}"/>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Liter" pitchFamily="34" charset="0"/>
                <a:ea typeface="Liter" pitchFamily="34" charset="-122"/>
                <a:cs typeface="Liter" pitchFamily="34" charset="-120"/>
              </a:rPr>
              <a:t>Economic Model</a:t>
            </a:r>
            <a:endParaRPr lang="en-US" sz="1600" dirty="0"/>
          </a:p>
        </p:txBody>
      </p:sp>
      <p:sp>
        <p:nvSpPr>
          <p:cNvPr id="3" name="Text 1"/>
          <p:cNvSpPr/>
          <p:nvPr/>
        </p:nvSpPr>
        <p:spPr>
          <a:xfrm>
            <a:off x="317500" y="539750"/>
            <a:ext cx="11747500" cy="381000"/>
          </a:xfrm>
          <a:prstGeom prst="rect">
            <a:avLst/>
          </a:prstGeom>
          <a:noFill/>
          <a:ln/>
        </p:spPr>
        <p:txBody>
          <a:bodyPr wrap="square" lIns="0" tIns="0" rIns="0" bIns="0" rtlCol="0" anchor="ctr"/>
          <a:lstStyle/>
          <a:p>
            <a:pPr>
              <a:lnSpc>
                <a:spcPct val="80000"/>
              </a:lnSpc>
            </a:pPr>
            <a:r>
              <a:rPr lang="en-US" sz="3000" b="1" dirty="0">
                <a:solidFill>
                  <a:srgbClr val="1D1D1F"/>
                </a:solidFill>
                <a:latin typeface="Hedvig Letters Sans" pitchFamily="34" charset="0"/>
                <a:ea typeface="Hedvig Letters Sans" pitchFamily="34" charset="-122"/>
                <a:cs typeface="Hedvig Letters Sans" pitchFamily="34" charset="-120"/>
              </a:rPr>
              <a:t>Profit Framework: Core Economic Logic</a:t>
            </a:r>
            <a:endParaRPr lang="en-US" sz="1600" dirty="0"/>
          </a:p>
        </p:txBody>
      </p:sp>
      <p:sp>
        <p:nvSpPr>
          <p:cNvPr id="4" name="Text 2"/>
          <p:cNvSpPr/>
          <p:nvPr/>
        </p:nvSpPr>
        <p:spPr>
          <a:xfrm>
            <a:off x="317500" y="1016000"/>
            <a:ext cx="11636375" cy="222250"/>
          </a:xfrm>
          <a:prstGeom prst="rect">
            <a:avLst/>
          </a:prstGeom>
          <a:noFill/>
          <a:ln/>
        </p:spPr>
        <p:txBody>
          <a:bodyPr wrap="square" lIns="0" tIns="0" rIns="0" bIns="0" rtlCol="0" anchor="ctr"/>
          <a:lstStyle/>
          <a:p>
            <a:pPr>
              <a:lnSpc>
                <a:spcPct val="120000"/>
              </a:lnSpc>
            </a:pPr>
            <a:r>
              <a:rPr lang="en-US" sz="1250" dirty="0">
                <a:solidFill>
                  <a:srgbClr val="86868B"/>
                </a:solidFill>
                <a:latin typeface="Liter" pitchFamily="34" charset="0"/>
                <a:ea typeface="Liter" pitchFamily="34" charset="-122"/>
                <a:cs typeface="Liter" pitchFamily="34" charset="-120"/>
              </a:rPr>
              <a:t>Revenue assumptions and profit calculation methodology</a:t>
            </a:r>
            <a:endParaRPr lang="en-US" sz="1600" dirty="0"/>
          </a:p>
        </p:txBody>
      </p:sp>
      <p:sp>
        <p:nvSpPr>
          <p:cNvPr id="5" name="Shape 3"/>
          <p:cNvSpPr/>
          <p:nvPr/>
        </p:nvSpPr>
        <p:spPr>
          <a:xfrm>
            <a:off x="320146" y="1399646"/>
            <a:ext cx="4386792" cy="3529542"/>
          </a:xfrm>
          <a:custGeom>
            <a:avLst/>
            <a:gdLst/>
            <a:ahLst/>
            <a:cxnLst/>
            <a:rect l="l" t="t" r="r" b="b"/>
            <a:pathLst>
              <a:path w="4386792" h="3529542">
                <a:moveTo>
                  <a:pt x="126993" y="0"/>
                </a:moveTo>
                <a:lnTo>
                  <a:pt x="4259799" y="0"/>
                </a:lnTo>
                <a:cubicBezTo>
                  <a:pt x="4329935" y="0"/>
                  <a:pt x="4386792" y="56857"/>
                  <a:pt x="4386792" y="126993"/>
                </a:cubicBezTo>
                <a:lnTo>
                  <a:pt x="4386792" y="3402549"/>
                </a:lnTo>
                <a:cubicBezTo>
                  <a:pt x="4386792" y="3472685"/>
                  <a:pt x="4329935" y="3529542"/>
                  <a:pt x="4259799" y="3529542"/>
                </a:cubicBezTo>
                <a:lnTo>
                  <a:pt x="126993" y="3529542"/>
                </a:lnTo>
                <a:cubicBezTo>
                  <a:pt x="56857" y="3529542"/>
                  <a:pt x="0" y="3472685"/>
                  <a:pt x="0" y="3402549"/>
                </a:cubicBezTo>
                <a:lnTo>
                  <a:pt x="0" y="126993"/>
                </a:lnTo>
                <a:cubicBezTo>
                  <a:pt x="0" y="56857"/>
                  <a:pt x="56857" y="0"/>
                  <a:pt x="126993" y="0"/>
                </a:cubicBezTo>
                <a:close/>
              </a:path>
            </a:pathLst>
          </a:custGeom>
          <a:solidFill>
            <a:srgbClr val="FFFFFF"/>
          </a:solidFill>
          <a:ln w="8467">
            <a:solidFill>
              <a:srgbClr val="F3F4F6"/>
            </a:solidFill>
            <a:prstDash val="solid"/>
          </a:ln>
          <a:effectLst>
            <a:outerShdw blurRad="23813" dist="7938" dir="5400000" algn="bl" rotWithShape="0">
              <a:srgbClr val="000000">
                <a:alpha val="10196"/>
              </a:srgbClr>
            </a:outerShdw>
          </a:effectLst>
        </p:spPr>
      </p:sp>
      <p:sp>
        <p:nvSpPr>
          <p:cNvPr id="6" name="Text 4"/>
          <p:cNvSpPr/>
          <p:nvPr/>
        </p:nvSpPr>
        <p:spPr>
          <a:xfrm>
            <a:off x="513292" y="1592794"/>
            <a:ext cx="4079875" cy="222250"/>
          </a:xfrm>
          <a:prstGeom prst="rect">
            <a:avLst/>
          </a:prstGeom>
          <a:noFill/>
          <a:ln/>
        </p:spPr>
        <p:txBody>
          <a:bodyPr wrap="square" lIns="0" tIns="0" rIns="0" bIns="0" rtlCol="0" anchor="ctr"/>
          <a:lstStyle/>
          <a:p>
            <a:pPr>
              <a:lnSpc>
                <a:spcPct val="120000"/>
              </a:lnSpc>
            </a:pPr>
            <a:r>
              <a:rPr lang="en-US" sz="1250" b="1" dirty="0">
                <a:solidFill>
                  <a:srgbClr val="1D1D1F"/>
                </a:solidFill>
                <a:latin typeface="Hedvig Letters Sans" pitchFamily="34" charset="0"/>
                <a:ea typeface="Hedvig Letters Sans" pitchFamily="34" charset="-122"/>
                <a:cs typeface="Hedvig Letters Sans" pitchFamily="34" charset="-120"/>
              </a:rPr>
              <a:t>Revenue Assumptions</a:t>
            </a:r>
            <a:endParaRPr lang="en-US" sz="1600" dirty="0"/>
          </a:p>
        </p:txBody>
      </p:sp>
      <p:sp>
        <p:nvSpPr>
          <p:cNvPr id="7" name="Shape 5"/>
          <p:cNvSpPr/>
          <p:nvPr/>
        </p:nvSpPr>
        <p:spPr>
          <a:xfrm>
            <a:off x="513292" y="1942044"/>
            <a:ext cx="4000500" cy="603250"/>
          </a:xfrm>
          <a:custGeom>
            <a:avLst/>
            <a:gdLst/>
            <a:ahLst/>
            <a:cxnLst/>
            <a:rect l="l" t="t" r="r" b="b"/>
            <a:pathLst>
              <a:path w="4000500" h="603250">
                <a:moveTo>
                  <a:pt x="95247" y="0"/>
                </a:moveTo>
                <a:lnTo>
                  <a:pt x="3905253" y="0"/>
                </a:lnTo>
                <a:cubicBezTo>
                  <a:pt x="3957856" y="0"/>
                  <a:pt x="4000500" y="42644"/>
                  <a:pt x="4000500" y="95247"/>
                </a:cubicBezTo>
                <a:lnTo>
                  <a:pt x="4000500" y="508003"/>
                </a:lnTo>
                <a:cubicBezTo>
                  <a:pt x="4000500" y="560606"/>
                  <a:pt x="3957856" y="603250"/>
                  <a:pt x="3905253" y="603250"/>
                </a:cubicBezTo>
                <a:lnTo>
                  <a:pt x="95247" y="603250"/>
                </a:lnTo>
                <a:cubicBezTo>
                  <a:pt x="42644" y="603250"/>
                  <a:pt x="0" y="560606"/>
                  <a:pt x="0" y="508003"/>
                </a:cubicBezTo>
                <a:lnTo>
                  <a:pt x="0" y="95247"/>
                </a:lnTo>
                <a:cubicBezTo>
                  <a:pt x="0" y="42644"/>
                  <a:pt x="42644" y="0"/>
                  <a:pt x="95247" y="0"/>
                </a:cubicBezTo>
                <a:close/>
              </a:path>
            </a:pathLst>
          </a:custGeom>
          <a:solidFill>
            <a:srgbClr val="0071E3">
              <a:alpha val="5098"/>
            </a:srgbClr>
          </a:solidFill>
          <a:ln/>
        </p:spPr>
      </p:sp>
      <p:sp>
        <p:nvSpPr>
          <p:cNvPr id="8" name="Shape 6"/>
          <p:cNvSpPr/>
          <p:nvPr/>
        </p:nvSpPr>
        <p:spPr>
          <a:xfrm>
            <a:off x="650214" y="2164294"/>
            <a:ext cx="178594" cy="158750"/>
          </a:xfrm>
          <a:custGeom>
            <a:avLst/>
            <a:gdLst/>
            <a:ahLst/>
            <a:cxnLst/>
            <a:rect l="l" t="t" r="r" b="b"/>
            <a:pathLst>
              <a:path w="178594" h="158750">
                <a:moveTo>
                  <a:pt x="97048" y="27037"/>
                </a:moveTo>
                <a:cubicBezTo>
                  <a:pt x="99901" y="24774"/>
                  <a:pt x="101699" y="21270"/>
                  <a:pt x="101699" y="17363"/>
                </a:cubicBezTo>
                <a:cubicBezTo>
                  <a:pt x="101699" y="10511"/>
                  <a:pt x="96149" y="4961"/>
                  <a:pt x="89297" y="4961"/>
                </a:cubicBezTo>
                <a:cubicBezTo>
                  <a:pt x="82445" y="4961"/>
                  <a:pt x="76895" y="10511"/>
                  <a:pt x="76895" y="17363"/>
                </a:cubicBezTo>
                <a:cubicBezTo>
                  <a:pt x="76895" y="21270"/>
                  <a:pt x="78724" y="24774"/>
                  <a:pt x="81545" y="27037"/>
                </a:cubicBezTo>
                <a:lnTo>
                  <a:pt x="60337" y="60399"/>
                </a:lnTo>
                <a:cubicBezTo>
                  <a:pt x="57237" y="65267"/>
                  <a:pt x="50633" y="66477"/>
                  <a:pt x="46013" y="63004"/>
                </a:cubicBezTo>
                <a:lnTo>
                  <a:pt x="27564" y="49206"/>
                </a:lnTo>
                <a:cubicBezTo>
                  <a:pt x="28959" y="47222"/>
                  <a:pt x="29766" y="44772"/>
                  <a:pt x="29766" y="42168"/>
                </a:cubicBezTo>
                <a:cubicBezTo>
                  <a:pt x="29766" y="35316"/>
                  <a:pt x="24216" y="29766"/>
                  <a:pt x="17363" y="29766"/>
                </a:cubicBezTo>
                <a:cubicBezTo>
                  <a:pt x="10511" y="29766"/>
                  <a:pt x="4961" y="35316"/>
                  <a:pt x="4961" y="42168"/>
                </a:cubicBezTo>
                <a:cubicBezTo>
                  <a:pt x="4961" y="48927"/>
                  <a:pt x="10387" y="54446"/>
                  <a:pt x="17115" y="54570"/>
                </a:cubicBezTo>
                <a:lnTo>
                  <a:pt x="27223" y="122008"/>
                </a:lnTo>
                <a:cubicBezTo>
                  <a:pt x="28680" y="131713"/>
                  <a:pt x="37021" y="138906"/>
                  <a:pt x="46850" y="138906"/>
                </a:cubicBezTo>
                <a:lnTo>
                  <a:pt x="131744" y="138906"/>
                </a:lnTo>
                <a:cubicBezTo>
                  <a:pt x="141573" y="138906"/>
                  <a:pt x="149913" y="131713"/>
                  <a:pt x="151371" y="122008"/>
                </a:cubicBezTo>
                <a:lnTo>
                  <a:pt x="161479" y="54570"/>
                </a:lnTo>
                <a:cubicBezTo>
                  <a:pt x="168207" y="54446"/>
                  <a:pt x="173633" y="48927"/>
                  <a:pt x="173633" y="42168"/>
                </a:cubicBezTo>
                <a:cubicBezTo>
                  <a:pt x="173633" y="35316"/>
                  <a:pt x="168083" y="29766"/>
                  <a:pt x="161230" y="29766"/>
                </a:cubicBezTo>
                <a:cubicBezTo>
                  <a:pt x="154378" y="29766"/>
                  <a:pt x="148828" y="35316"/>
                  <a:pt x="148828" y="42168"/>
                </a:cubicBezTo>
                <a:cubicBezTo>
                  <a:pt x="148828" y="44772"/>
                  <a:pt x="149634" y="47222"/>
                  <a:pt x="151030" y="49206"/>
                </a:cubicBezTo>
                <a:lnTo>
                  <a:pt x="132612" y="63035"/>
                </a:lnTo>
                <a:cubicBezTo>
                  <a:pt x="127992" y="66508"/>
                  <a:pt x="121388" y="65298"/>
                  <a:pt x="118287" y="60430"/>
                </a:cubicBezTo>
                <a:lnTo>
                  <a:pt x="97048" y="27037"/>
                </a:lnTo>
                <a:close/>
              </a:path>
            </a:pathLst>
          </a:custGeom>
          <a:solidFill>
            <a:srgbClr val="0071E3"/>
          </a:solidFill>
          <a:ln/>
        </p:spPr>
      </p:sp>
      <p:sp>
        <p:nvSpPr>
          <p:cNvPr id="9" name="Text 7"/>
          <p:cNvSpPr/>
          <p:nvPr/>
        </p:nvSpPr>
        <p:spPr>
          <a:xfrm>
            <a:off x="933979" y="2069044"/>
            <a:ext cx="1277938" cy="190500"/>
          </a:xfrm>
          <a:prstGeom prst="rect">
            <a:avLst/>
          </a:prstGeom>
          <a:noFill/>
          <a:ln/>
        </p:spPr>
        <p:txBody>
          <a:bodyPr wrap="square" lIns="0" tIns="0" rIns="0" bIns="0" rtlCol="0" anchor="ctr"/>
          <a:lstStyle/>
          <a:p>
            <a:pPr>
              <a:lnSpc>
                <a:spcPct val="130000"/>
              </a:lnSpc>
            </a:pPr>
            <a:r>
              <a:rPr lang="en-US" sz="1000" b="1" dirty="0">
                <a:solidFill>
                  <a:srgbClr val="1D1D1F"/>
                </a:solidFill>
                <a:latin typeface="Liter" pitchFamily="34" charset="0"/>
                <a:ea typeface="Liter" pitchFamily="34" charset="-122"/>
                <a:cs typeface="Liter" pitchFamily="34" charset="-120"/>
              </a:rPr>
              <a:t>Paid User Revenue</a:t>
            </a:r>
            <a:endParaRPr lang="en-US" sz="1600" dirty="0"/>
          </a:p>
        </p:txBody>
      </p:sp>
      <p:sp>
        <p:nvSpPr>
          <p:cNvPr id="10" name="Text 8"/>
          <p:cNvSpPr/>
          <p:nvPr/>
        </p:nvSpPr>
        <p:spPr>
          <a:xfrm>
            <a:off x="933979" y="2259544"/>
            <a:ext cx="1270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Monthly subscription fee</a:t>
            </a:r>
            <a:endParaRPr lang="en-US" sz="1600" dirty="0"/>
          </a:p>
        </p:txBody>
      </p:sp>
      <p:sp>
        <p:nvSpPr>
          <p:cNvPr id="11" name="Text 9"/>
          <p:cNvSpPr/>
          <p:nvPr/>
        </p:nvSpPr>
        <p:spPr>
          <a:xfrm>
            <a:off x="3929889" y="2116669"/>
            <a:ext cx="547688" cy="254000"/>
          </a:xfrm>
          <a:prstGeom prst="rect">
            <a:avLst/>
          </a:prstGeom>
          <a:noFill/>
          <a:ln/>
        </p:spPr>
        <p:txBody>
          <a:bodyPr wrap="square" lIns="0" tIns="0" rIns="0" bIns="0" rtlCol="0" anchor="ctr"/>
          <a:lstStyle/>
          <a:p>
            <a:pPr>
              <a:lnSpc>
                <a:spcPct val="110000"/>
              </a:lnSpc>
            </a:pPr>
            <a:r>
              <a:rPr lang="en-US" sz="1500" b="1" dirty="0">
                <a:solidFill>
                  <a:srgbClr val="0071E3"/>
                </a:solidFill>
                <a:latin typeface="Liter" pitchFamily="34" charset="0"/>
                <a:ea typeface="Liter" pitchFamily="34" charset="-122"/>
                <a:cs typeface="Liter" pitchFamily="34" charset="-120"/>
              </a:rPr>
              <a:t>$3</a:t>
            </a:r>
            <a:r>
              <a:rPr lang="en-US" sz="1000" dirty="0">
                <a:solidFill>
                  <a:srgbClr val="0071E3"/>
                </a:solidFill>
                <a:latin typeface="Liter" pitchFamily="34" charset="0"/>
                <a:ea typeface="Liter" pitchFamily="34" charset="-122"/>
                <a:cs typeface="Liter" pitchFamily="34" charset="-120"/>
              </a:rPr>
              <a:t>/mo</a:t>
            </a:r>
            <a:endParaRPr lang="en-US" sz="1600" dirty="0"/>
          </a:p>
        </p:txBody>
      </p:sp>
      <p:sp>
        <p:nvSpPr>
          <p:cNvPr id="12" name="Shape 10"/>
          <p:cNvSpPr/>
          <p:nvPr/>
        </p:nvSpPr>
        <p:spPr>
          <a:xfrm>
            <a:off x="513292" y="2672294"/>
            <a:ext cx="4000500" cy="603250"/>
          </a:xfrm>
          <a:custGeom>
            <a:avLst/>
            <a:gdLst/>
            <a:ahLst/>
            <a:cxnLst/>
            <a:rect l="l" t="t" r="r" b="b"/>
            <a:pathLst>
              <a:path w="4000500" h="603250">
                <a:moveTo>
                  <a:pt x="95247" y="0"/>
                </a:moveTo>
                <a:lnTo>
                  <a:pt x="3905253" y="0"/>
                </a:lnTo>
                <a:cubicBezTo>
                  <a:pt x="3957856" y="0"/>
                  <a:pt x="4000500" y="42644"/>
                  <a:pt x="4000500" y="95247"/>
                </a:cubicBezTo>
                <a:lnTo>
                  <a:pt x="4000500" y="508003"/>
                </a:lnTo>
                <a:cubicBezTo>
                  <a:pt x="4000500" y="560606"/>
                  <a:pt x="3957856" y="603250"/>
                  <a:pt x="3905253" y="603250"/>
                </a:cubicBezTo>
                <a:lnTo>
                  <a:pt x="95247" y="603250"/>
                </a:lnTo>
                <a:cubicBezTo>
                  <a:pt x="42644" y="603250"/>
                  <a:pt x="0" y="560606"/>
                  <a:pt x="0" y="508003"/>
                </a:cubicBezTo>
                <a:lnTo>
                  <a:pt x="0" y="95247"/>
                </a:lnTo>
                <a:cubicBezTo>
                  <a:pt x="0" y="42644"/>
                  <a:pt x="42644" y="0"/>
                  <a:pt x="95247" y="0"/>
                </a:cubicBezTo>
                <a:close/>
              </a:path>
            </a:pathLst>
          </a:custGeom>
          <a:solidFill>
            <a:srgbClr val="86868B">
              <a:alpha val="5098"/>
            </a:srgbClr>
          </a:solidFill>
          <a:ln/>
        </p:spPr>
      </p:sp>
      <p:sp>
        <p:nvSpPr>
          <p:cNvPr id="13" name="Shape 11"/>
          <p:cNvSpPr/>
          <p:nvPr/>
        </p:nvSpPr>
        <p:spPr>
          <a:xfrm>
            <a:off x="660135" y="2894544"/>
            <a:ext cx="158750" cy="158750"/>
          </a:xfrm>
          <a:custGeom>
            <a:avLst/>
            <a:gdLst/>
            <a:ahLst/>
            <a:cxnLst/>
            <a:rect l="l" t="t" r="r" b="b"/>
            <a:pathLst>
              <a:path w="158750" h="158750">
                <a:moveTo>
                  <a:pt x="19844" y="19844"/>
                </a:moveTo>
                <a:cubicBezTo>
                  <a:pt x="8899" y="19844"/>
                  <a:pt x="0" y="28742"/>
                  <a:pt x="0" y="39688"/>
                </a:cubicBezTo>
                <a:lnTo>
                  <a:pt x="0" y="119062"/>
                </a:lnTo>
                <a:cubicBezTo>
                  <a:pt x="0" y="130008"/>
                  <a:pt x="8899" y="138906"/>
                  <a:pt x="19844" y="138906"/>
                </a:cubicBezTo>
                <a:lnTo>
                  <a:pt x="138906" y="138906"/>
                </a:lnTo>
                <a:cubicBezTo>
                  <a:pt x="149851" y="138906"/>
                  <a:pt x="158750" y="130008"/>
                  <a:pt x="158750" y="119062"/>
                </a:cubicBezTo>
                <a:lnTo>
                  <a:pt x="158750" y="39688"/>
                </a:lnTo>
                <a:cubicBezTo>
                  <a:pt x="158750" y="28742"/>
                  <a:pt x="149851" y="19844"/>
                  <a:pt x="138906" y="19844"/>
                </a:cubicBezTo>
                <a:lnTo>
                  <a:pt x="19844" y="19844"/>
                </a:lnTo>
                <a:close/>
                <a:moveTo>
                  <a:pt x="128984" y="57051"/>
                </a:moveTo>
                <a:lnTo>
                  <a:pt x="128984" y="101699"/>
                </a:lnTo>
                <a:cubicBezTo>
                  <a:pt x="128984" y="105823"/>
                  <a:pt x="125667" y="109141"/>
                  <a:pt x="121543" y="109141"/>
                </a:cubicBezTo>
                <a:cubicBezTo>
                  <a:pt x="119342" y="109141"/>
                  <a:pt x="117357" y="108179"/>
                  <a:pt x="115993" y="106660"/>
                </a:cubicBezTo>
                <a:cubicBezTo>
                  <a:pt x="112830" y="108241"/>
                  <a:pt x="109234" y="109141"/>
                  <a:pt x="105420" y="109141"/>
                </a:cubicBezTo>
                <a:cubicBezTo>
                  <a:pt x="92397" y="109141"/>
                  <a:pt x="81855" y="98599"/>
                  <a:pt x="81855" y="85576"/>
                </a:cubicBezTo>
                <a:cubicBezTo>
                  <a:pt x="81855" y="72554"/>
                  <a:pt x="92397" y="62012"/>
                  <a:pt x="105420" y="62012"/>
                </a:cubicBezTo>
                <a:cubicBezTo>
                  <a:pt x="108490" y="62012"/>
                  <a:pt x="111404" y="62601"/>
                  <a:pt x="114102" y="63655"/>
                </a:cubicBezTo>
                <a:lnTo>
                  <a:pt x="114102" y="57051"/>
                </a:lnTo>
                <a:cubicBezTo>
                  <a:pt x="114102" y="52927"/>
                  <a:pt x="117419" y="49609"/>
                  <a:pt x="121543" y="49609"/>
                </a:cubicBezTo>
                <a:cubicBezTo>
                  <a:pt x="125667" y="49609"/>
                  <a:pt x="128984" y="52927"/>
                  <a:pt x="128984" y="57051"/>
                </a:cubicBezTo>
                <a:close/>
                <a:moveTo>
                  <a:pt x="114102" y="85576"/>
                </a:moveTo>
                <a:cubicBezTo>
                  <a:pt x="114102" y="80785"/>
                  <a:pt x="110211" y="76895"/>
                  <a:pt x="105420" y="76895"/>
                </a:cubicBezTo>
                <a:cubicBezTo>
                  <a:pt x="100628" y="76895"/>
                  <a:pt x="96738" y="80785"/>
                  <a:pt x="96738" y="85576"/>
                </a:cubicBezTo>
                <a:cubicBezTo>
                  <a:pt x="96738" y="90368"/>
                  <a:pt x="100628" y="94258"/>
                  <a:pt x="105420" y="94258"/>
                </a:cubicBezTo>
                <a:cubicBezTo>
                  <a:pt x="110211" y="94258"/>
                  <a:pt x="114102" y="90368"/>
                  <a:pt x="114102" y="85576"/>
                </a:cubicBezTo>
                <a:close/>
                <a:moveTo>
                  <a:pt x="49609" y="64492"/>
                </a:moveTo>
                <a:cubicBezTo>
                  <a:pt x="46881" y="64492"/>
                  <a:pt x="44648" y="66725"/>
                  <a:pt x="44648" y="69453"/>
                </a:cubicBezTo>
                <a:lnTo>
                  <a:pt x="44648" y="79375"/>
                </a:lnTo>
                <a:lnTo>
                  <a:pt x="59531" y="79375"/>
                </a:lnTo>
                <a:lnTo>
                  <a:pt x="59531" y="69453"/>
                </a:lnTo>
                <a:cubicBezTo>
                  <a:pt x="59531" y="66725"/>
                  <a:pt x="57299" y="64492"/>
                  <a:pt x="54570" y="64492"/>
                </a:cubicBezTo>
                <a:lnTo>
                  <a:pt x="49609" y="64492"/>
                </a:lnTo>
                <a:close/>
                <a:moveTo>
                  <a:pt x="59531" y="94258"/>
                </a:moveTo>
                <a:lnTo>
                  <a:pt x="44648" y="94258"/>
                </a:lnTo>
                <a:lnTo>
                  <a:pt x="44648" y="101699"/>
                </a:lnTo>
                <a:cubicBezTo>
                  <a:pt x="44648" y="105823"/>
                  <a:pt x="41331" y="109141"/>
                  <a:pt x="37207" y="109141"/>
                </a:cubicBezTo>
                <a:cubicBezTo>
                  <a:pt x="33083" y="109141"/>
                  <a:pt x="29766" y="105823"/>
                  <a:pt x="29766" y="101699"/>
                </a:cubicBezTo>
                <a:lnTo>
                  <a:pt x="29766" y="69453"/>
                </a:lnTo>
                <a:cubicBezTo>
                  <a:pt x="29766" y="58508"/>
                  <a:pt x="38664" y="49609"/>
                  <a:pt x="49609" y="49609"/>
                </a:cubicBezTo>
                <a:lnTo>
                  <a:pt x="54570" y="49609"/>
                </a:lnTo>
                <a:cubicBezTo>
                  <a:pt x="65515" y="49609"/>
                  <a:pt x="74414" y="58508"/>
                  <a:pt x="74414" y="69453"/>
                </a:cubicBezTo>
                <a:lnTo>
                  <a:pt x="74414" y="101699"/>
                </a:lnTo>
                <a:cubicBezTo>
                  <a:pt x="74414" y="105823"/>
                  <a:pt x="71096" y="109141"/>
                  <a:pt x="66973" y="109141"/>
                </a:cubicBezTo>
                <a:cubicBezTo>
                  <a:pt x="62849" y="109141"/>
                  <a:pt x="59531" y="105823"/>
                  <a:pt x="59531" y="101699"/>
                </a:cubicBezTo>
                <a:lnTo>
                  <a:pt x="59531" y="94258"/>
                </a:lnTo>
                <a:close/>
              </a:path>
            </a:pathLst>
          </a:custGeom>
          <a:solidFill>
            <a:srgbClr val="86868B"/>
          </a:solidFill>
          <a:ln/>
        </p:spPr>
      </p:sp>
      <p:sp>
        <p:nvSpPr>
          <p:cNvPr id="14" name="Text 12"/>
          <p:cNvSpPr/>
          <p:nvPr/>
        </p:nvSpPr>
        <p:spPr>
          <a:xfrm>
            <a:off x="933979" y="2799294"/>
            <a:ext cx="1293813" cy="190500"/>
          </a:xfrm>
          <a:prstGeom prst="rect">
            <a:avLst/>
          </a:prstGeom>
          <a:noFill/>
          <a:ln/>
        </p:spPr>
        <p:txBody>
          <a:bodyPr wrap="square" lIns="0" tIns="0" rIns="0" bIns="0" rtlCol="0" anchor="ctr"/>
          <a:lstStyle/>
          <a:p>
            <a:pPr>
              <a:lnSpc>
                <a:spcPct val="130000"/>
              </a:lnSpc>
            </a:pPr>
            <a:r>
              <a:rPr lang="en-US" sz="1000" b="1" dirty="0">
                <a:solidFill>
                  <a:srgbClr val="1D1D1F"/>
                </a:solidFill>
                <a:latin typeface="Liter" pitchFamily="34" charset="0"/>
                <a:ea typeface="Liter" pitchFamily="34" charset="-122"/>
                <a:cs typeface="Liter" pitchFamily="34" charset="-120"/>
              </a:rPr>
              <a:t>Free User Ad Revenue</a:t>
            </a:r>
            <a:endParaRPr lang="en-US" sz="1600" dirty="0"/>
          </a:p>
        </p:txBody>
      </p:sp>
      <p:sp>
        <p:nvSpPr>
          <p:cNvPr id="15" name="Text 13"/>
          <p:cNvSpPr/>
          <p:nvPr/>
        </p:nvSpPr>
        <p:spPr>
          <a:xfrm>
            <a:off x="933979" y="2989794"/>
            <a:ext cx="12858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Ad-supported tier</a:t>
            </a:r>
            <a:endParaRPr lang="en-US" sz="1600" dirty="0"/>
          </a:p>
        </p:txBody>
      </p:sp>
      <p:sp>
        <p:nvSpPr>
          <p:cNvPr id="16" name="Text 14"/>
          <p:cNvSpPr/>
          <p:nvPr/>
        </p:nvSpPr>
        <p:spPr>
          <a:xfrm>
            <a:off x="3580309" y="2846919"/>
            <a:ext cx="896938" cy="254000"/>
          </a:xfrm>
          <a:prstGeom prst="rect">
            <a:avLst/>
          </a:prstGeom>
          <a:noFill/>
          <a:ln/>
        </p:spPr>
        <p:txBody>
          <a:bodyPr wrap="square" lIns="0" tIns="0" rIns="0" bIns="0" rtlCol="0" anchor="ctr"/>
          <a:lstStyle/>
          <a:p>
            <a:pPr>
              <a:lnSpc>
                <a:spcPct val="110000"/>
              </a:lnSpc>
            </a:pPr>
            <a:r>
              <a:rPr lang="en-US" sz="1500" b="1" dirty="0">
                <a:solidFill>
                  <a:srgbClr val="86868B"/>
                </a:solidFill>
                <a:latin typeface="Liter" pitchFamily="34" charset="0"/>
                <a:ea typeface="Liter" pitchFamily="34" charset="-122"/>
                <a:cs typeface="Liter" pitchFamily="34" charset="-120"/>
              </a:rPr>
              <a:t>$0.125</a:t>
            </a:r>
            <a:r>
              <a:rPr lang="en-US" sz="1000" dirty="0">
                <a:solidFill>
                  <a:srgbClr val="86868B"/>
                </a:solidFill>
                <a:latin typeface="Liter" pitchFamily="34" charset="0"/>
                <a:ea typeface="Liter" pitchFamily="34" charset="-122"/>
                <a:cs typeface="Liter" pitchFamily="34" charset="-120"/>
              </a:rPr>
              <a:t>/mo</a:t>
            </a:r>
            <a:endParaRPr lang="en-US" sz="1600" dirty="0"/>
          </a:p>
        </p:txBody>
      </p:sp>
      <p:sp>
        <p:nvSpPr>
          <p:cNvPr id="17" name="Shape 15"/>
          <p:cNvSpPr/>
          <p:nvPr/>
        </p:nvSpPr>
        <p:spPr>
          <a:xfrm>
            <a:off x="513292" y="3402544"/>
            <a:ext cx="4000500" cy="603250"/>
          </a:xfrm>
          <a:custGeom>
            <a:avLst/>
            <a:gdLst/>
            <a:ahLst/>
            <a:cxnLst/>
            <a:rect l="l" t="t" r="r" b="b"/>
            <a:pathLst>
              <a:path w="4000500" h="603250">
                <a:moveTo>
                  <a:pt x="95247" y="0"/>
                </a:moveTo>
                <a:lnTo>
                  <a:pt x="3905253" y="0"/>
                </a:lnTo>
                <a:cubicBezTo>
                  <a:pt x="3957856" y="0"/>
                  <a:pt x="4000500" y="42644"/>
                  <a:pt x="4000500" y="95247"/>
                </a:cubicBezTo>
                <a:lnTo>
                  <a:pt x="4000500" y="508003"/>
                </a:lnTo>
                <a:cubicBezTo>
                  <a:pt x="4000500" y="560606"/>
                  <a:pt x="3957856" y="603250"/>
                  <a:pt x="3905253" y="603250"/>
                </a:cubicBezTo>
                <a:lnTo>
                  <a:pt x="95247" y="603250"/>
                </a:lnTo>
                <a:cubicBezTo>
                  <a:pt x="42644" y="603250"/>
                  <a:pt x="0" y="560606"/>
                  <a:pt x="0" y="508003"/>
                </a:cubicBezTo>
                <a:lnTo>
                  <a:pt x="0" y="95247"/>
                </a:lnTo>
                <a:cubicBezTo>
                  <a:pt x="0" y="42644"/>
                  <a:pt x="42644" y="0"/>
                  <a:pt x="95247" y="0"/>
                </a:cubicBezTo>
                <a:close/>
              </a:path>
            </a:pathLst>
          </a:custGeom>
          <a:solidFill>
            <a:srgbClr val="0071E3">
              <a:alpha val="5098"/>
            </a:srgbClr>
          </a:solidFill>
          <a:ln/>
        </p:spPr>
      </p:sp>
      <p:sp>
        <p:nvSpPr>
          <p:cNvPr id="18" name="Shape 16"/>
          <p:cNvSpPr/>
          <p:nvPr/>
        </p:nvSpPr>
        <p:spPr>
          <a:xfrm>
            <a:off x="660135" y="3624794"/>
            <a:ext cx="158750" cy="158750"/>
          </a:xfrm>
          <a:custGeom>
            <a:avLst/>
            <a:gdLst/>
            <a:ahLst/>
            <a:cxnLst/>
            <a:rect l="l" t="t" r="r" b="b"/>
            <a:pathLst>
              <a:path w="158750" h="158750">
                <a:moveTo>
                  <a:pt x="99684" y="21332"/>
                </a:moveTo>
                <a:cubicBezTo>
                  <a:pt x="102040" y="17332"/>
                  <a:pt x="106319" y="14883"/>
                  <a:pt x="110939" y="14883"/>
                </a:cubicBezTo>
                <a:lnTo>
                  <a:pt x="111621" y="14883"/>
                </a:lnTo>
                <a:cubicBezTo>
                  <a:pt x="118473" y="14883"/>
                  <a:pt x="124023" y="20433"/>
                  <a:pt x="124023" y="27285"/>
                </a:cubicBezTo>
                <a:cubicBezTo>
                  <a:pt x="124023" y="34137"/>
                  <a:pt x="118473" y="39688"/>
                  <a:pt x="111621" y="39688"/>
                </a:cubicBezTo>
                <a:lnTo>
                  <a:pt x="88894" y="39688"/>
                </a:lnTo>
                <a:lnTo>
                  <a:pt x="99684" y="21332"/>
                </a:lnTo>
                <a:close/>
                <a:moveTo>
                  <a:pt x="59066" y="21332"/>
                </a:moveTo>
                <a:lnTo>
                  <a:pt x="69856" y="39688"/>
                </a:lnTo>
                <a:lnTo>
                  <a:pt x="47129" y="39688"/>
                </a:lnTo>
                <a:cubicBezTo>
                  <a:pt x="40277" y="39688"/>
                  <a:pt x="34727" y="34137"/>
                  <a:pt x="34727" y="27285"/>
                </a:cubicBezTo>
                <a:cubicBezTo>
                  <a:pt x="34727" y="20433"/>
                  <a:pt x="40277" y="14883"/>
                  <a:pt x="47129" y="14883"/>
                </a:cubicBezTo>
                <a:lnTo>
                  <a:pt x="47811" y="14883"/>
                </a:lnTo>
                <a:cubicBezTo>
                  <a:pt x="52431" y="14883"/>
                  <a:pt x="56741" y="17332"/>
                  <a:pt x="59066" y="21332"/>
                </a:cubicBezTo>
                <a:close/>
                <a:moveTo>
                  <a:pt x="86847" y="13798"/>
                </a:moveTo>
                <a:lnTo>
                  <a:pt x="79375" y="26510"/>
                </a:lnTo>
                <a:lnTo>
                  <a:pt x="71903" y="13798"/>
                </a:lnTo>
                <a:cubicBezTo>
                  <a:pt x="66880" y="5240"/>
                  <a:pt x="57702" y="0"/>
                  <a:pt x="47811" y="0"/>
                </a:cubicBezTo>
                <a:lnTo>
                  <a:pt x="47129" y="0"/>
                </a:lnTo>
                <a:cubicBezTo>
                  <a:pt x="32060" y="0"/>
                  <a:pt x="19844" y="12216"/>
                  <a:pt x="19844" y="27285"/>
                </a:cubicBezTo>
                <a:cubicBezTo>
                  <a:pt x="19844" y="31750"/>
                  <a:pt x="20929" y="35967"/>
                  <a:pt x="22820" y="39688"/>
                </a:cubicBezTo>
                <a:lnTo>
                  <a:pt x="9922" y="39688"/>
                </a:lnTo>
                <a:cubicBezTo>
                  <a:pt x="4434" y="39688"/>
                  <a:pt x="0" y="44121"/>
                  <a:pt x="0" y="49609"/>
                </a:cubicBezTo>
                <a:lnTo>
                  <a:pt x="0" y="59531"/>
                </a:lnTo>
                <a:cubicBezTo>
                  <a:pt x="0" y="65019"/>
                  <a:pt x="4434" y="69453"/>
                  <a:pt x="9922" y="69453"/>
                </a:cubicBezTo>
                <a:lnTo>
                  <a:pt x="148828" y="69453"/>
                </a:lnTo>
                <a:cubicBezTo>
                  <a:pt x="154316" y="69453"/>
                  <a:pt x="158750" y="65019"/>
                  <a:pt x="158750" y="59531"/>
                </a:cubicBezTo>
                <a:lnTo>
                  <a:pt x="158750" y="49609"/>
                </a:lnTo>
                <a:cubicBezTo>
                  <a:pt x="158750" y="44121"/>
                  <a:pt x="154316" y="39688"/>
                  <a:pt x="148828" y="39688"/>
                </a:cubicBezTo>
                <a:lnTo>
                  <a:pt x="135930" y="39688"/>
                </a:lnTo>
                <a:cubicBezTo>
                  <a:pt x="137821" y="35967"/>
                  <a:pt x="138906" y="31750"/>
                  <a:pt x="138906" y="27285"/>
                </a:cubicBezTo>
                <a:cubicBezTo>
                  <a:pt x="138906" y="12216"/>
                  <a:pt x="126690" y="0"/>
                  <a:pt x="111621" y="0"/>
                </a:cubicBezTo>
                <a:lnTo>
                  <a:pt x="110939" y="0"/>
                </a:lnTo>
                <a:cubicBezTo>
                  <a:pt x="101048" y="0"/>
                  <a:pt x="91870" y="5240"/>
                  <a:pt x="86847" y="13767"/>
                </a:cubicBezTo>
                <a:close/>
                <a:moveTo>
                  <a:pt x="148828" y="84336"/>
                </a:moveTo>
                <a:lnTo>
                  <a:pt x="86816" y="84336"/>
                </a:lnTo>
                <a:lnTo>
                  <a:pt x="86816" y="148828"/>
                </a:lnTo>
                <a:lnTo>
                  <a:pt x="128984" y="148828"/>
                </a:lnTo>
                <a:cubicBezTo>
                  <a:pt x="139929" y="148828"/>
                  <a:pt x="148828" y="139929"/>
                  <a:pt x="148828" y="128984"/>
                </a:cubicBezTo>
                <a:lnTo>
                  <a:pt x="148828" y="84336"/>
                </a:lnTo>
                <a:close/>
                <a:moveTo>
                  <a:pt x="71934" y="84336"/>
                </a:moveTo>
                <a:lnTo>
                  <a:pt x="9922" y="84336"/>
                </a:lnTo>
                <a:lnTo>
                  <a:pt x="9922" y="128984"/>
                </a:lnTo>
                <a:cubicBezTo>
                  <a:pt x="9922" y="139929"/>
                  <a:pt x="18821" y="148828"/>
                  <a:pt x="29766" y="148828"/>
                </a:cubicBezTo>
                <a:lnTo>
                  <a:pt x="71934" y="148828"/>
                </a:lnTo>
                <a:lnTo>
                  <a:pt x="71934" y="84336"/>
                </a:lnTo>
                <a:close/>
              </a:path>
            </a:pathLst>
          </a:custGeom>
          <a:solidFill>
            <a:srgbClr val="0071E3"/>
          </a:solidFill>
          <a:ln/>
        </p:spPr>
      </p:sp>
      <p:sp>
        <p:nvSpPr>
          <p:cNvPr id="19" name="Text 17"/>
          <p:cNvSpPr/>
          <p:nvPr/>
        </p:nvSpPr>
        <p:spPr>
          <a:xfrm>
            <a:off x="933979" y="3529544"/>
            <a:ext cx="1063625" cy="190500"/>
          </a:xfrm>
          <a:prstGeom prst="rect">
            <a:avLst/>
          </a:prstGeom>
          <a:noFill/>
          <a:ln/>
        </p:spPr>
        <p:txBody>
          <a:bodyPr wrap="square" lIns="0" tIns="0" rIns="0" bIns="0" rtlCol="0" anchor="ctr"/>
          <a:lstStyle/>
          <a:p>
            <a:pPr>
              <a:lnSpc>
                <a:spcPct val="130000"/>
              </a:lnSpc>
            </a:pPr>
            <a:r>
              <a:rPr lang="en-US" sz="1000" b="1" dirty="0">
                <a:solidFill>
                  <a:srgbClr val="1D1D1F"/>
                </a:solidFill>
                <a:latin typeface="Liter" pitchFamily="34" charset="0"/>
                <a:ea typeface="Liter" pitchFamily="34" charset="-122"/>
                <a:cs typeface="Liter" pitchFamily="34" charset="-120"/>
              </a:rPr>
              <a:t>Promotional Offer</a:t>
            </a:r>
            <a:endParaRPr lang="en-US" sz="1600" dirty="0"/>
          </a:p>
        </p:txBody>
      </p:sp>
      <p:sp>
        <p:nvSpPr>
          <p:cNvPr id="20" name="Text 18"/>
          <p:cNvSpPr/>
          <p:nvPr/>
        </p:nvSpPr>
        <p:spPr>
          <a:xfrm>
            <a:off x="933979" y="3720044"/>
            <a:ext cx="1055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Free trial period</a:t>
            </a:r>
            <a:endParaRPr lang="en-US" sz="1600" dirty="0"/>
          </a:p>
        </p:txBody>
      </p:sp>
      <p:sp>
        <p:nvSpPr>
          <p:cNvPr id="21" name="Text 19"/>
          <p:cNvSpPr/>
          <p:nvPr/>
        </p:nvSpPr>
        <p:spPr>
          <a:xfrm>
            <a:off x="3966270" y="3577169"/>
            <a:ext cx="515938" cy="254000"/>
          </a:xfrm>
          <a:prstGeom prst="rect">
            <a:avLst/>
          </a:prstGeom>
          <a:noFill/>
          <a:ln/>
        </p:spPr>
        <p:txBody>
          <a:bodyPr wrap="square" lIns="0" tIns="0" rIns="0" bIns="0" rtlCol="0" anchor="ctr"/>
          <a:lstStyle/>
          <a:p>
            <a:pPr>
              <a:lnSpc>
                <a:spcPct val="110000"/>
              </a:lnSpc>
            </a:pPr>
            <a:r>
              <a:rPr lang="en-US" sz="1500" b="1" dirty="0">
                <a:solidFill>
                  <a:srgbClr val="0071E3"/>
                </a:solidFill>
                <a:latin typeface="Liter" pitchFamily="34" charset="0"/>
                <a:ea typeface="Liter" pitchFamily="34" charset="-122"/>
                <a:cs typeface="Liter" pitchFamily="34" charset="-120"/>
              </a:rPr>
              <a:t>3 mo</a:t>
            </a:r>
            <a:endParaRPr lang="en-US" sz="1600" dirty="0"/>
          </a:p>
        </p:txBody>
      </p:sp>
      <p:sp>
        <p:nvSpPr>
          <p:cNvPr id="22" name="Shape 20"/>
          <p:cNvSpPr/>
          <p:nvPr/>
        </p:nvSpPr>
        <p:spPr>
          <a:xfrm>
            <a:off x="513292" y="4132794"/>
            <a:ext cx="4000500" cy="603250"/>
          </a:xfrm>
          <a:custGeom>
            <a:avLst/>
            <a:gdLst/>
            <a:ahLst/>
            <a:cxnLst/>
            <a:rect l="l" t="t" r="r" b="b"/>
            <a:pathLst>
              <a:path w="4000500" h="603250">
                <a:moveTo>
                  <a:pt x="95247" y="0"/>
                </a:moveTo>
                <a:lnTo>
                  <a:pt x="3905253" y="0"/>
                </a:lnTo>
                <a:cubicBezTo>
                  <a:pt x="3957856" y="0"/>
                  <a:pt x="4000500" y="42644"/>
                  <a:pt x="4000500" y="95247"/>
                </a:cubicBezTo>
                <a:lnTo>
                  <a:pt x="4000500" y="508003"/>
                </a:lnTo>
                <a:cubicBezTo>
                  <a:pt x="4000500" y="560606"/>
                  <a:pt x="3957856" y="603250"/>
                  <a:pt x="3905253" y="603250"/>
                </a:cubicBezTo>
                <a:lnTo>
                  <a:pt x="95247" y="603250"/>
                </a:lnTo>
                <a:cubicBezTo>
                  <a:pt x="42644" y="603250"/>
                  <a:pt x="0" y="560606"/>
                  <a:pt x="0" y="508003"/>
                </a:cubicBezTo>
                <a:lnTo>
                  <a:pt x="0" y="95247"/>
                </a:lnTo>
                <a:cubicBezTo>
                  <a:pt x="0" y="42644"/>
                  <a:pt x="42644" y="0"/>
                  <a:pt x="95247" y="0"/>
                </a:cubicBezTo>
                <a:close/>
              </a:path>
            </a:pathLst>
          </a:custGeom>
          <a:solidFill>
            <a:srgbClr val="1D1D1F">
              <a:alpha val="5098"/>
            </a:srgbClr>
          </a:solidFill>
          <a:ln/>
        </p:spPr>
      </p:sp>
      <p:sp>
        <p:nvSpPr>
          <p:cNvPr id="23" name="Shape 21"/>
          <p:cNvSpPr/>
          <p:nvPr/>
        </p:nvSpPr>
        <p:spPr>
          <a:xfrm>
            <a:off x="660135" y="4355044"/>
            <a:ext cx="158750" cy="158750"/>
          </a:xfrm>
          <a:custGeom>
            <a:avLst/>
            <a:gdLst/>
            <a:ahLst/>
            <a:cxnLst/>
            <a:rect l="l" t="t" r="r" b="b"/>
            <a:pathLst>
              <a:path w="158750" h="158750">
                <a:moveTo>
                  <a:pt x="135403" y="23161"/>
                </a:moveTo>
                <a:lnTo>
                  <a:pt x="138906" y="26479"/>
                </a:lnTo>
                <a:lnTo>
                  <a:pt x="138906" y="9922"/>
                </a:lnTo>
                <a:cubicBezTo>
                  <a:pt x="138906" y="4434"/>
                  <a:pt x="143340" y="0"/>
                  <a:pt x="148828" y="0"/>
                </a:cubicBezTo>
                <a:cubicBezTo>
                  <a:pt x="154316" y="0"/>
                  <a:pt x="158750" y="4434"/>
                  <a:pt x="158750" y="9922"/>
                </a:cubicBezTo>
                <a:lnTo>
                  <a:pt x="158750" y="49609"/>
                </a:lnTo>
                <a:cubicBezTo>
                  <a:pt x="158750" y="55097"/>
                  <a:pt x="154316" y="59531"/>
                  <a:pt x="148828" y="59531"/>
                </a:cubicBezTo>
                <a:lnTo>
                  <a:pt x="109141" y="59531"/>
                </a:lnTo>
                <a:cubicBezTo>
                  <a:pt x="103653" y="59531"/>
                  <a:pt x="99219" y="55097"/>
                  <a:pt x="99219" y="49609"/>
                </a:cubicBezTo>
                <a:cubicBezTo>
                  <a:pt x="99219" y="44121"/>
                  <a:pt x="103653" y="39688"/>
                  <a:pt x="109141" y="39688"/>
                </a:cubicBezTo>
                <a:lnTo>
                  <a:pt x="123992" y="39688"/>
                </a:lnTo>
                <a:lnTo>
                  <a:pt x="121636" y="37455"/>
                </a:lnTo>
                <a:cubicBezTo>
                  <a:pt x="121574" y="37393"/>
                  <a:pt x="121512" y="37331"/>
                  <a:pt x="121450" y="37269"/>
                </a:cubicBezTo>
                <a:cubicBezTo>
                  <a:pt x="98196" y="14015"/>
                  <a:pt x="60523" y="14015"/>
                  <a:pt x="37269" y="37269"/>
                </a:cubicBezTo>
                <a:cubicBezTo>
                  <a:pt x="14015" y="60523"/>
                  <a:pt x="14015" y="98196"/>
                  <a:pt x="37269" y="121450"/>
                </a:cubicBezTo>
                <a:cubicBezTo>
                  <a:pt x="60523" y="144704"/>
                  <a:pt x="98196" y="144704"/>
                  <a:pt x="121450" y="121450"/>
                </a:cubicBezTo>
                <a:cubicBezTo>
                  <a:pt x="123992" y="118907"/>
                  <a:pt x="126256" y="116210"/>
                  <a:pt x="128240" y="113357"/>
                </a:cubicBezTo>
                <a:cubicBezTo>
                  <a:pt x="131372" y="108862"/>
                  <a:pt x="137573" y="107776"/>
                  <a:pt x="142069" y="110908"/>
                </a:cubicBezTo>
                <a:cubicBezTo>
                  <a:pt x="146565" y="114040"/>
                  <a:pt x="147650" y="120241"/>
                  <a:pt x="144518" y="124737"/>
                </a:cubicBezTo>
                <a:cubicBezTo>
                  <a:pt x="141883" y="128519"/>
                  <a:pt x="138875" y="132116"/>
                  <a:pt x="135496" y="135496"/>
                </a:cubicBezTo>
                <a:cubicBezTo>
                  <a:pt x="104490" y="166501"/>
                  <a:pt x="54229" y="166501"/>
                  <a:pt x="23254" y="135496"/>
                </a:cubicBezTo>
                <a:cubicBezTo>
                  <a:pt x="-7720" y="104490"/>
                  <a:pt x="-7751" y="54260"/>
                  <a:pt x="23254" y="23254"/>
                </a:cubicBezTo>
                <a:cubicBezTo>
                  <a:pt x="54229" y="-7720"/>
                  <a:pt x="104397" y="-7751"/>
                  <a:pt x="135403" y="23161"/>
                </a:cubicBezTo>
                <a:close/>
              </a:path>
            </a:pathLst>
          </a:custGeom>
          <a:solidFill>
            <a:srgbClr val="1D1D1F"/>
          </a:solidFill>
          <a:ln/>
        </p:spPr>
      </p:sp>
      <p:sp>
        <p:nvSpPr>
          <p:cNvPr id="24" name="Text 22"/>
          <p:cNvSpPr/>
          <p:nvPr/>
        </p:nvSpPr>
        <p:spPr>
          <a:xfrm>
            <a:off x="933979" y="4259794"/>
            <a:ext cx="1492250" cy="190500"/>
          </a:xfrm>
          <a:prstGeom prst="rect">
            <a:avLst/>
          </a:prstGeom>
          <a:noFill/>
          <a:ln/>
        </p:spPr>
        <p:txBody>
          <a:bodyPr wrap="square" lIns="0" tIns="0" rIns="0" bIns="0" rtlCol="0" anchor="ctr"/>
          <a:lstStyle/>
          <a:p>
            <a:pPr>
              <a:lnSpc>
                <a:spcPct val="130000"/>
              </a:lnSpc>
            </a:pPr>
            <a:r>
              <a:rPr lang="en-US" sz="1000" b="1" dirty="0">
                <a:solidFill>
                  <a:srgbClr val="1D1D1F"/>
                </a:solidFill>
                <a:latin typeface="Liter" pitchFamily="34" charset="0"/>
                <a:ea typeface="Liter" pitchFamily="34" charset="-122"/>
                <a:cs typeface="Liter" pitchFamily="34" charset="-120"/>
              </a:rPr>
              <a:t>Paid Retention</a:t>
            </a:r>
            <a:endParaRPr lang="en-US" sz="1600" dirty="0"/>
          </a:p>
        </p:txBody>
      </p:sp>
      <p:sp>
        <p:nvSpPr>
          <p:cNvPr id="25" name="Text 23"/>
          <p:cNvSpPr/>
          <p:nvPr/>
        </p:nvSpPr>
        <p:spPr>
          <a:xfrm>
            <a:off x="933979" y="4450294"/>
            <a:ext cx="148431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Liter" pitchFamily="34" charset="0"/>
                <a:ea typeface="Liter" pitchFamily="34" charset="-122"/>
                <a:cs typeface="Liter" pitchFamily="34" charset="-120"/>
              </a:rPr>
              <a:t>Expected subscription length</a:t>
            </a:r>
            <a:endParaRPr lang="en-US" sz="1600" dirty="0"/>
          </a:p>
        </p:txBody>
      </p:sp>
      <p:sp>
        <p:nvSpPr>
          <p:cNvPr id="26" name="Text 24"/>
          <p:cNvSpPr/>
          <p:nvPr/>
        </p:nvSpPr>
        <p:spPr>
          <a:xfrm>
            <a:off x="3891773" y="4307419"/>
            <a:ext cx="587375" cy="254000"/>
          </a:xfrm>
          <a:prstGeom prst="rect">
            <a:avLst/>
          </a:prstGeom>
          <a:noFill/>
          <a:ln/>
        </p:spPr>
        <p:txBody>
          <a:bodyPr wrap="square" lIns="0" tIns="0" rIns="0" bIns="0" rtlCol="0" anchor="ctr"/>
          <a:lstStyle/>
          <a:p>
            <a:pPr>
              <a:lnSpc>
                <a:spcPct val="110000"/>
              </a:lnSpc>
            </a:pPr>
            <a:r>
              <a:rPr lang="en-US" sz="1500" b="1" dirty="0">
                <a:solidFill>
                  <a:srgbClr val="1D1D1F"/>
                </a:solidFill>
                <a:latin typeface="Liter" pitchFamily="34" charset="0"/>
                <a:ea typeface="Liter" pitchFamily="34" charset="-122"/>
                <a:cs typeface="Liter" pitchFamily="34" charset="-120"/>
              </a:rPr>
              <a:t>12 mo</a:t>
            </a:r>
            <a:endParaRPr lang="en-US" sz="1600" dirty="0"/>
          </a:p>
        </p:txBody>
      </p:sp>
      <p:sp>
        <p:nvSpPr>
          <p:cNvPr id="27" name="Shape 25"/>
          <p:cNvSpPr/>
          <p:nvPr/>
        </p:nvSpPr>
        <p:spPr>
          <a:xfrm>
            <a:off x="317500" y="5058835"/>
            <a:ext cx="4389438" cy="1619250"/>
          </a:xfrm>
          <a:custGeom>
            <a:avLst/>
            <a:gdLst/>
            <a:ahLst/>
            <a:cxnLst/>
            <a:rect l="l" t="t" r="r" b="b"/>
            <a:pathLst>
              <a:path w="4389438" h="1619250">
                <a:moveTo>
                  <a:pt x="126998" y="0"/>
                </a:moveTo>
                <a:lnTo>
                  <a:pt x="4262440" y="0"/>
                </a:lnTo>
                <a:cubicBezTo>
                  <a:pt x="4332579" y="0"/>
                  <a:pt x="4389438" y="56859"/>
                  <a:pt x="4389438" y="126998"/>
                </a:cubicBezTo>
                <a:lnTo>
                  <a:pt x="4389438" y="1492252"/>
                </a:lnTo>
                <a:cubicBezTo>
                  <a:pt x="4389438" y="1562391"/>
                  <a:pt x="4332579" y="1619250"/>
                  <a:pt x="4262440" y="1619250"/>
                </a:cubicBezTo>
                <a:lnTo>
                  <a:pt x="126998" y="1619250"/>
                </a:lnTo>
                <a:cubicBezTo>
                  <a:pt x="56859" y="1619250"/>
                  <a:pt x="0" y="1562391"/>
                  <a:pt x="0" y="1492252"/>
                </a:cubicBezTo>
                <a:lnTo>
                  <a:pt x="0" y="126998"/>
                </a:lnTo>
                <a:cubicBezTo>
                  <a:pt x="0" y="56906"/>
                  <a:pt x="56906" y="0"/>
                  <a:pt x="126998" y="0"/>
                </a:cubicBezTo>
                <a:close/>
              </a:path>
            </a:pathLst>
          </a:custGeom>
          <a:gradFill flip="none" rotWithShape="1">
            <a:gsLst>
              <a:gs pos="0">
                <a:srgbClr val="0071E3"/>
              </a:gs>
              <a:gs pos="100000">
                <a:srgbClr val="0071E3">
                  <a:alpha val="80000"/>
                </a:srgbClr>
              </a:gs>
            </a:gsLst>
            <a:lin ang="0" scaled="1"/>
          </a:gradFill>
          <a:ln/>
        </p:spPr>
      </p:sp>
      <p:sp>
        <p:nvSpPr>
          <p:cNvPr id="28" name="Text 26"/>
          <p:cNvSpPr/>
          <p:nvPr/>
        </p:nvSpPr>
        <p:spPr>
          <a:xfrm>
            <a:off x="476250" y="5217585"/>
            <a:ext cx="414337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Hedvig Letters Sans" pitchFamily="34" charset="0"/>
                <a:ea typeface="Hedvig Letters Sans" pitchFamily="34" charset="-122"/>
                <a:cs typeface="Hedvig Letters Sans" pitchFamily="34" charset="-120"/>
              </a:rPr>
              <a:t>Key Economic Insight</a:t>
            </a:r>
            <a:endParaRPr lang="en-US" sz="1600" dirty="0"/>
          </a:p>
        </p:txBody>
      </p:sp>
      <p:sp>
        <p:nvSpPr>
          <p:cNvPr id="29" name="Text 27"/>
          <p:cNvSpPr/>
          <p:nvPr/>
        </p:nvSpPr>
        <p:spPr>
          <a:xfrm>
            <a:off x="476250" y="5535085"/>
            <a:ext cx="4135438" cy="190500"/>
          </a:xfrm>
          <a:prstGeom prst="rect">
            <a:avLst/>
          </a:prstGeom>
          <a:noFill/>
          <a:ln/>
        </p:spPr>
        <p:txBody>
          <a:bodyPr wrap="square" lIns="0" tIns="0" rIns="0" bIns="0" rtlCol="0" anchor="ctr"/>
          <a:lstStyle/>
          <a:p>
            <a:pPr>
              <a:lnSpc>
                <a:spcPct val="130000"/>
              </a:lnSpc>
            </a:pPr>
            <a:r>
              <a:rPr lang="en-US" sz="1000" dirty="0">
                <a:solidFill>
                  <a:srgbClr val="FFFFFF">
                    <a:alpha val="90000"/>
                  </a:srgbClr>
                </a:solidFill>
                <a:latin typeface="Liter" pitchFamily="34" charset="0"/>
                <a:ea typeface="Liter" pitchFamily="34" charset="-122"/>
                <a:cs typeface="Liter" pitchFamily="34" charset="-120"/>
              </a:rPr>
              <a:t>Each conversion must generate enough paid revenue to offset:</a:t>
            </a:r>
            <a:endParaRPr lang="en-US" sz="1600" dirty="0"/>
          </a:p>
        </p:txBody>
      </p:sp>
      <p:sp>
        <p:nvSpPr>
          <p:cNvPr id="30" name="Text 28"/>
          <p:cNvSpPr/>
          <p:nvPr/>
        </p:nvSpPr>
        <p:spPr>
          <a:xfrm>
            <a:off x="476250" y="5820835"/>
            <a:ext cx="4135438"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 3 months of lost ad revenue ($0.375)</a:t>
            </a:r>
            <a:endParaRPr lang="en-US" sz="1600" dirty="0"/>
          </a:p>
        </p:txBody>
      </p:sp>
      <p:sp>
        <p:nvSpPr>
          <p:cNvPr id="31" name="Text 29"/>
          <p:cNvSpPr/>
          <p:nvPr/>
        </p:nvSpPr>
        <p:spPr>
          <a:xfrm>
            <a:off x="476250" y="6074835"/>
            <a:ext cx="4135438"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 3 months of free service costs</a:t>
            </a:r>
            <a:endParaRPr lang="en-US" sz="1600" dirty="0"/>
          </a:p>
        </p:txBody>
      </p:sp>
      <p:sp>
        <p:nvSpPr>
          <p:cNvPr id="32" name="Text 30"/>
          <p:cNvSpPr/>
          <p:nvPr/>
        </p:nvSpPr>
        <p:spPr>
          <a:xfrm>
            <a:off x="476250" y="6328835"/>
            <a:ext cx="4135438" cy="190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 Opportunity cost of targeting</a:t>
            </a:r>
            <a:endParaRPr lang="en-US" sz="1600" dirty="0"/>
          </a:p>
        </p:txBody>
      </p:sp>
      <p:sp>
        <p:nvSpPr>
          <p:cNvPr id="34" name="Text 32"/>
          <p:cNvSpPr/>
          <p:nvPr/>
        </p:nvSpPr>
        <p:spPr>
          <a:xfrm>
            <a:off x="5093725" y="1592794"/>
            <a:ext cx="6667500" cy="222250"/>
          </a:xfrm>
          <a:prstGeom prst="rect">
            <a:avLst/>
          </a:prstGeom>
          <a:noFill/>
          <a:ln/>
        </p:spPr>
        <p:txBody>
          <a:bodyPr wrap="square" lIns="0" tIns="0" rIns="0" bIns="0" rtlCol="0" anchor="ctr"/>
          <a:lstStyle/>
          <a:p>
            <a:pPr>
              <a:lnSpc>
                <a:spcPct val="120000"/>
              </a:lnSpc>
            </a:pPr>
            <a:endParaRPr lang="en-US" sz="1250" b="1">
              <a:solidFill>
                <a:srgbClr val="1D1D1F"/>
              </a:solidFill>
              <a:latin typeface="Hedvig Letters Sans"/>
            </a:endParaRPr>
          </a:p>
        </p:txBody>
      </p:sp>
      <p:sp>
        <p:nvSpPr>
          <p:cNvPr id="44" name="Shape 42"/>
          <p:cNvSpPr/>
          <p:nvPr/>
        </p:nvSpPr>
        <p:spPr>
          <a:xfrm>
            <a:off x="8608467" y="3656544"/>
            <a:ext cx="95250" cy="127000"/>
          </a:xfrm>
          <a:custGeom>
            <a:avLst/>
            <a:gdLst/>
            <a:ahLst/>
            <a:cxnLst/>
            <a:rect l="l" t="t" r="r" b="b"/>
            <a:pathLst>
              <a:path w="95250" h="127000">
                <a:moveTo>
                  <a:pt x="42019" y="124668"/>
                </a:moveTo>
                <a:cubicBezTo>
                  <a:pt x="45120" y="127769"/>
                  <a:pt x="50155" y="127769"/>
                  <a:pt x="53256" y="124668"/>
                </a:cubicBezTo>
                <a:lnTo>
                  <a:pt x="92943" y="84981"/>
                </a:lnTo>
                <a:cubicBezTo>
                  <a:pt x="96044" y="81880"/>
                  <a:pt x="96044" y="76845"/>
                  <a:pt x="92943" y="73744"/>
                </a:cubicBezTo>
                <a:cubicBezTo>
                  <a:pt x="89843" y="70644"/>
                  <a:pt x="84807" y="70644"/>
                  <a:pt x="81707" y="73744"/>
                </a:cubicBezTo>
                <a:lnTo>
                  <a:pt x="55563" y="99888"/>
                </a:lnTo>
                <a:lnTo>
                  <a:pt x="55563" y="7938"/>
                </a:lnTo>
                <a:cubicBezTo>
                  <a:pt x="55563" y="3547"/>
                  <a:pt x="52015" y="0"/>
                  <a:pt x="47625" y="0"/>
                </a:cubicBezTo>
                <a:cubicBezTo>
                  <a:pt x="43235" y="0"/>
                  <a:pt x="39688" y="3547"/>
                  <a:pt x="39688" y="7938"/>
                </a:cubicBezTo>
                <a:lnTo>
                  <a:pt x="39688" y="99888"/>
                </a:lnTo>
                <a:lnTo>
                  <a:pt x="13543" y="73744"/>
                </a:lnTo>
                <a:cubicBezTo>
                  <a:pt x="10443" y="70644"/>
                  <a:pt x="5407" y="70644"/>
                  <a:pt x="2307" y="73744"/>
                </a:cubicBezTo>
                <a:cubicBezTo>
                  <a:pt x="-794" y="76845"/>
                  <a:pt x="-794" y="81880"/>
                  <a:pt x="2307" y="84981"/>
                </a:cubicBezTo>
                <a:lnTo>
                  <a:pt x="41994" y="124668"/>
                </a:lnTo>
                <a:close/>
              </a:path>
            </a:pathLst>
          </a:custGeom>
          <a:solidFill>
            <a:srgbClr val="86868B"/>
          </a:solidFill>
          <a:ln/>
        </p:spPr>
      </p:sp>
      <p:pic>
        <p:nvPicPr>
          <p:cNvPr id="51" name="Picture 50" descr="A screenshot of a computer screen&#10;&#10;AI-generated content may be incorrect.">
            <a:extLst>
              <a:ext uri="{FF2B5EF4-FFF2-40B4-BE49-F238E27FC236}">
                <a16:creationId xmlns:a16="http://schemas.microsoft.com/office/drawing/2014/main" id="{A923E1D2-7F86-2C33-CF07-A68F4FD2B509}"/>
              </a:ext>
            </a:extLst>
          </p:cNvPr>
          <p:cNvPicPr>
            <a:picLocks noChangeAspect="1"/>
          </p:cNvPicPr>
          <p:nvPr/>
        </p:nvPicPr>
        <p:blipFill>
          <a:blip r:embed="rId3"/>
          <a:stretch>
            <a:fillRect/>
          </a:stretch>
        </p:blipFill>
        <p:spPr>
          <a:xfrm>
            <a:off x="4848589" y="1004959"/>
            <a:ext cx="7077863" cy="5676345"/>
          </a:xfrm>
          <a:prstGeom prst="rect">
            <a:avLst/>
          </a:prstGeom>
        </p:spPr>
      </p:pic>
      <p:pic>
        <p:nvPicPr>
          <p:cNvPr id="53" name="Picture 52" descr="A logo on a glass wall&#10;&#10;AI-generated content may be incorrect.">
            <a:extLst>
              <a:ext uri="{FF2B5EF4-FFF2-40B4-BE49-F238E27FC236}">
                <a16:creationId xmlns:a16="http://schemas.microsoft.com/office/drawing/2014/main" id="{B94EBCC9-CCFE-85D8-0C56-E54E666B5CE2}"/>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78340" y="378340"/>
            <a:ext cx="11501530" cy="189170"/>
          </a:xfrm>
          <a:prstGeom prst="rect">
            <a:avLst/>
          </a:prstGeom>
          <a:noFill/>
          <a:ln/>
        </p:spPr>
        <p:txBody>
          <a:bodyPr wrap="square" lIns="0" tIns="0" rIns="0" bIns="0" rtlCol="0" anchor="ctr"/>
          <a:lstStyle/>
          <a:p>
            <a:pPr>
              <a:lnSpc>
                <a:spcPct val="120000"/>
              </a:lnSpc>
            </a:pPr>
            <a:r>
              <a:rPr lang="en-US" sz="1043" b="1" kern="0" spc="52" dirty="0">
                <a:solidFill>
                  <a:srgbClr val="0071E3"/>
                </a:solidFill>
                <a:latin typeface="Liter" pitchFamily="34" charset="0"/>
                <a:ea typeface="Liter" pitchFamily="34" charset="-122"/>
                <a:cs typeface="Liter" pitchFamily="34" charset="-120"/>
              </a:rPr>
              <a:t>Profit Analysis</a:t>
            </a:r>
            <a:endParaRPr lang="en-US" sz="1600" dirty="0"/>
          </a:p>
        </p:txBody>
      </p:sp>
      <p:sp>
        <p:nvSpPr>
          <p:cNvPr id="3" name="Text 1"/>
          <p:cNvSpPr/>
          <p:nvPr/>
        </p:nvSpPr>
        <p:spPr>
          <a:xfrm>
            <a:off x="378340" y="643178"/>
            <a:ext cx="11662324" cy="454008"/>
          </a:xfrm>
          <a:prstGeom prst="rect">
            <a:avLst/>
          </a:prstGeom>
          <a:noFill/>
          <a:ln/>
        </p:spPr>
        <p:txBody>
          <a:bodyPr wrap="square" lIns="0" tIns="0" rIns="0" bIns="0" rtlCol="0" anchor="ctr"/>
          <a:lstStyle/>
          <a:p>
            <a:pPr>
              <a:lnSpc>
                <a:spcPct val="80000"/>
              </a:lnSpc>
            </a:pPr>
            <a:r>
              <a:rPr lang="en-US" sz="3575" b="1" dirty="0">
                <a:solidFill>
                  <a:srgbClr val="1D1D1F"/>
                </a:solidFill>
                <a:latin typeface="Hedvig Letters Sans" pitchFamily="34" charset="0"/>
                <a:ea typeface="Hedvig Letters Sans" pitchFamily="34" charset="-122"/>
                <a:cs typeface="Hedvig Letters Sans" pitchFamily="34" charset="-120"/>
              </a:rPr>
              <a:t>Profit Sensitivity: Level vs Delta</a:t>
            </a:r>
            <a:endParaRPr lang="en-US" sz="1600" dirty="0"/>
          </a:p>
        </p:txBody>
      </p:sp>
      <p:sp>
        <p:nvSpPr>
          <p:cNvPr id="4" name="Text 2"/>
          <p:cNvSpPr/>
          <p:nvPr/>
        </p:nvSpPr>
        <p:spPr>
          <a:xfrm>
            <a:off x="378340" y="1210687"/>
            <a:ext cx="11529905" cy="264838"/>
          </a:xfrm>
          <a:prstGeom prst="rect">
            <a:avLst/>
          </a:prstGeom>
          <a:noFill/>
          <a:ln/>
        </p:spPr>
        <p:txBody>
          <a:bodyPr wrap="square" lIns="0" tIns="0" rIns="0" bIns="0" rtlCol="0" anchor="ctr"/>
          <a:lstStyle/>
          <a:p>
            <a:pPr>
              <a:lnSpc>
                <a:spcPct val="120000"/>
              </a:lnSpc>
            </a:pPr>
            <a:r>
              <a:rPr lang="en-US" sz="1490" dirty="0">
                <a:solidFill>
                  <a:srgbClr val="86868B"/>
                </a:solidFill>
                <a:latin typeface="Liter" pitchFamily="34" charset="0"/>
                <a:ea typeface="Liter" pitchFamily="34" charset="-122"/>
                <a:cs typeface="Liter" pitchFamily="34" charset="-120"/>
              </a:rPr>
              <a:t>Testing targeting strategies across different scenarios</a:t>
            </a:r>
            <a:endParaRPr lang="en-US" sz="1600" dirty="0"/>
          </a:p>
        </p:txBody>
      </p:sp>
      <p:sp>
        <p:nvSpPr>
          <p:cNvPr id="5" name="Shape 3"/>
          <p:cNvSpPr/>
          <p:nvPr/>
        </p:nvSpPr>
        <p:spPr>
          <a:xfrm>
            <a:off x="381493" y="1688258"/>
            <a:ext cx="7440683" cy="5073901"/>
          </a:xfrm>
          <a:custGeom>
            <a:avLst/>
            <a:gdLst/>
            <a:ahLst/>
            <a:cxnLst/>
            <a:rect l="l" t="t" r="r" b="b"/>
            <a:pathLst>
              <a:path w="7440683" h="5189561">
                <a:moveTo>
                  <a:pt x="151328" y="0"/>
                </a:moveTo>
                <a:lnTo>
                  <a:pt x="7289355" y="0"/>
                </a:lnTo>
                <a:cubicBezTo>
                  <a:pt x="7372931" y="0"/>
                  <a:pt x="7440683" y="67752"/>
                  <a:pt x="7440683" y="151328"/>
                </a:cubicBezTo>
                <a:lnTo>
                  <a:pt x="7440683" y="5038233"/>
                </a:lnTo>
                <a:cubicBezTo>
                  <a:pt x="7440683" y="5121809"/>
                  <a:pt x="7372931" y="5189561"/>
                  <a:pt x="7289355" y="5189561"/>
                </a:cubicBezTo>
                <a:lnTo>
                  <a:pt x="151328" y="5189561"/>
                </a:lnTo>
                <a:cubicBezTo>
                  <a:pt x="67752" y="5189561"/>
                  <a:pt x="0" y="5121809"/>
                  <a:pt x="0" y="5038233"/>
                </a:cubicBezTo>
                <a:lnTo>
                  <a:pt x="0" y="151328"/>
                </a:lnTo>
                <a:cubicBezTo>
                  <a:pt x="0" y="67752"/>
                  <a:pt x="67752" y="0"/>
                  <a:pt x="151328" y="0"/>
                </a:cubicBezTo>
                <a:close/>
              </a:path>
            </a:pathLst>
          </a:custGeom>
          <a:solidFill>
            <a:srgbClr val="FFFFFF"/>
          </a:solidFill>
          <a:ln w="8467">
            <a:solidFill>
              <a:srgbClr val="F3F4F6"/>
            </a:solidFill>
            <a:prstDash val="solid"/>
          </a:ln>
          <a:effectLst>
            <a:outerShdw blurRad="28375" dist="9458" dir="5400000" algn="bl" rotWithShape="0">
              <a:srgbClr val="000000">
                <a:alpha val="10196"/>
              </a:srgbClr>
            </a:outerShdw>
          </a:effectLst>
        </p:spPr>
      </p:sp>
      <p:sp>
        <p:nvSpPr>
          <p:cNvPr id="6" name="Text 4"/>
          <p:cNvSpPr/>
          <p:nvPr/>
        </p:nvSpPr>
        <p:spPr>
          <a:xfrm>
            <a:off x="611649" y="1898008"/>
            <a:ext cx="7074954" cy="264838"/>
          </a:xfrm>
          <a:prstGeom prst="rect">
            <a:avLst/>
          </a:prstGeom>
          <a:noFill/>
          <a:ln/>
        </p:spPr>
        <p:txBody>
          <a:bodyPr wrap="square" lIns="0" tIns="0" rIns="0" bIns="0" rtlCol="0" anchor="ctr"/>
          <a:lstStyle/>
          <a:p>
            <a:pPr>
              <a:lnSpc>
                <a:spcPct val="120000"/>
              </a:lnSpc>
            </a:pPr>
            <a:r>
              <a:rPr lang="en-US" sz="1490" b="1" dirty="0">
                <a:solidFill>
                  <a:srgbClr val="1D1D1F"/>
                </a:solidFill>
                <a:latin typeface="Hedvig Letters Sans" pitchFamily="34" charset="0"/>
                <a:ea typeface="Hedvig Letters Sans" pitchFamily="34" charset="-122"/>
                <a:cs typeface="Hedvig Letters Sans" pitchFamily="34" charset="-120"/>
              </a:rPr>
              <a:t>Incremental Profit by Targeting Size &amp; Uplift</a:t>
            </a:r>
            <a:endParaRPr lang="en-US" sz="1600" dirty="0"/>
          </a:p>
        </p:txBody>
      </p:sp>
      <p:sp>
        <p:nvSpPr>
          <p:cNvPr id="8" name="Shape 5"/>
          <p:cNvSpPr/>
          <p:nvPr/>
        </p:nvSpPr>
        <p:spPr>
          <a:xfrm>
            <a:off x="8056470" y="1667848"/>
            <a:ext cx="3751870" cy="1708835"/>
          </a:xfrm>
          <a:custGeom>
            <a:avLst/>
            <a:gdLst/>
            <a:ahLst/>
            <a:cxnLst/>
            <a:rect l="l" t="t" r="r" b="b"/>
            <a:pathLst>
              <a:path w="3751870" h="1708835">
                <a:moveTo>
                  <a:pt x="151334" y="0"/>
                </a:moveTo>
                <a:lnTo>
                  <a:pt x="3600535" y="0"/>
                </a:lnTo>
                <a:cubicBezTo>
                  <a:pt x="3684115" y="0"/>
                  <a:pt x="3751870" y="67755"/>
                  <a:pt x="3751870" y="151334"/>
                </a:cubicBezTo>
                <a:lnTo>
                  <a:pt x="3751870" y="1557500"/>
                </a:lnTo>
                <a:cubicBezTo>
                  <a:pt x="3751870" y="1641080"/>
                  <a:pt x="3684115" y="1708835"/>
                  <a:pt x="3600535" y="1708835"/>
                </a:cubicBezTo>
                <a:lnTo>
                  <a:pt x="151334" y="1708835"/>
                </a:lnTo>
                <a:cubicBezTo>
                  <a:pt x="67755" y="1708835"/>
                  <a:pt x="0" y="1641080"/>
                  <a:pt x="0" y="1557500"/>
                </a:cubicBezTo>
                <a:lnTo>
                  <a:pt x="0" y="151334"/>
                </a:lnTo>
                <a:cubicBezTo>
                  <a:pt x="0" y="67811"/>
                  <a:pt x="67811" y="0"/>
                  <a:pt x="151334" y="0"/>
                </a:cubicBezTo>
                <a:close/>
              </a:path>
            </a:pathLst>
          </a:custGeom>
          <a:solidFill>
            <a:srgbClr val="FFFFFF"/>
          </a:solidFill>
          <a:ln w="8467">
            <a:solidFill>
              <a:srgbClr val="F3F4F6"/>
            </a:solidFill>
            <a:prstDash val="solid"/>
          </a:ln>
          <a:effectLst>
            <a:outerShdw blurRad="28375" dist="9458" dir="5400000" algn="bl" rotWithShape="0">
              <a:srgbClr val="000000">
                <a:alpha val="10196"/>
              </a:srgbClr>
            </a:outerShdw>
          </a:effectLst>
        </p:spPr>
      </p:sp>
      <p:sp>
        <p:nvSpPr>
          <p:cNvPr id="9" name="Text 6"/>
          <p:cNvSpPr/>
          <p:nvPr/>
        </p:nvSpPr>
        <p:spPr>
          <a:xfrm>
            <a:off x="8248793" y="1860174"/>
            <a:ext cx="3452351" cy="264838"/>
          </a:xfrm>
          <a:prstGeom prst="rect">
            <a:avLst/>
          </a:prstGeom>
          <a:noFill/>
          <a:ln/>
        </p:spPr>
        <p:txBody>
          <a:bodyPr wrap="square" lIns="0" tIns="0" rIns="0" bIns="0" rtlCol="0" anchor="ctr"/>
          <a:lstStyle/>
          <a:p>
            <a:pPr>
              <a:lnSpc>
                <a:spcPct val="130000"/>
              </a:lnSpc>
            </a:pPr>
            <a:r>
              <a:rPr lang="en-US" sz="1341" b="1" dirty="0">
                <a:solidFill>
                  <a:srgbClr val="1D1D1F"/>
                </a:solidFill>
                <a:latin typeface="Hedvig Letters Sans" pitchFamily="34" charset="0"/>
                <a:ea typeface="Hedvig Letters Sans" pitchFamily="34" charset="-122"/>
                <a:cs typeface="Hedvig Letters Sans" pitchFamily="34" charset="-120"/>
              </a:rPr>
              <a:t>Test Parameters</a:t>
            </a:r>
            <a:endParaRPr lang="en-US" sz="1600" dirty="0"/>
          </a:p>
        </p:txBody>
      </p:sp>
      <p:sp>
        <p:nvSpPr>
          <p:cNvPr id="10" name="Shape 7"/>
          <p:cNvSpPr/>
          <p:nvPr/>
        </p:nvSpPr>
        <p:spPr>
          <a:xfrm>
            <a:off x="8248793" y="2257431"/>
            <a:ext cx="378340" cy="378340"/>
          </a:xfrm>
          <a:custGeom>
            <a:avLst/>
            <a:gdLst/>
            <a:ahLst/>
            <a:cxnLst/>
            <a:rect l="l" t="t" r="r" b="b"/>
            <a:pathLst>
              <a:path w="378340" h="378340">
                <a:moveTo>
                  <a:pt x="75668" y="0"/>
                </a:moveTo>
                <a:lnTo>
                  <a:pt x="302672" y="0"/>
                </a:lnTo>
                <a:cubicBezTo>
                  <a:pt x="344434" y="0"/>
                  <a:pt x="378340" y="33906"/>
                  <a:pt x="378340" y="75668"/>
                </a:cubicBezTo>
                <a:lnTo>
                  <a:pt x="378340" y="302672"/>
                </a:lnTo>
                <a:cubicBezTo>
                  <a:pt x="378340" y="344434"/>
                  <a:pt x="344434" y="378340"/>
                  <a:pt x="302672" y="378340"/>
                </a:cubicBezTo>
                <a:lnTo>
                  <a:pt x="75668" y="378340"/>
                </a:lnTo>
                <a:cubicBezTo>
                  <a:pt x="33906" y="378340"/>
                  <a:pt x="0" y="344434"/>
                  <a:pt x="0" y="302672"/>
                </a:cubicBezTo>
                <a:lnTo>
                  <a:pt x="0" y="75668"/>
                </a:lnTo>
                <a:cubicBezTo>
                  <a:pt x="0" y="33906"/>
                  <a:pt x="33906" y="0"/>
                  <a:pt x="75668" y="0"/>
                </a:cubicBezTo>
                <a:close/>
              </a:path>
            </a:pathLst>
          </a:custGeom>
          <a:solidFill>
            <a:srgbClr val="0071E3">
              <a:alpha val="10196"/>
            </a:srgbClr>
          </a:solidFill>
          <a:ln/>
        </p:spPr>
      </p:sp>
      <p:sp>
        <p:nvSpPr>
          <p:cNvPr id="11" name="Shape 8"/>
          <p:cNvSpPr/>
          <p:nvPr/>
        </p:nvSpPr>
        <p:spPr>
          <a:xfrm>
            <a:off x="8343378" y="2370932"/>
            <a:ext cx="189170" cy="151336"/>
          </a:xfrm>
          <a:custGeom>
            <a:avLst/>
            <a:gdLst/>
            <a:ahLst/>
            <a:cxnLst/>
            <a:rect l="l" t="t" r="r" b="b"/>
            <a:pathLst>
              <a:path w="189170" h="151336">
                <a:moveTo>
                  <a:pt x="94585" y="4729"/>
                </a:moveTo>
                <a:cubicBezTo>
                  <a:pt x="111551" y="4729"/>
                  <a:pt x="125325" y="18503"/>
                  <a:pt x="125325" y="35469"/>
                </a:cubicBezTo>
                <a:cubicBezTo>
                  <a:pt x="125325" y="52435"/>
                  <a:pt x="111551" y="66209"/>
                  <a:pt x="94585" y="66209"/>
                </a:cubicBezTo>
                <a:cubicBezTo>
                  <a:pt x="77619" y="66209"/>
                  <a:pt x="63845" y="52435"/>
                  <a:pt x="63845" y="35469"/>
                </a:cubicBezTo>
                <a:cubicBezTo>
                  <a:pt x="63845" y="18503"/>
                  <a:pt x="77619" y="4729"/>
                  <a:pt x="94585" y="4729"/>
                </a:cubicBezTo>
                <a:close/>
                <a:moveTo>
                  <a:pt x="28375" y="26011"/>
                </a:moveTo>
                <a:cubicBezTo>
                  <a:pt x="40121" y="26011"/>
                  <a:pt x="49657" y="35547"/>
                  <a:pt x="49657" y="47292"/>
                </a:cubicBezTo>
                <a:cubicBezTo>
                  <a:pt x="49657" y="59038"/>
                  <a:pt x="40121" y="68574"/>
                  <a:pt x="28375" y="68574"/>
                </a:cubicBezTo>
                <a:cubicBezTo>
                  <a:pt x="16630" y="68574"/>
                  <a:pt x="7094" y="59038"/>
                  <a:pt x="7094" y="47292"/>
                </a:cubicBezTo>
                <a:cubicBezTo>
                  <a:pt x="7094" y="35547"/>
                  <a:pt x="16630" y="26011"/>
                  <a:pt x="28375" y="26011"/>
                </a:cubicBezTo>
                <a:close/>
                <a:moveTo>
                  <a:pt x="0" y="122960"/>
                </a:moveTo>
                <a:cubicBezTo>
                  <a:pt x="0" y="102063"/>
                  <a:pt x="16937" y="85126"/>
                  <a:pt x="37834" y="85126"/>
                </a:cubicBezTo>
                <a:cubicBezTo>
                  <a:pt x="41617" y="85126"/>
                  <a:pt x="45283" y="85688"/>
                  <a:pt x="48741" y="86723"/>
                </a:cubicBezTo>
                <a:cubicBezTo>
                  <a:pt x="39016" y="97600"/>
                  <a:pt x="33105" y="111965"/>
                  <a:pt x="33105" y="127690"/>
                </a:cubicBezTo>
                <a:lnTo>
                  <a:pt x="33105" y="132419"/>
                </a:lnTo>
                <a:cubicBezTo>
                  <a:pt x="33105" y="135789"/>
                  <a:pt x="33814" y="138981"/>
                  <a:pt x="35085" y="141877"/>
                </a:cubicBezTo>
                <a:lnTo>
                  <a:pt x="9458" y="141877"/>
                </a:lnTo>
                <a:cubicBezTo>
                  <a:pt x="4227" y="141877"/>
                  <a:pt x="0" y="137651"/>
                  <a:pt x="0" y="132419"/>
                </a:cubicBezTo>
                <a:lnTo>
                  <a:pt x="0" y="122960"/>
                </a:lnTo>
                <a:close/>
                <a:moveTo>
                  <a:pt x="154085" y="141877"/>
                </a:moveTo>
                <a:cubicBezTo>
                  <a:pt x="155356" y="138981"/>
                  <a:pt x="156065" y="135789"/>
                  <a:pt x="156065" y="132419"/>
                </a:cubicBezTo>
                <a:lnTo>
                  <a:pt x="156065" y="127690"/>
                </a:lnTo>
                <a:cubicBezTo>
                  <a:pt x="156065" y="111965"/>
                  <a:pt x="150154" y="97600"/>
                  <a:pt x="140429" y="86723"/>
                </a:cubicBezTo>
                <a:cubicBezTo>
                  <a:pt x="143887" y="85688"/>
                  <a:pt x="147553" y="85126"/>
                  <a:pt x="151336" y="85126"/>
                </a:cubicBezTo>
                <a:cubicBezTo>
                  <a:pt x="172233" y="85126"/>
                  <a:pt x="189170" y="102063"/>
                  <a:pt x="189170" y="122960"/>
                </a:cubicBezTo>
                <a:lnTo>
                  <a:pt x="189170" y="132419"/>
                </a:lnTo>
                <a:cubicBezTo>
                  <a:pt x="189170" y="137651"/>
                  <a:pt x="184943" y="141877"/>
                  <a:pt x="179711" y="141877"/>
                </a:cubicBezTo>
                <a:lnTo>
                  <a:pt x="154085" y="141877"/>
                </a:lnTo>
                <a:close/>
                <a:moveTo>
                  <a:pt x="139513" y="47292"/>
                </a:moveTo>
                <a:cubicBezTo>
                  <a:pt x="139513" y="35547"/>
                  <a:pt x="149049" y="26011"/>
                  <a:pt x="160794" y="26011"/>
                </a:cubicBezTo>
                <a:cubicBezTo>
                  <a:pt x="172540" y="26011"/>
                  <a:pt x="182076" y="35547"/>
                  <a:pt x="182076" y="47292"/>
                </a:cubicBezTo>
                <a:cubicBezTo>
                  <a:pt x="182076" y="59038"/>
                  <a:pt x="172540" y="68574"/>
                  <a:pt x="160794" y="68574"/>
                </a:cubicBezTo>
                <a:cubicBezTo>
                  <a:pt x="149049" y="68574"/>
                  <a:pt x="139513" y="59038"/>
                  <a:pt x="139513" y="47292"/>
                </a:cubicBezTo>
                <a:close/>
                <a:moveTo>
                  <a:pt x="47292" y="127690"/>
                </a:moveTo>
                <a:cubicBezTo>
                  <a:pt x="47292" y="101561"/>
                  <a:pt x="68456" y="80397"/>
                  <a:pt x="94585" y="80397"/>
                </a:cubicBezTo>
                <a:cubicBezTo>
                  <a:pt x="120714" y="80397"/>
                  <a:pt x="141877" y="101561"/>
                  <a:pt x="141877" y="127690"/>
                </a:cubicBezTo>
                <a:lnTo>
                  <a:pt x="141877" y="132419"/>
                </a:lnTo>
                <a:cubicBezTo>
                  <a:pt x="141877" y="137651"/>
                  <a:pt x="137651" y="141877"/>
                  <a:pt x="132419" y="141877"/>
                </a:cubicBezTo>
                <a:lnTo>
                  <a:pt x="56751" y="141877"/>
                </a:lnTo>
                <a:cubicBezTo>
                  <a:pt x="51519" y="141877"/>
                  <a:pt x="47292" y="137651"/>
                  <a:pt x="47292" y="132419"/>
                </a:cubicBezTo>
                <a:lnTo>
                  <a:pt x="47292" y="127690"/>
                </a:lnTo>
                <a:close/>
              </a:path>
            </a:pathLst>
          </a:custGeom>
          <a:solidFill>
            <a:srgbClr val="0071E3"/>
          </a:solidFill>
          <a:ln/>
        </p:spPr>
      </p:sp>
      <p:sp>
        <p:nvSpPr>
          <p:cNvPr id="12" name="Text 9"/>
          <p:cNvSpPr/>
          <p:nvPr/>
        </p:nvSpPr>
        <p:spPr>
          <a:xfrm>
            <a:off x="8740635" y="2238514"/>
            <a:ext cx="1503901" cy="227004"/>
          </a:xfrm>
          <a:prstGeom prst="rect">
            <a:avLst/>
          </a:prstGeom>
          <a:noFill/>
          <a:ln/>
        </p:spPr>
        <p:txBody>
          <a:bodyPr wrap="square" lIns="0" tIns="0" rIns="0" bIns="0" rtlCol="0" anchor="ctr"/>
          <a:lstStyle/>
          <a:p>
            <a:pPr>
              <a:lnSpc>
                <a:spcPct val="130000"/>
              </a:lnSpc>
            </a:pPr>
            <a:r>
              <a:rPr lang="en-US" sz="1192" b="1" dirty="0">
                <a:solidFill>
                  <a:srgbClr val="1D1D1F"/>
                </a:solidFill>
                <a:latin typeface="Liter" pitchFamily="34" charset="0"/>
                <a:ea typeface="Liter" pitchFamily="34" charset="-122"/>
                <a:cs typeface="Liter" pitchFamily="34" charset="-120"/>
              </a:rPr>
              <a:t>Targeting Size</a:t>
            </a:r>
            <a:endParaRPr lang="en-US" sz="1600" dirty="0"/>
          </a:p>
        </p:txBody>
      </p:sp>
      <p:sp>
        <p:nvSpPr>
          <p:cNvPr id="13" name="Text 10"/>
          <p:cNvSpPr/>
          <p:nvPr/>
        </p:nvSpPr>
        <p:spPr>
          <a:xfrm>
            <a:off x="8740635" y="2465517"/>
            <a:ext cx="1494442" cy="189170"/>
          </a:xfrm>
          <a:prstGeom prst="rect">
            <a:avLst/>
          </a:prstGeom>
          <a:noFill/>
          <a:ln/>
        </p:spPr>
        <p:txBody>
          <a:bodyPr wrap="square" lIns="0" tIns="0" rIns="0" bIns="0" rtlCol="0" anchor="ctr"/>
          <a:lstStyle/>
          <a:p>
            <a:pPr>
              <a:lnSpc>
                <a:spcPct val="120000"/>
              </a:lnSpc>
            </a:pPr>
            <a:r>
              <a:rPr lang="en-US" sz="1043" dirty="0">
                <a:solidFill>
                  <a:srgbClr val="86868B"/>
                </a:solidFill>
                <a:latin typeface="Liter" pitchFamily="34" charset="0"/>
                <a:ea typeface="Liter" pitchFamily="34" charset="-122"/>
                <a:cs typeface="Liter" pitchFamily="34" charset="-120"/>
              </a:rPr>
              <a:t>Top 10% to 50% of users</a:t>
            </a:r>
            <a:endParaRPr lang="en-US" sz="1600" dirty="0"/>
          </a:p>
        </p:txBody>
      </p:sp>
      <p:sp>
        <p:nvSpPr>
          <p:cNvPr id="14" name="Shape 11"/>
          <p:cNvSpPr/>
          <p:nvPr/>
        </p:nvSpPr>
        <p:spPr>
          <a:xfrm>
            <a:off x="8248793" y="2787106"/>
            <a:ext cx="378340" cy="378340"/>
          </a:xfrm>
          <a:custGeom>
            <a:avLst/>
            <a:gdLst/>
            <a:ahLst/>
            <a:cxnLst/>
            <a:rect l="l" t="t" r="r" b="b"/>
            <a:pathLst>
              <a:path w="378340" h="378340">
                <a:moveTo>
                  <a:pt x="75668" y="0"/>
                </a:moveTo>
                <a:lnTo>
                  <a:pt x="302672" y="0"/>
                </a:lnTo>
                <a:cubicBezTo>
                  <a:pt x="344434" y="0"/>
                  <a:pt x="378340" y="33906"/>
                  <a:pt x="378340" y="75668"/>
                </a:cubicBezTo>
                <a:lnTo>
                  <a:pt x="378340" y="302672"/>
                </a:lnTo>
                <a:cubicBezTo>
                  <a:pt x="378340" y="344434"/>
                  <a:pt x="344434" y="378340"/>
                  <a:pt x="302672" y="378340"/>
                </a:cubicBezTo>
                <a:lnTo>
                  <a:pt x="75668" y="378340"/>
                </a:lnTo>
                <a:cubicBezTo>
                  <a:pt x="33906" y="378340"/>
                  <a:pt x="0" y="344434"/>
                  <a:pt x="0" y="302672"/>
                </a:cubicBezTo>
                <a:lnTo>
                  <a:pt x="0" y="75668"/>
                </a:lnTo>
                <a:cubicBezTo>
                  <a:pt x="0" y="33906"/>
                  <a:pt x="33906" y="0"/>
                  <a:pt x="75668" y="0"/>
                </a:cubicBezTo>
                <a:close/>
              </a:path>
            </a:pathLst>
          </a:custGeom>
          <a:solidFill>
            <a:srgbClr val="86868B">
              <a:alpha val="10196"/>
            </a:srgbClr>
          </a:solidFill>
          <a:ln/>
        </p:spPr>
      </p:sp>
      <p:sp>
        <p:nvSpPr>
          <p:cNvPr id="15" name="Shape 12"/>
          <p:cNvSpPr/>
          <p:nvPr/>
        </p:nvSpPr>
        <p:spPr>
          <a:xfrm>
            <a:off x="8362295" y="2900608"/>
            <a:ext cx="151336" cy="151336"/>
          </a:xfrm>
          <a:custGeom>
            <a:avLst/>
            <a:gdLst/>
            <a:ahLst/>
            <a:cxnLst/>
            <a:rect l="l" t="t" r="r" b="b"/>
            <a:pathLst>
              <a:path w="151336" h="151336">
                <a:moveTo>
                  <a:pt x="18917" y="18917"/>
                </a:moveTo>
                <a:cubicBezTo>
                  <a:pt x="18917" y="13685"/>
                  <a:pt x="14690" y="9458"/>
                  <a:pt x="9458" y="9458"/>
                </a:cubicBezTo>
                <a:cubicBezTo>
                  <a:pt x="4227" y="9458"/>
                  <a:pt x="0" y="13685"/>
                  <a:pt x="0" y="18917"/>
                </a:cubicBezTo>
                <a:lnTo>
                  <a:pt x="0" y="118231"/>
                </a:lnTo>
                <a:cubicBezTo>
                  <a:pt x="0" y="131296"/>
                  <a:pt x="10582" y="141877"/>
                  <a:pt x="23646" y="141877"/>
                </a:cubicBezTo>
                <a:lnTo>
                  <a:pt x="141877" y="141877"/>
                </a:lnTo>
                <a:cubicBezTo>
                  <a:pt x="147109" y="141877"/>
                  <a:pt x="151336" y="137651"/>
                  <a:pt x="151336" y="132419"/>
                </a:cubicBezTo>
                <a:cubicBezTo>
                  <a:pt x="151336" y="127187"/>
                  <a:pt x="147109" y="122960"/>
                  <a:pt x="141877" y="122960"/>
                </a:cubicBezTo>
                <a:lnTo>
                  <a:pt x="23646" y="122960"/>
                </a:lnTo>
                <a:cubicBezTo>
                  <a:pt x="21045" y="122960"/>
                  <a:pt x="18917" y="120832"/>
                  <a:pt x="18917" y="118231"/>
                </a:cubicBezTo>
                <a:lnTo>
                  <a:pt x="18917" y="18917"/>
                </a:lnTo>
                <a:close/>
                <a:moveTo>
                  <a:pt x="139099" y="44514"/>
                </a:moveTo>
                <a:cubicBezTo>
                  <a:pt x="142794" y="40819"/>
                  <a:pt x="142794" y="34819"/>
                  <a:pt x="139099" y="31124"/>
                </a:cubicBezTo>
                <a:cubicBezTo>
                  <a:pt x="135404" y="27430"/>
                  <a:pt x="129404" y="27430"/>
                  <a:pt x="125709" y="31124"/>
                </a:cubicBezTo>
                <a:lnTo>
                  <a:pt x="94585" y="62278"/>
                </a:lnTo>
                <a:lnTo>
                  <a:pt x="77619" y="45342"/>
                </a:lnTo>
                <a:cubicBezTo>
                  <a:pt x="73924" y="41647"/>
                  <a:pt x="67924" y="41647"/>
                  <a:pt x="64229" y="45342"/>
                </a:cubicBezTo>
                <a:lnTo>
                  <a:pt x="35854" y="73717"/>
                </a:lnTo>
                <a:cubicBezTo>
                  <a:pt x="32159" y="77412"/>
                  <a:pt x="32159" y="83412"/>
                  <a:pt x="35854" y="87107"/>
                </a:cubicBezTo>
                <a:cubicBezTo>
                  <a:pt x="39548" y="90802"/>
                  <a:pt x="45549" y="90802"/>
                  <a:pt x="49243" y="87107"/>
                </a:cubicBezTo>
                <a:lnTo>
                  <a:pt x="70939" y="65411"/>
                </a:lnTo>
                <a:lnTo>
                  <a:pt x="87905" y="82378"/>
                </a:lnTo>
                <a:cubicBezTo>
                  <a:pt x="91600" y="86072"/>
                  <a:pt x="97600" y="86072"/>
                  <a:pt x="101295" y="82378"/>
                </a:cubicBezTo>
                <a:lnTo>
                  <a:pt x="139129" y="44544"/>
                </a:lnTo>
                <a:close/>
              </a:path>
            </a:pathLst>
          </a:custGeom>
          <a:solidFill>
            <a:srgbClr val="86868B"/>
          </a:solidFill>
          <a:ln/>
        </p:spPr>
      </p:sp>
      <p:sp>
        <p:nvSpPr>
          <p:cNvPr id="16" name="Text 13"/>
          <p:cNvSpPr/>
          <p:nvPr/>
        </p:nvSpPr>
        <p:spPr>
          <a:xfrm>
            <a:off x="8740635" y="2768189"/>
            <a:ext cx="1825490" cy="227004"/>
          </a:xfrm>
          <a:prstGeom prst="rect">
            <a:avLst/>
          </a:prstGeom>
          <a:noFill/>
          <a:ln/>
        </p:spPr>
        <p:txBody>
          <a:bodyPr wrap="square" lIns="0" tIns="0" rIns="0" bIns="0" rtlCol="0" anchor="ctr"/>
          <a:lstStyle/>
          <a:p>
            <a:pPr>
              <a:lnSpc>
                <a:spcPct val="130000"/>
              </a:lnSpc>
            </a:pPr>
            <a:r>
              <a:rPr lang="en-US" sz="1192" b="1" dirty="0">
                <a:solidFill>
                  <a:srgbClr val="1D1D1F"/>
                </a:solidFill>
                <a:latin typeface="Liter" pitchFamily="34" charset="0"/>
                <a:ea typeface="Liter" pitchFamily="34" charset="-122"/>
                <a:cs typeface="Liter" pitchFamily="34" charset="-120"/>
              </a:rPr>
              <a:t>Uplift Assumptions</a:t>
            </a:r>
            <a:endParaRPr lang="en-US" sz="1600" dirty="0"/>
          </a:p>
        </p:txBody>
      </p:sp>
      <p:sp>
        <p:nvSpPr>
          <p:cNvPr id="17" name="Text 14"/>
          <p:cNvSpPr/>
          <p:nvPr/>
        </p:nvSpPr>
        <p:spPr>
          <a:xfrm>
            <a:off x="8740635" y="2995193"/>
            <a:ext cx="1816031" cy="189170"/>
          </a:xfrm>
          <a:prstGeom prst="rect">
            <a:avLst/>
          </a:prstGeom>
          <a:noFill/>
          <a:ln/>
        </p:spPr>
        <p:txBody>
          <a:bodyPr wrap="square" lIns="0" tIns="0" rIns="0" bIns="0" rtlCol="0" anchor="ctr"/>
          <a:lstStyle/>
          <a:p>
            <a:pPr>
              <a:lnSpc>
                <a:spcPct val="120000"/>
              </a:lnSpc>
            </a:pPr>
            <a:r>
              <a:rPr lang="en-US" sz="1043" dirty="0">
                <a:solidFill>
                  <a:srgbClr val="86868B"/>
                </a:solidFill>
                <a:latin typeface="Liter" pitchFamily="34" charset="0"/>
                <a:ea typeface="Liter" pitchFamily="34" charset="-122"/>
                <a:cs typeface="Liter" pitchFamily="34" charset="-120"/>
              </a:rPr>
              <a:t>2%, 5%, 10% conversion boost</a:t>
            </a:r>
            <a:endParaRPr lang="en-US" sz="1600" dirty="0"/>
          </a:p>
        </p:txBody>
      </p:sp>
      <p:sp>
        <p:nvSpPr>
          <p:cNvPr id="18" name="Shape 15"/>
          <p:cNvSpPr/>
          <p:nvPr/>
        </p:nvSpPr>
        <p:spPr>
          <a:xfrm>
            <a:off x="8053317" y="3531173"/>
            <a:ext cx="3755022" cy="2194371"/>
          </a:xfrm>
          <a:custGeom>
            <a:avLst/>
            <a:gdLst/>
            <a:ahLst/>
            <a:cxnLst/>
            <a:rect l="l" t="t" r="r" b="b"/>
            <a:pathLst>
              <a:path w="3755022" h="2194371">
                <a:moveTo>
                  <a:pt x="151346" y="0"/>
                </a:moveTo>
                <a:lnTo>
                  <a:pt x="3603677" y="0"/>
                </a:lnTo>
                <a:cubicBezTo>
                  <a:pt x="3687207" y="0"/>
                  <a:pt x="3755022" y="67816"/>
                  <a:pt x="3755022" y="151346"/>
                </a:cubicBezTo>
                <a:lnTo>
                  <a:pt x="3755022" y="2043025"/>
                </a:lnTo>
                <a:cubicBezTo>
                  <a:pt x="3755022" y="2126611"/>
                  <a:pt x="3687263" y="2194371"/>
                  <a:pt x="3603677" y="2194371"/>
                </a:cubicBezTo>
                <a:lnTo>
                  <a:pt x="151346" y="2194371"/>
                </a:lnTo>
                <a:cubicBezTo>
                  <a:pt x="67816" y="2194371"/>
                  <a:pt x="0" y="2126555"/>
                  <a:pt x="0" y="2043025"/>
                </a:cubicBezTo>
                <a:lnTo>
                  <a:pt x="0" y="151346"/>
                </a:lnTo>
                <a:cubicBezTo>
                  <a:pt x="0" y="67816"/>
                  <a:pt x="67816" y="0"/>
                  <a:pt x="151346" y="0"/>
                </a:cubicBezTo>
                <a:close/>
              </a:path>
            </a:pathLst>
          </a:custGeom>
          <a:gradFill flip="none" rotWithShape="1">
            <a:gsLst>
              <a:gs pos="0">
                <a:srgbClr val="0071E3"/>
              </a:gs>
              <a:gs pos="100000">
                <a:srgbClr val="0071E3">
                  <a:alpha val="80000"/>
                </a:srgbClr>
              </a:gs>
            </a:gsLst>
            <a:lin ang="0" scaled="1"/>
          </a:gradFill>
          <a:ln/>
        </p:spPr>
      </p:sp>
      <p:sp>
        <p:nvSpPr>
          <p:cNvPr id="19" name="Text 16"/>
          <p:cNvSpPr/>
          <p:nvPr/>
        </p:nvSpPr>
        <p:spPr>
          <a:xfrm>
            <a:off x="8242487" y="3720343"/>
            <a:ext cx="3461809" cy="264838"/>
          </a:xfrm>
          <a:prstGeom prst="rect">
            <a:avLst/>
          </a:prstGeom>
          <a:noFill/>
          <a:ln/>
        </p:spPr>
        <p:txBody>
          <a:bodyPr wrap="square" lIns="0" tIns="0" rIns="0" bIns="0" rtlCol="0" anchor="ctr"/>
          <a:lstStyle/>
          <a:p>
            <a:pPr>
              <a:lnSpc>
                <a:spcPct val="130000"/>
              </a:lnSpc>
            </a:pPr>
            <a:r>
              <a:rPr lang="en-US" sz="1300" b="1" u="sng" dirty="0">
                <a:solidFill>
                  <a:srgbClr val="FFFFFF"/>
                </a:solidFill>
                <a:latin typeface="Hedvig Letters Sans"/>
                <a:ea typeface="Hedvig Letters Sans" pitchFamily="34" charset="-122"/>
                <a:cs typeface="Hedvig Letters Sans" pitchFamily="34" charset="-120"/>
              </a:rPr>
              <a:t>Key Finding</a:t>
            </a:r>
            <a:endParaRPr lang="en-US" sz="1300" b="1" u="sng" dirty="0">
              <a:latin typeface="Hedvig Letters Sans"/>
            </a:endParaRPr>
          </a:p>
        </p:txBody>
      </p:sp>
      <p:sp>
        <p:nvSpPr>
          <p:cNvPr id="20" name="Text 17"/>
          <p:cNvSpPr/>
          <p:nvPr/>
        </p:nvSpPr>
        <p:spPr>
          <a:xfrm>
            <a:off x="8242487" y="4098683"/>
            <a:ext cx="3452351" cy="681012"/>
          </a:xfrm>
          <a:prstGeom prst="rect">
            <a:avLst/>
          </a:prstGeom>
          <a:noFill/>
          <a:ln/>
        </p:spPr>
        <p:txBody>
          <a:bodyPr wrap="square" lIns="0" tIns="0" rIns="0" bIns="0" rtlCol="0" anchor="ctr"/>
          <a:lstStyle/>
          <a:p>
            <a:pPr>
              <a:lnSpc>
                <a:spcPct val="130000"/>
              </a:lnSpc>
            </a:pPr>
            <a:r>
              <a:rPr lang="en-US" sz="1192" b="1" dirty="0">
                <a:solidFill>
                  <a:srgbClr val="FFFFFF">
                    <a:alpha val="90000"/>
                  </a:srgbClr>
                </a:solidFill>
                <a:latin typeface="Liter" pitchFamily="34" charset="0"/>
                <a:ea typeface="Liter" pitchFamily="34" charset="-122"/>
                <a:cs typeface="Liter" pitchFamily="34" charset="-120"/>
              </a:rPr>
              <a:t>Delta LR consistently delivers higher incremental profit</a:t>
            </a:r>
            <a:r>
              <a:rPr lang="en-US" sz="1192" dirty="0">
                <a:solidFill>
                  <a:srgbClr val="FFFFFF">
                    <a:alpha val="90000"/>
                  </a:srgbClr>
                </a:solidFill>
                <a:latin typeface="Liter" pitchFamily="34" charset="0"/>
                <a:ea typeface="Liter" pitchFamily="34" charset="-122"/>
                <a:cs typeface="Liter" pitchFamily="34" charset="-120"/>
              </a:rPr>
              <a:t>, especially at moderate targeting sizes (20-40%).</a:t>
            </a:r>
            <a:endParaRPr lang="en-US" sz="1600" dirty="0"/>
          </a:p>
        </p:txBody>
      </p:sp>
      <p:sp>
        <p:nvSpPr>
          <p:cNvPr id="21" name="Text 18"/>
          <p:cNvSpPr/>
          <p:nvPr/>
        </p:nvSpPr>
        <p:spPr>
          <a:xfrm>
            <a:off x="8242487" y="4855362"/>
            <a:ext cx="3452351" cy="681012"/>
          </a:xfrm>
          <a:prstGeom prst="rect">
            <a:avLst/>
          </a:prstGeom>
          <a:noFill/>
          <a:ln/>
        </p:spPr>
        <p:txBody>
          <a:bodyPr wrap="square" lIns="0" tIns="0" rIns="0" bIns="0" rtlCol="0" anchor="ctr"/>
          <a:lstStyle/>
          <a:p>
            <a:pPr>
              <a:lnSpc>
                <a:spcPct val="130000"/>
              </a:lnSpc>
            </a:pPr>
            <a:r>
              <a:rPr lang="en-US" sz="1192" dirty="0">
                <a:solidFill>
                  <a:srgbClr val="FFFFFF">
                    <a:alpha val="80000"/>
                  </a:srgbClr>
                </a:solidFill>
                <a:latin typeface="Liter" pitchFamily="34" charset="0"/>
                <a:ea typeface="Liter" pitchFamily="34" charset="-122"/>
                <a:cs typeface="Liter" pitchFamily="34" charset="-120"/>
              </a:rPr>
              <a:t>Momentum users respond more to promotions; level users include many "would-have-subscribed-anyway" users.</a:t>
            </a:r>
            <a:endParaRPr lang="en-US" sz="1600" dirty="0"/>
          </a:p>
        </p:txBody>
      </p:sp>
      <p:sp>
        <p:nvSpPr>
          <p:cNvPr id="22" name="Shape 19"/>
          <p:cNvSpPr/>
          <p:nvPr/>
        </p:nvSpPr>
        <p:spPr>
          <a:xfrm>
            <a:off x="8026103" y="5808844"/>
            <a:ext cx="3755022" cy="983683"/>
          </a:xfrm>
          <a:custGeom>
            <a:avLst/>
            <a:gdLst/>
            <a:ahLst/>
            <a:cxnLst/>
            <a:rect l="l" t="t" r="r" b="b"/>
            <a:pathLst>
              <a:path w="3755022" h="983683">
                <a:moveTo>
                  <a:pt x="151340" y="0"/>
                </a:moveTo>
                <a:lnTo>
                  <a:pt x="3603683" y="0"/>
                </a:lnTo>
                <a:cubicBezTo>
                  <a:pt x="3687265" y="0"/>
                  <a:pt x="3755022" y="67757"/>
                  <a:pt x="3755022" y="151340"/>
                </a:cubicBezTo>
                <a:lnTo>
                  <a:pt x="3755022" y="832344"/>
                </a:lnTo>
                <a:cubicBezTo>
                  <a:pt x="3755022" y="915926"/>
                  <a:pt x="3687265" y="983683"/>
                  <a:pt x="3603683" y="983683"/>
                </a:cubicBezTo>
                <a:lnTo>
                  <a:pt x="151340" y="983683"/>
                </a:lnTo>
                <a:cubicBezTo>
                  <a:pt x="67757" y="983683"/>
                  <a:pt x="0" y="915926"/>
                  <a:pt x="0" y="832344"/>
                </a:cubicBezTo>
                <a:lnTo>
                  <a:pt x="0" y="151340"/>
                </a:lnTo>
                <a:cubicBezTo>
                  <a:pt x="0" y="67813"/>
                  <a:pt x="67813" y="0"/>
                  <a:pt x="151340" y="0"/>
                </a:cubicBezTo>
                <a:close/>
              </a:path>
            </a:pathLst>
          </a:custGeom>
          <a:solidFill>
            <a:srgbClr val="1D1D1F"/>
          </a:solidFill>
          <a:ln/>
        </p:spPr>
      </p:sp>
      <p:sp>
        <p:nvSpPr>
          <p:cNvPr id="23" name="Shape 20"/>
          <p:cNvSpPr/>
          <p:nvPr/>
        </p:nvSpPr>
        <p:spPr>
          <a:xfrm>
            <a:off x="8209382" y="6036012"/>
            <a:ext cx="141877" cy="189170"/>
          </a:xfrm>
          <a:custGeom>
            <a:avLst/>
            <a:gdLst/>
            <a:ahLst/>
            <a:cxnLst/>
            <a:rect l="l" t="t" r="r" b="b"/>
            <a:pathLst>
              <a:path w="141877" h="189170">
                <a:moveTo>
                  <a:pt x="108218" y="141877"/>
                </a:moveTo>
                <a:cubicBezTo>
                  <a:pt x="110916" y="133638"/>
                  <a:pt x="116310" y="126175"/>
                  <a:pt x="122406" y="119746"/>
                </a:cubicBezTo>
                <a:cubicBezTo>
                  <a:pt x="134488" y="107036"/>
                  <a:pt x="141877" y="89856"/>
                  <a:pt x="141877" y="70939"/>
                </a:cubicBezTo>
                <a:cubicBezTo>
                  <a:pt x="141877" y="31775"/>
                  <a:pt x="110103" y="0"/>
                  <a:pt x="70939" y="0"/>
                </a:cubicBezTo>
                <a:cubicBezTo>
                  <a:pt x="31775" y="0"/>
                  <a:pt x="0" y="31775"/>
                  <a:pt x="0" y="70939"/>
                </a:cubicBezTo>
                <a:cubicBezTo>
                  <a:pt x="0" y="89856"/>
                  <a:pt x="7389" y="107036"/>
                  <a:pt x="19471" y="119746"/>
                </a:cubicBezTo>
                <a:cubicBezTo>
                  <a:pt x="25567" y="126175"/>
                  <a:pt x="30999" y="133638"/>
                  <a:pt x="33659" y="141877"/>
                </a:cubicBezTo>
                <a:lnTo>
                  <a:pt x="108182" y="141877"/>
                </a:lnTo>
                <a:close/>
                <a:moveTo>
                  <a:pt x="106408" y="159612"/>
                </a:moveTo>
                <a:lnTo>
                  <a:pt x="35469" y="159612"/>
                </a:lnTo>
                <a:lnTo>
                  <a:pt x="35469" y="165524"/>
                </a:lnTo>
                <a:cubicBezTo>
                  <a:pt x="35469" y="181854"/>
                  <a:pt x="48696" y="195081"/>
                  <a:pt x="65027" y="195081"/>
                </a:cubicBezTo>
                <a:lnTo>
                  <a:pt x="76850" y="195081"/>
                </a:lnTo>
                <a:cubicBezTo>
                  <a:pt x="93181" y="195081"/>
                  <a:pt x="106408" y="181854"/>
                  <a:pt x="106408" y="165524"/>
                </a:cubicBezTo>
                <a:lnTo>
                  <a:pt x="106408" y="159612"/>
                </a:lnTo>
                <a:close/>
                <a:moveTo>
                  <a:pt x="67983" y="41381"/>
                </a:moveTo>
                <a:cubicBezTo>
                  <a:pt x="53278" y="41381"/>
                  <a:pt x="41381" y="53278"/>
                  <a:pt x="41381" y="67983"/>
                </a:cubicBezTo>
                <a:cubicBezTo>
                  <a:pt x="41381" y="72897"/>
                  <a:pt x="37428" y="76850"/>
                  <a:pt x="32514" y="76850"/>
                </a:cubicBezTo>
                <a:cubicBezTo>
                  <a:pt x="27600" y="76850"/>
                  <a:pt x="23646" y="72897"/>
                  <a:pt x="23646" y="67983"/>
                </a:cubicBezTo>
                <a:cubicBezTo>
                  <a:pt x="23646" y="43487"/>
                  <a:pt x="43487" y="23646"/>
                  <a:pt x="67983" y="23646"/>
                </a:cubicBezTo>
                <a:cubicBezTo>
                  <a:pt x="72897" y="23646"/>
                  <a:pt x="76850" y="27600"/>
                  <a:pt x="76850" y="32514"/>
                </a:cubicBezTo>
                <a:cubicBezTo>
                  <a:pt x="76850" y="37428"/>
                  <a:pt x="72897" y="41381"/>
                  <a:pt x="67983" y="41381"/>
                </a:cubicBezTo>
                <a:close/>
              </a:path>
            </a:pathLst>
          </a:custGeom>
          <a:solidFill>
            <a:srgbClr val="0071E3"/>
          </a:solidFill>
          <a:ln/>
        </p:spPr>
      </p:sp>
      <p:sp>
        <p:nvSpPr>
          <p:cNvPr id="24" name="Text 21"/>
          <p:cNvSpPr/>
          <p:nvPr/>
        </p:nvSpPr>
        <p:spPr>
          <a:xfrm>
            <a:off x="8438139" y="5960180"/>
            <a:ext cx="3272639" cy="681012"/>
          </a:xfrm>
          <a:prstGeom prst="rect">
            <a:avLst/>
          </a:prstGeom>
          <a:noFill/>
          <a:ln/>
        </p:spPr>
        <p:txBody>
          <a:bodyPr wrap="square" lIns="0" tIns="0" rIns="0" bIns="0" rtlCol="0" anchor="ctr"/>
          <a:lstStyle/>
          <a:p>
            <a:pPr>
              <a:lnSpc>
                <a:spcPct val="130000"/>
              </a:lnSpc>
            </a:pPr>
            <a:r>
              <a:rPr lang="en-US" sz="1192" b="1" dirty="0">
                <a:solidFill>
                  <a:srgbClr val="FFFFFF"/>
                </a:solidFill>
                <a:latin typeface="Liter" pitchFamily="34" charset="0"/>
                <a:ea typeface="Liter" pitchFamily="34" charset="-122"/>
                <a:cs typeface="Liter" pitchFamily="34" charset="-120"/>
              </a:rPr>
              <a:t>Insight:</a:t>
            </a:r>
            <a:r>
              <a:rPr lang="en-US" sz="1192" dirty="0">
                <a:solidFill>
                  <a:srgbClr val="FFFFFF"/>
                </a:solidFill>
                <a:latin typeface="Liter" pitchFamily="34" charset="0"/>
                <a:ea typeface="Liter" pitchFamily="34" charset="-122"/>
                <a:cs typeface="Liter" pitchFamily="34" charset="-120"/>
              </a:rPr>
              <a:t> Optimal targeting size varies by uplift assumption. Higher uplift justifies broader targeting.</a:t>
            </a:r>
            <a:endParaRPr lang="en-US" sz="1600" dirty="0"/>
          </a:p>
        </p:txBody>
      </p:sp>
      <p:pic>
        <p:nvPicPr>
          <p:cNvPr id="25" name="Picture 24">
            <a:extLst>
              <a:ext uri="{FF2B5EF4-FFF2-40B4-BE49-F238E27FC236}">
                <a16:creationId xmlns:a16="http://schemas.microsoft.com/office/drawing/2014/main" id="{34D6CE72-D3AA-5F96-D4C9-D2236C1E082D}"/>
              </a:ext>
            </a:extLst>
          </p:cNvPr>
          <p:cNvPicPr>
            <a:picLocks noChangeAspect="1"/>
          </p:cNvPicPr>
          <p:nvPr/>
        </p:nvPicPr>
        <p:blipFill>
          <a:blip r:embed="rId3"/>
          <a:srcRect l="726" t="634" r="484" b="241"/>
          <a:stretch>
            <a:fillRect/>
          </a:stretch>
        </p:blipFill>
        <p:spPr>
          <a:xfrm>
            <a:off x="611582" y="2350236"/>
            <a:ext cx="6825314" cy="4130111"/>
          </a:xfrm>
          <a:prstGeom prst="rect">
            <a:avLst/>
          </a:prstGeom>
        </p:spPr>
      </p:pic>
      <p:pic>
        <p:nvPicPr>
          <p:cNvPr id="26" name="Picture 25" descr="A logo on a glass wall&#10;&#10;AI-generated content may be incorrect.">
            <a:extLst>
              <a:ext uri="{FF2B5EF4-FFF2-40B4-BE49-F238E27FC236}">
                <a16:creationId xmlns:a16="http://schemas.microsoft.com/office/drawing/2014/main" id="{37CEBA51-182C-03B4-A7DE-088DC5D107B7}"/>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334027" y="334027"/>
            <a:ext cx="11582400" cy="167014"/>
          </a:xfrm>
          <a:prstGeom prst="rect">
            <a:avLst/>
          </a:prstGeom>
          <a:noFill/>
          <a:ln/>
        </p:spPr>
        <p:txBody>
          <a:bodyPr wrap="square" lIns="0" tIns="0" rIns="0" bIns="0" rtlCol="0" anchor="ctr"/>
          <a:lstStyle/>
          <a:p>
            <a:pPr>
              <a:lnSpc>
                <a:spcPct val="120000"/>
              </a:lnSpc>
            </a:pPr>
            <a:r>
              <a:rPr lang="en-US" sz="921" b="1" kern="0" spc="46" dirty="0">
                <a:solidFill>
                  <a:srgbClr val="0071E3"/>
                </a:solidFill>
                <a:latin typeface="Liter" pitchFamily="34" charset="0"/>
                <a:ea typeface="Liter" pitchFamily="34" charset="-122"/>
                <a:cs typeface="Liter" pitchFamily="34" charset="-120"/>
              </a:rPr>
              <a:t>Strategic Recommendation</a:t>
            </a:r>
            <a:endParaRPr lang="en-US" sz="1600" dirty="0"/>
          </a:p>
        </p:txBody>
      </p:sp>
      <p:sp>
        <p:nvSpPr>
          <p:cNvPr id="3" name="Text 1"/>
          <p:cNvSpPr/>
          <p:nvPr/>
        </p:nvSpPr>
        <p:spPr>
          <a:xfrm>
            <a:off x="334027" y="567847"/>
            <a:ext cx="11724362" cy="400833"/>
          </a:xfrm>
          <a:prstGeom prst="rect">
            <a:avLst/>
          </a:prstGeom>
          <a:noFill/>
          <a:ln/>
        </p:spPr>
        <p:txBody>
          <a:bodyPr wrap="square" lIns="0" tIns="0" rIns="0" bIns="0" rtlCol="0" anchor="ctr"/>
          <a:lstStyle/>
          <a:p>
            <a:pPr>
              <a:lnSpc>
                <a:spcPct val="80000"/>
              </a:lnSpc>
            </a:pPr>
            <a:r>
              <a:rPr lang="en-US" sz="3156" b="1" dirty="0">
                <a:solidFill>
                  <a:srgbClr val="1D1D1F"/>
                </a:solidFill>
                <a:latin typeface="Hedvig Letters Sans" pitchFamily="34" charset="0"/>
                <a:ea typeface="Hedvig Letters Sans" pitchFamily="34" charset="-122"/>
                <a:cs typeface="Hedvig Letters Sans" pitchFamily="34" charset="-120"/>
              </a:rPr>
              <a:t>Recommended Targeting Strategy</a:t>
            </a:r>
            <a:endParaRPr lang="en-US" sz="1600" dirty="0"/>
          </a:p>
        </p:txBody>
      </p:sp>
      <p:sp>
        <p:nvSpPr>
          <p:cNvPr id="4" name="Shape 2"/>
          <p:cNvSpPr/>
          <p:nvPr/>
        </p:nvSpPr>
        <p:spPr>
          <a:xfrm>
            <a:off x="334027" y="1169096"/>
            <a:ext cx="5386192" cy="3373677"/>
          </a:xfrm>
          <a:custGeom>
            <a:avLst/>
            <a:gdLst/>
            <a:ahLst/>
            <a:cxnLst/>
            <a:rect l="l" t="t" r="r" b="b"/>
            <a:pathLst>
              <a:path w="5386192" h="3373677">
                <a:moveTo>
                  <a:pt x="133598" y="0"/>
                </a:moveTo>
                <a:lnTo>
                  <a:pt x="5252594" y="0"/>
                </a:lnTo>
                <a:cubicBezTo>
                  <a:pt x="5326378" y="0"/>
                  <a:pt x="5386192" y="59814"/>
                  <a:pt x="5386192" y="133598"/>
                </a:cubicBezTo>
                <a:lnTo>
                  <a:pt x="5386192" y="3240079"/>
                </a:lnTo>
                <a:cubicBezTo>
                  <a:pt x="5386192" y="3313863"/>
                  <a:pt x="5326378" y="3373677"/>
                  <a:pt x="5252594" y="3373677"/>
                </a:cubicBezTo>
                <a:lnTo>
                  <a:pt x="133598" y="3373677"/>
                </a:lnTo>
                <a:cubicBezTo>
                  <a:pt x="59814" y="3373677"/>
                  <a:pt x="0" y="3313863"/>
                  <a:pt x="0" y="3240079"/>
                </a:cubicBezTo>
                <a:lnTo>
                  <a:pt x="0" y="133598"/>
                </a:lnTo>
                <a:cubicBezTo>
                  <a:pt x="0" y="59863"/>
                  <a:pt x="59863" y="0"/>
                  <a:pt x="133598" y="0"/>
                </a:cubicBezTo>
                <a:close/>
              </a:path>
            </a:pathLst>
          </a:custGeom>
          <a:gradFill flip="none" rotWithShape="1">
            <a:gsLst>
              <a:gs pos="0">
                <a:srgbClr val="0071E3"/>
              </a:gs>
              <a:gs pos="100000">
                <a:srgbClr val="0071E3">
                  <a:alpha val="80000"/>
                </a:srgbClr>
              </a:gs>
            </a:gsLst>
            <a:lin ang="2700000" scaled="1"/>
          </a:gradFill>
          <a:ln/>
        </p:spPr>
      </p:sp>
      <p:sp>
        <p:nvSpPr>
          <p:cNvPr id="5" name="Shape 3"/>
          <p:cNvSpPr/>
          <p:nvPr/>
        </p:nvSpPr>
        <p:spPr>
          <a:xfrm>
            <a:off x="601249" y="1436318"/>
            <a:ext cx="534444" cy="534444"/>
          </a:xfrm>
          <a:custGeom>
            <a:avLst/>
            <a:gdLst/>
            <a:ahLst/>
            <a:cxnLst/>
            <a:rect l="l" t="t" r="r" b="b"/>
            <a:pathLst>
              <a:path w="534444" h="534444">
                <a:moveTo>
                  <a:pt x="100208" y="0"/>
                </a:moveTo>
                <a:lnTo>
                  <a:pt x="434236" y="0"/>
                </a:lnTo>
                <a:cubicBezTo>
                  <a:pt x="489579" y="0"/>
                  <a:pt x="534444" y="44865"/>
                  <a:pt x="534444" y="100208"/>
                </a:cubicBezTo>
                <a:lnTo>
                  <a:pt x="534444" y="434236"/>
                </a:lnTo>
                <a:cubicBezTo>
                  <a:pt x="534444" y="489579"/>
                  <a:pt x="489579" y="534444"/>
                  <a:pt x="434236" y="534444"/>
                </a:cubicBezTo>
                <a:lnTo>
                  <a:pt x="100208" y="534444"/>
                </a:lnTo>
                <a:cubicBezTo>
                  <a:pt x="44865" y="534444"/>
                  <a:pt x="0" y="489579"/>
                  <a:pt x="0" y="434236"/>
                </a:cubicBezTo>
                <a:lnTo>
                  <a:pt x="0" y="100208"/>
                </a:lnTo>
                <a:cubicBezTo>
                  <a:pt x="0" y="44902"/>
                  <a:pt x="44902" y="0"/>
                  <a:pt x="100208" y="0"/>
                </a:cubicBezTo>
                <a:close/>
              </a:path>
            </a:pathLst>
          </a:custGeom>
          <a:solidFill>
            <a:srgbClr val="FFFFFF">
              <a:alpha val="20000"/>
            </a:srgbClr>
          </a:solidFill>
          <a:ln/>
        </p:spPr>
      </p:sp>
      <p:sp>
        <p:nvSpPr>
          <p:cNvPr id="6" name="Shape 4"/>
          <p:cNvSpPr/>
          <p:nvPr/>
        </p:nvSpPr>
        <p:spPr>
          <a:xfrm>
            <a:off x="745299" y="1578279"/>
            <a:ext cx="250521" cy="250521"/>
          </a:xfrm>
          <a:custGeom>
            <a:avLst/>
            <a:gdLst/>
            <a:ahLst/>
            <a:cxnLst/>
            <a:rect l="l" t="t" r="r" b="b"/>
            <a:pathLst>
              <a:path w="250521" h="250521">
                <a:moveTo>
                  <a:pt x="219205" y="125260"/>
                </a:moveTo>
                <a:cubicBezTo>
                  <a:pt x="219205" y="73411"/>
                  <a:pt x="177110" y="31315"/>
                  <a:pt x="125260" y="31315"/>
                </a:cubicBezTo>
                <a:cubicBezTo>
                  <a:pt x="73411" y="31315"/>
                  <a:pt x="31315" y="73411"/>
                  <a:pt x="31315" y="125260"/>
                </a:cubicBezTo>
                <a:cubicBezTo>
                  <a:pt x="31315" y="177110"/>
                  <a:pt x="73411" y="219205"/>
                  <a:pt x="125260" y="219205"/>
                </a:cubicBezTo>
                <a:cubicBezTo>
                  <a:pt x="177110" y="219205"/>
                  <a:pt x="219205" y="177110"/>
                  <a:pt x="219205" y="125260"/>
                </a:cubicBezTo>
                <a:close/>
                <a:moveTo>
                  <a:pt x="0" y="125260"/>
                </a:moveTo>
                <a:cubicBezTo>
                  <a:pt x="0" y="56127"/>
                  <a:pt x="56127" y="0"/>
                  <a:pt x="125260" y="0"/>
                </a:cubicBezTo>
                <a:cubicBezTo>
                  <a:pt x="194393" y="0"/>
                  <a:pt x="250521" y="56127"/>
                  <a:pt x="250521" y="125260"/>
                </a:cubicBezTo>
                <a:cubicBezTo>
                  <a:pt x="250521" y="194393"/>
                  <a:pt x="194393" y="250521"/>
                  <a:pt x="125260" y="250521"/>
                </a:cubicBezTo>
                <a:cubicBezTo>
                  <a:pt x="56127" y="250521"/>
                  <a:pt x="0" y="194393"/>
                  <a:pt x="0" y="125260"/>
                </a:cubicBezTo>
                <a:close/>
                <a:moveTo>
                  <a:pt x="125260" y="164404"/>
                </a:moveTo>
                <a:cubicBezTo>
                  <a:pt x="146864" y="164404"/>
                  <a:pt x="164404" y="146864"/>
                  <a:pt x="164404" y="125260"/>
                </a:cubicBezTo>
                <a:cubicBezTo>
                  <a:pt x="164404" y="103656"/>
                  <a:pt x="146864" y="86116"/>
                  <a:pt x="125260" y="86116"/>
                </a:cubicBezTo>
                <a:cubicBezTo>
                  <a:pt x="103656" y="86116"/>
                  <a:pt x="86116" y="103656"/>
                  <a:pt x="86116" y="125260"/>
                </a:cubicBezTo>
                <a:cubicBezTo>
                  <a:pt x="86116" y="146864"/>
                  <a:pt x="103656" y="164404"/>
                  <a:pt x="125260" y="164404"/>
                </a:cubicBezTo>
                <a:close/>
                <a:moveTo>
                  <a:pt x="125260" y="54801"/>
                </a:moveTo>
                <a:cubicBezTo>
                  <a:pt x="164148" y="54801"/>
                  <a:pt x="195719" y="86373"/>
                  <a:pt x="195719" y="125260"/>
                </a:cubicBezTo>
                <a:cubicBezTo>
                  <a:pt x="195719" y="164148"/>
                  <a:pt x="164148" y="195719"/>
                  <a:pt x="125260" y="195719"/>
                </a:cubicBezTo>
                <a:cubicBezTo>
                  <a:pt x="86373" y="195719"/>
                  <a:pt x="54801" y="164148"/>
                  <a:pt x="54801" y="125260"/>
                </a:cubicBezTo>
                <a:cubicBezTo>
                  <a:pt x="54801" y="86373"/>
                  <a:pt x="86373" y="54801"/>
                  <a:pt x="125260" y="54801"/>
                </a:cubicBezTo>
                <a:close/>
                <a:moveTo>
                  <a:pt x="109603" y="125260"/>
                </a:moveTo>
                <a:cubicBezTo>
                  <a:pt x="109603" y="116619"/>
                  <a:pt x="116619" y="109603"/>
                  <a:pt x="125260" y="109603"/>
                </a:cubicBezTo>
                <a:cubicBezTo>
                  <a:pt x="133902" y="109603"/>
                  <a:pt x="140918" y="116619"/>
                  <a:pt x="140918" y="125260"/>
                </a:cubicBezTo>
                <a:cubicBezTo>
                  <a:pt x="140918" y="133902"/>
                  <a:pt x="133902" y="140918"/>
                  <a:pt x="125260" y="140918"/>
                </a:cubicBezTo>
                <a:cubicBezTo>
                  <a:pt x="116619" y="140918"/>
                  <a:pt x="109603" y="133902"/>
                  <a:pt x="109603" y="125260"/>
                </a:cubicBezTo>
                <a:close/>
              </a:path>
            </a:pathLst>
          </a:custGeom>
          <a:solidFill>
            <a:srgbClr val="FFFFFF"/>
          </a:solidFill>
          <a:ln/>
        </p:spPr>
      </p:sp>
      <p:sp>
        <p:nvSpPr>
          <p:cNvPr id="7" name="Text 5"/>
          <p:cNvSpPr/>
          <p:nvPr/>
        </p:nvSpPr>
        <p:spPr>
          <a:xfrm>
            <a:off x="1269304" y="1569929"/>
            <a:ext cx="2822532" cy="267222"/>
          </a:xfrm>
          <a:prstGeom prst="rect">
            <a:avLst/>
          </a:prstGeom>
          <a:noFill/>
          <a:ln/>
        </p:spPr>
        <p:txBody>
          <a:bodyPr wrap="square" lIns="0" tIns="0" rIns="0" bIns="0" rtlCol="0" anchor="ctr"/>
          <a:lstStyle/>
          <a:p>
            <a:pPr>
              <a:lnSpc>
                <a:spcPct val="110000"/>
              </a:lnSpc>
            </a:pPr>
            <a:r>
              <a:rPr lang="en-US" sz="1578" b="1" dirty="0">
                <a:solidFill>
                  <a:srgbClr val="FFFFFF"/>
                </a:solidFill>
                <a:latin typeface="Hedvig Letters Sans" pitchFamily="34" charset="0"/>
                <a:ea typeface="Hedvig Letters Sans" pitchFamily="34" charset="-122"/>
                <a:cs typeface="Hedvig Letters Sans" pitchFamily="34" charset="-120"/>
              </a:rPr>
              <a:t>Who Should Receive the Offer</a:t>
            </a:r>
            <a:endParaRPr lang="en-US" sz="1600" dirty="0"/>
          </a:p>
        </p:txBody>
      </p:sp>
      <p:sp>
        <p:nvSpPr>
          <p:cNvPr id="8" name="Shape 6"/>
          <p:cNvSpPr/>
          <p:nvPr/>
        </p:nvSpPr>
        <p:spPr>
          <a:xfrm>
            <a:off x="601249" y="2171178"/>
            <a:ext cx="334027" cy="334027"/>
          </a:xfrm>
          <a:custGeom>
            <a:avLst/>
            <a:gdLst/>
            <a:ahLst/>
            <a:cxnLst/>
            <a:rect l="l" t="t" r="r" b="b"/>
            <a:pathLst>
              <a:path w="334027" h="334027">
                <a:moveTo>
                  <a:pt x="66805" y="0"/>
                </a:moveTo>
                <a:lnTo>
                  <a:pt x="267222" y="0"/>
                </a:lnTo>
                <a:cubicBezTo>
                  <a:pt x="304118" y="0"/>
                  <a:pt x="334027" y="29910"/>
                  <a:pt x="334027" y="66805"/>
                </a:cubicBezTo>
                <a:lnTo>
                  <a:pt x="334027" y="267222"/>
                </a:lnTo>
                <a:cubicBezTo>
                  <a:pt x="334027" y="304118"/>
                  <a:pt x="304118" y="334027"/>
                  <a:pt x="267222" y="334027"/>
                </a:cubicBezTo>
                <a:lnTo>
                  <a:pt x="66805" y="334027"/>
                </a:lnTo>
                <a:cubicBezTo>
                  <a:pt x="29910" y="334027"/>
                  <a:pt x="0" y="304118"/>
                  <a:pt x="0" y="267222"/>
                </a:cubicBezTo>
                <a:lnTo>
                  <a:pt x="0" y="66805"/>
                </a:lnTo>
                <a:cubicBezTo>
                  <a:pt x="0" y="29910"/>
                  <a:pt x="29910" y="0"/>
                  <a:pt x="66805" y="0"/>
                </a:cubicBezTo>
                <a:close/>
              </a:path>
            </a:pathLst>
          </a:custGeom>
          <a:solidFill>
            <a:srgbClr val="FFFFFF">
              <a:alpha val="20000"/>
            </a:srgbClr>
          </a:solidFill>
          <a:ln/>
        </p:spPr>
      </p:sp>
      <p:sp>
        <p:nvSpPr>
          <p:cNvPr id="9" name="Text 7"/>
          <p:cNvSpPr/>
          <p:nvPr/>
        </p:nvSpPr>
        <p:spPr>
          <a:xfrm>
            <a:off x="738166" y="2221282"/>
            <a:ext cx="133611" cy="233819"/>
          </a:xfrm>
          <a:prstGeom prst="rect">
            <a:avLst/>
          </a:prstGeom>
          <a:noFill/>
          <a:ln/>
        </p:spPr>
        <p:txBody>
          <a:bodyPr wrap="square" lIns="0" tIns="0" rIns="0" bIns="0" rtlCol="0" anchor="ctr"/>
          <a:lstStyle/>
          <a:p>
            <a:pPr>
              <a:lnSpc>
                <a:spcPct val="130000"/>
              </a:lnSpc>
            </a:pPr>
            <a:r>
              <a:rPr lang="en-US" sz="1184" b="1" dirty="0">
                <a:solidFill>
                  <a:srgbClr val="FFFFFF"/>
                </a:solidFill>
                <a:latin typeface="Liter" pitchFamily="34" charset="0"/>
                <a:ea typeface="Liter" pitchFamily="34" charset="-122"/>
                <a:cs typeface="Liter" pitchFamily="34" charset="-120"/>
              </a:rPr>
              <a:t>1</a:t>
            </a:r>
            <a:endParaRPr lang="en-US" sz="1600" dirty="0"/>
          </a:p>
        </p:txBody>
      </p:sp>
      <p:sp>
        <p:nvSpPr>
          <p:cNvPr id="10" name="Text 8"/>
          <p:cNvSpPr/>
          <p:nvPr/>
        </p:nvSpPr>
        <p:spPr>
          <a:xfrm>
            <a:off x="1068888" y="2171178"/>
            <a:ext cx="4467616" cy="233819"/>
          </a:xfrm>
          <a:prstGeom prst="rect">
            <a:avLst/>
          </a:prstGeom>
          <a:noFill/>
          <a:ln/>
        </p:spPr>
        <p:txBody>
          <a:bodyPr wrap="square" lIns="0" tIns="0" rIns="0" bIns="0" rtlCol="0" anchor="ctr"/>
          <a:lstStyle/>
          <a:p>
            <a:pPr>
              <a:lnSpc>
                <a:spcPct val="120000"/>
              </a:lnSpc>
            </a:pPr>
            <a:r>
              <a:rPr lang="en-US" sz="1315" b="1" dirty="0">
                <a:solidFill>
                  <a:srgbClr val="FFFFFF"/>
                </a:solidFill>
                <a:latin typeface="Liter" pitchFamily="34" charset="0"/>
                <a:ea typeface="Liter" pitchFamily="34" charset="-122"/>
                <a:cs typeface="Liter" pitchFamily="34" charset="-120"/>
              </a:rPr>
              <a:t>Top 20-30% Predicted Probability</a:t>
            </a:r>
            <a:endParaRPr lang="en-US" sz="1600" dirty="0"/>
          </a:p>
        </p:txBody>
      </p:sp>
      <p:sp>
        <p:nvSpPr>
          <p:cNvPr id="11" name="Text 9"/>
          <p:cNvSpPr/>
          <p:nvPr/>
        </p:nvSpPr>
        <p:spPr>
          <a:xfrm>
            <a:off x="1068888" y="2471803"/>
            <a:ext cx="4450915" cy="400833"/>
          </a:xfrm>
          <a:prstGeom prst="rect">
            <a:avLst/>
          </a:prstGeom>
          <a:noFill/>
          <a:ln/>
        </p:spPr>
        <p:txBody>
          <a:bodyPr wrap="square" lIns="0" tIns="0" rIns="0" bIns="0" rtlCol="0" anchor="ctr"/>
          <a:lstStyle/>
          <a:p>
            <a:pPr>
              <a:lnSpc>
                <a:spcPct val="130000"/>
              </a:lnSpc>
            </a:pPr>
            <a:r>
              <a:rPr lang="en-US" sz="1052" dirty="0">
                <a:solidFill>
                  <a:srgbClr val="FFFFFF">
                    <a:alpha val="80000"/>
                  </a:srgbClr>
                </a:solidFill>
                <a:latin typeface="Liter" pitchFamily="34" charset="0"/>
                <a:ea typeface="Liter" pitchFamily="34" charset="-122"/>
                <a:cs typeface="Liter" pitchFamily="34" charset="-120"/>
              </a:rPr>
              <a:t>Users with highest likelihood of conversion based on logistic regression scores</a:t>
            </a:r>
            <a:endParaRPr lang="en-US" sz="1600" dirty="0"/>
          </a:p>
        </p:txBody>
      </p:sp>
      <p:sp>
        <p:nvSpPr>
          <p:cNvPr id="12" name="Shape 10"/>
          <p:cNvSpPr/>
          <p:nvPr/>
        </p:nvSpPr>
        <p:spPr>
          <a:xfrm>
            <a:off x="601249" y="3039649"/>
            <a:ext cx="334027" cy="334027"/>
          </a:xfrm>
          <a:custGeom>
            <a:avLst/>
            <a:gdLst/>
            <a:ahLst/>
            <a:cxnLst/>
            <a:rect l="l" t="t" r="r" b="b"/>
            <a:pathLst>
              <a:path w="334027" h="334027">
                <a:moveTo>
                  <a:pt x="66805" y="0"/>
                </a:moveTo>
                <a:lnTo>
                  <a:pt x="267222" y="0"/>
                </a:lnTo>
                <a:cubicBezTo>
                  <a:pt x="304118" y="0"/>
                  <a:pt x="334027" y="29910"/>
                  <a:pt x="334027" y="66805"/>
                </a:cubicBezTo>
                <a:lnTo>
                  <a:pt x="334027" y="267222"/>
                </a:lnTo>
                <a:cubicBezTo>
                  <a:pt x="334027" y="304118"/>
                  <a:pt x="304118" y="334027"/>
                  <a:pt x="267222" y="334027"/>
                </a:cubicBezTo>
                <a:lnTo>
                  <a:pt x="66805" y="334027"/>
                </a:lnTo>
                <a:cubicBezTo>
                  <a:pt x="29910" y="334027"/>
                  <a:pt x="0" y="304118"/>
                  <a:pt x="0" y="267222"/>
                </a:cubicBezTo>
                <a:lnTo>
                  <a:pt x="0" y="66805"/>
                </a:lnTo>
                <a:cubicBezTo>
                  <a:pt x="0" y="29910"/>
                  <a:pt x="29910" y="0"/>
                  <a:pt x="66805" y="0"/>
                </a:cubicBezTo>
                <a:close/>
              </a:path>
            </a:pathLst>
          </a:custGeom>
          <a:solidFill>
            <a:srgbClr val="FFFFFF">
              <a:alpha val="20000"/>
            </a:srgbClr>
          </a:solidFill>
          <a:ln/>
        </p:spPr>
      </p:sp>
      <p:sp>
        <p:nvSpPr>
          <p:cNvPr id="13" name="Text 11"/>
          <p:cNvSpPr/>
          <p:nvPr/>
        </p:nvSpPr>
        <p:spPr>
          <a:xfrm>
            <a:off x="724596" y="3089753"/>
            <a:ext cx="158663" cy="233819"/>
          </a:xfrm>
          <a:prstGeom prst="rect">
            <a:avLst/>
          </a:prstGeom>
          <a:noFill/>
          <a:ln/>
        </p:spPr>
        <p:txBody>
          <a:bodyPr wrap="square" lIns="0" tIns="0" rIns="0" bIns="0" rtlCol="0" anchor="ctr"/>
          <a:lstStyle/>
          <a:p>
            <a:pPr>
              <a:lnSpc>
                <a:spcPct val="130000"/>
              </a:lnSpc>
            </a:pPr>
            <a:r>
              <a:rPr lang="en-US" sz="1184" b="1" dirty="0">
                <a:solidFill>
                  <a:srgbClr val="FFFFFF"/>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1068888" y="3039649"/>
            <a:ext cx="4434214" cy="233819"/>
          </a:xfrm>
          <a:prstGeom prst="rect">
            <a:avLst/>
          </a:prstGeom>
          <a:noFill/>
          <a:ln/>
        </p:spPr>
        <p:txBody>
          <a:bodyPr wrap="square" lIns="0" tIns="0" rIns="0" bIns="0" rtlCol="0" anchor="ctr"/>
          <a:lstStyle/>
          <a:p>
            <a:pPr>
              <a:lnSpc>
                <a:spcPct val="120000"/>
              </a:lnSpc>
            </a:pPr>
            <a:r>
              <a:rPr lang="en-US" sz="1315" b="1" dirty="0">
                <a:solidFill>
                  <a:srgbClr val="FFFFFF"/>
                </a:solidFill>
                <a:latin typeface="Liter" pitchFamily="34" charset="0"/>
                <a:ea typeface="Liter" pitchFamily="34" charset="-122"/>
                <a:cs typeface="Liter" pitchFamily="34" charset="-120"/>
              </a:rPr>
              <a:t>Delta-Augmented Features</a:t>
            </a:r>
            <a:endParaRPr lang="en-US" sz="1600" dirty="0"/>
          </a:p>
        </p:txBody>
      </p:sp>
      <p:sp>
        <p:nvSpPr>
          <p:cNvPr id="15" name="Text 13"/>
          <p:cNvSpPr/>
          <p:nvPr/>
        </p:nvSpPr>
        <p:spPr>
          <a:xfrm>
            <a:off x="1068888" y="3340274"/>
            <a:ext cx="4417512" cy="200416"/>
          </a:xfrm>
          <a:prstGeom prst="rect">
            <a:avLst/>
          </a:prstGeom>
          <a:noFill/>
          <a:ln/>
        </p:spPr>
        <p:txBody>
          <a:bodyPr wrap="square" lIns="0" tIns="0" rIns="0" bIns="0" rtlCol="0" anchor="ctr"/>
          <a:lstStyle/>
          <a:p>
            <a:pPr>
              <a:lnSpc>
                <a:spcPct val="130000"/>
              </a:lnSpc>
            </a:pPr>
            <a:r>
              <a:rPr lang="en-US" sz="1052" dirty="0">
                <a:solidFill>
                  <a:srgbClr val="FFFFFF">
                    <a:alpha val="80000"/>
                  </a:srgbClr>
                </a:solidFill>
                <a:latin typeface="Liter" pitchFamily="34" charset="0"/>
                <a:ea typeface="Liter" pitchFamily="34" charset="-122"/>
                <a:cs typeface="Liter" pitchFamily="34" charset="-120"/>
              </a:rPr>
              <a:t>Identified using both current engagement levels and momentum indicators</a:t>
            </a:r>
            <a:endParaRPr lang="en-US" sz="1600" dirty="0"/>
          </a:p>
        </p:txBody>
      </p:sp>
      <p:sp>
        <p:nvSpPr>
          <p:cNvPr id="16" name="Shape 14"/>
          <p:cNvSpPr/>
          <p:nvPr/>
        </p:nvSpPr>
        <p:spPr>
          <a:xfrm>
            <a:off x="601249" y="3707704"/>
            <a:ext cx="334027" cy="334027"/>
          </a:xfrm>
          <a:custGeom>
            <a:avLst/>
            <a:gdLst/>
            <a:ahLst/>
            <a:cxnLst/>
            <a:rect l="l" t="t" r="r" b="b"/>
            <a:pathLst>
              <a:path w="334027" h="334027">
                <a:moveTo>
                  <a:pt x="66805" y="0"/>
                </a:moveTo>
                <a:lnTo>
                  <a:pt x="267222" y="0"/>
                </a:lnTo>
                <a:cubicBezTo>
                  <a:pt x="304118" y="0"/>
                  <a:pt x="334027" y="29910"/>
                  <a:pt x="334027" y="66805"/>
                </a:cubicBezTo>
                <a:lnTo>
                  <a:pt x="334027" y="267222"/>
                </a:lnTo>
                <a:cubicBezTo>
                  <a:pt x="334027" y="304118"/>
                  <a:pt x="304118" y="334027"/>
                  <a:pt x="267222" y="334027"/>
                </a:cubicBezTo>
                <a:lnTo>
                  <a:pt x="66805" y="334027"/>
                </a:lnTo>
                <a:cubicBezTo>
                  <a:pt x="29910" y="334027"/>
                  <a:pt x="0" y="304118"/>
                  <a:pt x="0" y="267222"/>
                </a:cubicBezTo>
                <a:lnTo>
                  <a:pt x="0" y="66805"/>
                </a:lnTo>
                <a:cubicBezTo>
                  <a:pt x="0" y="29910"/>
                  <a:pt x="29910" y="0"/>
                  <a:pt x="66805" y="0"/>
                </a:cubicBezTo>
                <a:close/>
              </a:path>
            </a:pathLst>
          </a:custGeom>
          <a:solidFill>
            <a:srgbClr val="FFFFFF">
              <a:alpha val="20000"/>
            </a:srgbClr>
          </a:solidFill>
          <a:ln/>
        </p:spPr>
      </p:sp>
      <p:sp>
        <p:nvSpPr>
          <p:cNvPr id="17" name="Text 15"/>
          <p:cNvSpPr/>
          <p:nvPr/>
        </p:nvSpPr>
        <p:spPr>
          <a:xfrm>
            <a:off x="723900" y="3757808"/>
            <a:ext cx="167014" cy="233819"/>
          </a:xfrm>
          <a:prstGeom prst="rect">
            <a:avLst/>
          </a:prstGeom>
          <a:noFill/>
          <a:ln/>
        </p:spPr>
        <p:txBody>
          <a:bodyPr wrap="square" lIns="0" tIns="0" rIns="0" bIns="0" rtlCol="0" anchor="ctr"/>
          <a:lstStyle/>
          <a:p>
            <a:pPr>
              <a:lnSpc>
                <a:spcPct val="130000"/>
              </a:lnSpc>
            </a:pPr>
            <a:r>
              <a:rPr lang="en-US" sz="1184" b="1" dirty="0">
                <a:solidFill>
                  <a:srgbClr val="FFFFFF"/>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068888" y="3707704"/>
            <a:ext cx="3832964" cy="233819"/>
          </a:xfrm>
          <a:prstGeom prst="rect">
            <a:avLst/>
          </a:prstGeom>
          <a:noFill/>
          <a:ln/>
        </p:spPr>
        <p:txBody>
          <a:bodyPr wrap="square" lIns="0" tIns="0" rIns="0" bIns="0" rtlCol="0" anchor="ctr"/>
          <a:lstStyle/>
          <a:p>
            <a:pPr>
              <a:lnSpc>
                <a:spcPct val="120000"/>
              </a:lnSpc>
            </a:pPr>
            <a:r>
              <a:rPr lang="en-US" sz="1315" b="1" dirty="0">
                <a:solidFill>
                  <a:srgbClr val="FFFFFF"/>
                </a:solidFill>
                <a:latin typeface="Liter" pitchFamily="34" charset="0"/>
                <a:ea typeface="Liter" pitchFamily="34" charset="-122"/>
                <a:cs typeface="Liter" pitchFamily="34" charset="-120"/>
              </a:rPr>
              <a:t>Continuous Monitoring</a:t>
            </a:r>
            <a:endParaRPr lang="en-US" sz="1600" dirty="0"/>
          </a:p>
        </p:txBody>
      </p:sp>
      <p:sp>
        <p:nvSpPr>
          <p:cNvPr id="19" name="Text 17"/>
          <p:cNvSpPr/>
          <p:nvPr/>
        </p:nvSpPr>
        <p:spPr>
          <a:xfrm>
            <a:off x="1068888" y="4008329"/>
            <a:ext cx="3816263" cy="200416"/>
          </a:xfrm>
          <a:prstGeom prst="rect">
            <a:avLst/>
          </a:prstGeom>
          <a:noFill/>
          <a:ln/>
        </p:spPr>
        <p:txBody>
          <a:bodyPr wrap="square" lIns="0" tIns="0" rIns="0" bIns="0" rtlCol="0" anchor="ctr"/>
          <a:lstStyle/>
          <a:p>
            <a:pPr>
              <a:lnSpc>
                <a:spcPct val="130000"/>
              </a:lnSpc>
            </a:pPr>
            <a:r>
              <a:rPr lang="en-US" sz="1052" dirty="0">
                <a:solidFill>
                  <a:srgbClr val="FFFFFF">
                    <a:alpha val="80000"/>
                  </a:srgbClr>
                </a:solidFill>
                <a:latin typeface="Liter" pitchFamily="34" charset="0"/>
                <a:ea typeface="Liter" pitchFamily="34" charset="-122"/>
                <a:cs typeface="Liter" pitchFamily="34" charset="-120"/>
              </a:rPr>
              <a:t>Track actual vs predicted conversion rates and adjust thresholds</a:t>
            </a:r>
            <a:endParaRPr lang="en-US" sz="1600" dirty="0"/>
          </a:p>
        </p:txBody>
      </p:sp>
      <p:sp>
        <p:nvSpPr>
          <p:cNvPr id="20" name="Shape 18"/>
          <p:cNvSpPr/>
          <p:nvPr/>
        </p:nvSpPr>
        <p:spPr>
          <a:xfrm>
            <a:off x="336811" y="4709789"/>
            <a:ext cx="5383408" cy="1809315"/>
          </a:xfrm>
          <a:custGeom>
            <a:avLst/>
            <a:gdLst/>
            <a:ahLst/>
            <a:cxnLst/>
            <a:rect l="l" t="t" r="r" b="b"/>
            <a:pathLst>
              <a:path w="5383408" h="1809315">
                <a:moveTo>
                  <a:pt x="133618" y="0"/>
                </a:moveTo>
                <a:lnTo>
                  <a:pt x="5249790" y="0"/>
                </a:lnTo>
                <a:cubicBezTo>
                  <a:pt x="5323585" y="0"/>
                  <a:pt x="5383408" y="59823"/>
                  <a:pt x="5383408" y="133618"/>
                </a:cubicBezTo>
                <a:lnTo>
                  <a:pt x="5383408" y="1675697"/>
                </a:lnTo>
                <a:cubicBezTo>
                  <a:pt x="5383408" y="1749492"/>
                  <a:pt x="5323585" y="1809315"/>
                  <a:pt x="5249790" y="1809315"/>
                </a:cubicBezTo>
                <a:lnTo>
                  <a:pt x="133618" y="1809315"/>
                </a:lnTo>
                <a:cubicBezTo>
                  <a:pt x="59823" y="1809315"/>
                  <a:pt x="0" y="1749492"/>
                  <a:pt x="0" y="1675697"/>
                </a:cubicBezTo>
                <a:lnTo>
                  <a:pt x="0" y="133618"/>
                </a:lnTo>
                <a:cubicBezTo>
                  <a:pt x="0" y="59872"/>
                  <a:pt x="59872" y="0"/>
                  <a:pt x="133618" y="0"/>
                </a:cubicBezTo>
                <a:close/>
              </a:path>
            </a:pathLst>
          </a:custGeom>
          <a:solidFill>
            <a:srgbClr val="FFFFFF"/>
          </a:solidFill>
          <a:ln w="8467">
            <a:solidFill>
              <a:srgbClr val="F3F4F6"/>
            </a:solidFill>
            <a:prstDash val="solid"/>
          </a:ln>
          <a:effectLst>
            <a:outerShdw blurRad="25052" dist="8351" dir="5400000" algn="bl" rotWithShape="0">
              <a:srgbClr val="000000">
                <a:alpha val="10196"/>
              </a:srgbClr>
            </a:outerShdw>
          </a:effectLst>
        </p:spPr>
      </p:sp>
      <p:sp>
        <p:nvSpPr>
          <p:cNvPr id="21" name="Shape 19"/>
          <p:cNvSpPr/>
          <p:nvPr/>
        </p:nvSpPr>
        <p:spPr>
          <a:xfrm>
            <a:off x="540011" y="4929689"/>
            <a:ext cx="250521" cy="200416"/>
          </a:xfrm>
          <a:custGeom>
            <a:avLst/>
            <a:gdLst/>
            <a:ahLst/>
            <a:cxnLst/>
            <a:rect l="l" t="t" r="r" b="b"/>
            <a:pathLst>
              <a:path w="250521" h="200416">
                <a:moveTo>
                  <a:pt x="162799" y="82398"/>
                </a:moveTo>
                <a:cubicBezTo>
                  <a:pt x="167575" y="81106"/>
                  <a:pt x="172585" y="83376"/>
                  <a:pt x="174738" y="87800"/>
                </a:cubicBezTo>
                <a:lnTo>
                  <a:pt x="182019" y="102518"/>
                </a:lnTo>
                <a:cubicBezTo>
                  <a:pt x="186051" y="103066"/>
                  <a:pt x="190004" y="104162"/>
                  <a:pt x="193723" y="105688"/>
                </a:cubicBezTo>
                <a:lnTo>
                  <a:pt x="207423" y="96568"/>
                </a:lnTo>
                <a:cubicBezTo>
                  <a:pt x="211533" y="93828"/>
                  <a:pt x="216974" y="94376"/>
                  <a:pt x="220458" y="97860"/>
                </a:cubicBezTo>
                <a:lnTo>
                  <a:pt x="227974" y="105375"/>
                </a:lnTo>
                <a:cubicBezTo>
                  <a:pt x="231458" y="108859"/>
                  <a:pt x="232006" y="114339"/>
                  <a:pt x="229265" y="118410"/>
                </a:cubicBezTo>
                <a:lnTo>
                  <a:pt x="220145" y="132071"/>
                </a:lnTo>
                <a:cubicBezTo>
                  <a:pt x="220889" y="133911"/>
                  <a:pt x="221554" y="135829"/>
                  <a:pt x="222102" y="137825"/>
                </a:cubicBezTo>
                <a:cubicBezTo>
                  <a:pt x="222650" y="139822"/>
                  <a:pt x="223002" y="141779"/>
                  <a:pt x="223276" y="143775"/>
                </a:cubicBezTo>
                <a:lnTo>
                  <a:pt x="238034" y="151056"/>
                </a:lnTo>
                <a:cubicBezTo>
                  <a:pt x="242457" y="153248"/>
                  <a:pt x="244727" y="158259"/>
                  <a:pt x="243436" y="162995"/>
                </a:cubicBezTo>
                <a:lnTo>
                  <a:pt x="240695" y="173251"/>
                </a:lnTo>
                <a:cubicBezTo>
                  <a:pt x="239404" y="177987"/>
                  <a:pt x="234980" y="181197"/>
                  <a:pt x="230048" y="180884"/>
                </a:cubicBezTo>
                <a:lnTo>
                  <a:pt x="213608" y="179827"/>
                </a:lnTo>
                <a:cubicBezTo>
                  <a:pt x="211142" y="182997"/>
                  <a:pt x="208284" y="185933"/>
                  <a:pt x="205035" y="188438"/>
                </a:cubicBezTo>
                <a:lnTo>
                  <a:pt x="206092" y="204840"/>
                </a:lnTo>
                <a:cubicBezTo>
                  <a:pt x="206405" y="209772"/>
                  <a:pt x="203196" y="214234"/>
                  <a:pt x="198459" y="215487"/>
                </a:cubicBezTo>
                <a:lnTo>
                  <a:pt x="188204" y="218227"/>
                </a:lnTo>
                <a:cubicBezTo>
                  <a:pt x="183428" y="219519"/>
                  <a:pt x="178457" y="217248"/>
                  <a:pt x="176265" y="212825"/>
                </a:cubicBezTo>
                <a:lnTo>
                  <a:pt x="168984" y="198107"/>
                </a:lnTo>
                <a:cubicBezTo>
                  <a:pt x="164952" y="197559"/>
                  <a:pt x="160999" y="196463"/>
                  <a:pt x="157280" y="194936"/>
                </a:cubicBezTo>
                <a:lnTo>
                  <a:pt x="143580" y="204057"/>
                </a:lnTo>
                <a:cubicBezTo>
                  <a:pt x="139469" y="206797"/>
                  <a:pt x="134028" y="206249"/>
                  <a:pt x="130545" y="202765"/>
                </a:cubicBezTo>
                <a:lnTo>
                  <a:pt x="123029" y="195249"/>
                </a:lnTo>
                <a:cubicBezTo>
                  <a:pt x="119545" y="191766"/>
                  <a:pt x="118997" y="186325"/>
                  <a:pt x="121737" y="182215"/>
                </a:cubicBezTo>
                <a:lnTo>
                  <a:pt x="130858" y="168514"/>
                </a:lnTo>
                <a:cubicBezTo>
                  <a:pt x="130114" y="166674"/>
                  <a:pt x="129449" y="164756"/>
                  <a:pt x="128901" y="162760"/>
                </a:cubicBezTo>
                <a:cubicBezTo>
                  <a:pt x="128353" y="160764"/>
                  <a:pt x="128000" y="158767"/>
                  <a:pt x="127726" y="156810"/>
                </a:cubicBezTo>
                <a:lnTo>
                  <a:pt x="112969" y="149529"/>
                </a:lnTo>
                <a:cubicBezTo>
                  <a:pt x="108546" y="147337"/>
                  <a:pt x="106315" y="142327"/>
                  <a:pt x="107567" y="137591"/>
                </a:cubicBezTo>
                <a:lnTo>
                  <a:pt x="110307" y="127335"/>
                </a:lnTo>
                <a:cubicBezTo>
                  <a:pt x="111599" y="122598"/>
                  <a:pt x="116022" y="119389"/>
                  <a:pt x="120954" y="119702"/>
                </a:cubicBezTo>
                <a:lnTo>
                  <a:pt x="137356" y="120759"/>
                </a:lnTo>
                <a:cubicBezTo>
                  <a:pt x="139822" y="117588"/>
                  <a:pt x="142679" y="114652"/>
                  <a:pt x="145928" y="112147"/>
                </a:cubicBezTo>
                <a:lnTo>
                  <a:pt x="144871" y="95785"/>
                </a:lnTo>
                <a:cubicBezTo>
                  <a:pt x="144558" y="90853"/>
                  <a:pt x="147768" y="86390"/>
                  <a:pt x="152504" y="85138"/>
                </a:cubicBezTo>
                <a:lnTo>
                  <a:pt x="162760" y="82398"/>
                </a:lnTo>
                <a:close/>
                <a:moveTo>
                  <a:pt x="175521" y="133089"/>
                </a:moveTo>
                <a:cubicBezTo>
                  <a:pt x="166015" y="133100"/>
                  <a:pt x="158306" y="140826"/>
                  <a:pt x="158317" y="150332"/>
                </a:cubicBezTo>
                <a:cubicBezTo>
                  <a:pt x="158328" y="159838"/>
                  <a:pt x="166054" y="167546"/>
                  <a:pt x="175560" y="167536"/>
                </a:cubicBezTo>
                <a:cubicBezTo>
                  <a:pt x="185066" y="167525"/>
                  <a:pt x="192775" y="159799"/>
                  <a:pt x="192764" y="150293"/>
                </a:cubicBezTo>
                <a:cubicBezTo>
                  <a:pt x="192753" y="140787"/>
                  <a:pt x="185027" y="133078"/>
                  <a:pt x="175521" y="133089"/>
                </a:cubicBezTo>
                <a:close/>
                <a:moveTo>
                  <a:pt x="88034" y="-17810"/>
                </a:moveTo>
                <a:lnTo>
                  <a:pt x="98290" y="-15070"/>
                </a:lnTo>
                <a:cubicBezTo>
                  <a:pt x="103027" y="-13779"/>
                  <a:pt x="106236" y="-9316"/>
                  <a:pt x="105923" y="-4423"/>
                </a:cubicBezTo>
                <a:lnTo>
                  <a:pt x="104866" y="11939"/>
                </a:lnTo>
                <a:cubicBezTo>
                  <a:pt x="108115" y="14444"/>
                  <a:pt x="110973" y="17341"/>
                  <a:pt x="113439" y="20551"/>
                </a:cubicBezTo>
                <a:lnTo>
                  <a:pt x="129879" y="19494"/>
                </a:lnTo>
                <a:cubicBezTo>
                  <a:pt x="134772" y="19180"/>
                  <a:pt x="139235" y="22390"/>
                  <a:pt x="140526" y="27127"/>
                </a:cubicBezTo>
                <a:lnTo>
                  <a:pt x="143266" y="37382"/>
                </a:lnTo>
                <a:cubicBezTo>
                  <a:pt x="144519" y="42119"/>
                  <a:pt x="142288" y="47129"/>
                  <a:pt x="137865" y="49321"/>
                </a:cubicBezTo>
                <a:lnTo>
                  <a:pt x="123107" y="56602"/>
                </a:lnTo>
                <a:cubicBezTo>
                  <a:pt x="122833" y="58598"/>
                  <a:pt x="122442" y="60595"/>
                  <a:pt x="121933" y="62552"/>
                </a:cubicBezTo>
                <a:cubicBezTo>
                  <a:pt x="121424" y="64509"/>
                  <a:pt x="120720" y="66466"/>
                  <a:pt x="119976" y="68306"/>
                </a:cubicBezTo>
                <a:lnTo>
                  <a:pt x="129096" y="82006"/>
                </a:lnTo>
                <a:cubicBezTo>
                  <a:pt x="131836" y="86116"/>
                  <a:pt x="131288" y="91557"/>
                  <a:pt x="127805" y="95041"/>
                </a:cubicBezTo>
                <a:lnTo>
                  <a:pt x="120289" y="102557"/>
                </a:lnTo>
                <a:cubicBezTo>
                  <a:pt x="116805" y="106041"/>
                  <a:pt x="111364" y="106589"/>
                  <a:pt x="107254" y="103849"/>
                </a:cubicBezTo>
                <a:lnTo>
                  <a:pt x="93554" y="94728"/>
                </a:lnTo>
                <a:cubicBezTo>
                  <a:pt x="89835" y="96255"/>
                  <a:pt x="85882" y="97351"/>
                  <a:pt x="81850" y="97899"/>
                </a:cubicBezTo>
                <a:lnTo>
                  <a:pt x="74569" y="112617"/>
                </a:lnTo>
                <a:cubicBezTo>
                  <a:pt x="72377" y="117040"/>
                  <a:pt x="67367" y="119271"/>
                  <a:pt x="62630" y="118019"/>
                </a:cubicBezTo>
                <a:lnTo>
                  <a:pt x="52374" y="115279"/>
                </a:lnTo>
                <a:cubicBezTo>
                  <a:pt x="47599" y="113987"/>
                  <a:pt x="44428" y="109524"/>
                  <a:pt x="44741" y="104631"/>
                </a:cubicBezTo>
                <a:lnTo>
                  <a:pt x="45798" y="88230"/>
                </a:lnTo>
                <a:cubicBezTo>
                  <a:pt x="42549" y="85725"/>
                  <a:pt x="39692" y="82828"/>
                  <a:pt x="37226" y="79619"/>
                </a:cubicBezTo>
                <a:lnTo>
                  <a:pt x="20785" y="80675"/>
                </a:lnTo>
                <a:cubicBezTo>
                  <a:pt x="15892" y="80989"/>
                  <a:pt x="11430" y="77779"/>
                  <a:pt x="10138" y="73042"/>
                </a:cubicBezTo>
                <a:lnTo>
                  <a:pt x="7398" y="62787"/>
                </a:lnTo>
                <a:cubicBezTo>
                  <a:pt x="6146" y="58050"/>
                  <a:pt x="8377" y="53040"/>
                  <a:pt x="12800" y="50848"/>
                </a:cubicBezTo>
                <a:lnTo>
                  <a:pt x="27557" y="43567"/>
                </a:lnTo>
                <a:cubicBezTo>
                  <a:pt x="27831" y="41571"/>
                  <a:pt x="28223" y="39614"/>
                  <a:pt x="28732" y="37617"/>
                </a:cubicBezTo>
                <a:cubicBezTo>
                  <a:pt x="29280" y="35621"/>
                  <a:pt x="29906" y="33703"/>
                  <a:pt x="30689" y="31863"/>
                </a:cubicBezTo>
                <a:lnTo>
                  <a:pt x="21568" y="18202"/>
                </a:lnTo>
                <a:cubicBezTo>
                  <a:pt x="18828" y="14092"/>
                  <a:pt x="19376" y="8651"/>
                  <a:pt x="22860" y="5167"/>
                </a:cubicBezTo>
                <a:lnTo>
                  <a:pt x="30376" y="-2349"/>
                </a:lnTo>
                <a:cubicBezTo>
                  <a:pt x="33859" y="-5832"/>
                  <a:pt x="39300" y="-6380"/>
                  <a:pt x="43411" y="-3640"/>
                </a:cubicBezTo>
                <a:lnTo>
                  <a:pt x="57111" y="5480"/>
                </a:lnTo>
                <a:cubicBezTo>
                  <a:pt x="60830" y="3954"/>
                  <a:pt x="64783" y="2857"/>
                  <a:pt x="68815" y="2309"/>
                </a:cubicBezTo>
                <a:lnTo>
                  <a:pt x="76096" y="-12409"/>
                </a:lnTo>
                <a:cubicBezTo>
                  <a:pt x="78288" y="-16832"/>
                  <a:pt x="83259" y="-19063"/>
                  <a:pt x="88034" y="-17810"/>
                </a:cubicBezTo>
                <a:close/>
                <a:moveTo>
                  <a:pt x="75313" y="32881"/>
                </a:moveTo>
                <a:cubicBezTo>
                  <a:pt x="65807" y="32881"/>
                  <a:pt x="58089" y="40598"/>
                  <a:pt x="58089" y="50104"/>
                </a:cubicBezTo>
                <a:cubicBezTo>
                  <a:pt x="58089" y="59610"/>
                  <a:pt x="65807" y="67327"/>
                  <a:pt x="75313" y="67327"/>
                </a:cubicBezTo>
                <a:cubicBezTo>
                  <a:pt x="84819" y="67327"/>
                  <a:pt x="92536" y="59610"/>
                  <a:pt x="92536" y="50104"/>
                </a:cubicBezTo>
                <a:cubicBezTo>
                  <a:pt x="92536" y="40598"/>
                  <a:pt x="84819" y="32881"/>
                  <a:pt x="75313" y="32881"/>
                </a:cubicBezTo>
                <a:close/>
              </a:path>
            </a:pathLst>
          </a:custGeom>
          <a:solidFill>
            <a:srgbClr val="0071E3"/>
          </a:solidFill>
          <a:ln/>
        </p:spPr>
      </p:sp>
      <p:sp>
        <p:nvSpPr>
          <p:cNvPr id="22" name="Text 20"/>
          <p:cNvSpPr/>
          <p:nvPr/>
        </p:nvSpPr>
        <p:spPr>
          <a:xfrm>
            <a:off x="890740" y="4912988"/>
            <a:ext cx="1761995" cy="233819"/>
          </a:xfrm>
          <a:prstGeom prst="rect">
            <a:avLst/>
          </a:prstGeom>
          <a:noFill/>
          <a:ln/>
        </p:spPr>
        <p:txBody>
          <a:bodyPr wrap="square" lIns="0" tIns="0" rIns="0" bIns="0" rtlCol="0" anchor="ctr"/>
          <a:lstStyle/>
          <a:p>
            <a:pPr>
              <a:lnSpc>
                <a:spcPct val="120000"/>
              </a:lnSpc>
            </a:pPr>
            <a:r>
              <a:rPr lang="en-US" sz="1315" b="1" dirty="0">
                <a:solidFill>
                  <a:srgbClr val="1D1D1F"/>
                </a:solidFill>
                <a:latin typeface="Hedvig Letters Sans" pitchFamily="34" charset="0"/>
                <a:ea typeface="Hedvig Letters Sans" pitchFamily="34" charset="-122"/>
                <a:cs typeface="Hedvig Letters Sans" pitchFamily="34" charset="-120"/>
              </a:rPr>
              <a:t>Recommended Model</a:t>
            </a:r>
            <a:endParaRPr lang="en-US" sz="1600" dirty="0"/>
          </a:p>
        </p:txBody>
      </p:sp>
      <p:sp>
        <p:nvSpPr>
          <p:cNvPr id="23" name="Shape 21"/>
          <p:cNvSpPr/>
          <p:nvPr/>
        </p:nvSpPr>
        <p:spPr>
          <a:xfrm>
            <a:off x="540011" y="5280418"/>
            <a:ext cx="4977008" cy="1035485"/>
          </a:xfrm>
          <a:custGeom>
            <a:avLst/>
            <a:gdLst/>
            <a:ahLst/>
            <a:cxnLst/>
            <a:rect l="l" t="t" r="r" b="b"/>
            <a:pathLst>
              <a:path w="4977008" h="1035485">
                <a:moveTo>
                  <a:pt x="100204" y="0"/>
                </a:moveTo>
                <a:lnTo>
                  <a:pt x="4876804" y="0"/>
                </a:lnTo>
                <a:cubicBezTo>
                  <a:pt x="4932145" y="0"/>
                  <a:pt x="4977008" y="44863"/>
                  <a:pt x="4977008" y="100204"/>
                </a:cubicBezTo>
                <a:lnTo>
                  <a:pt x="4977008" y="935281"/>
                </a:lnTo>
                <a:cubicBezTo>
                  <a:pt x="4977008" y="990622"/>
                  <a:pt x="4932145" y="1035485"/>
                  <a:pt x="4876804" y="1035485"/>
                </a:cubicBezTo>
                <a:lnTo>
                  <a:pt x="100204" y="1035485"/>
                </a:lnTo>
                <a:cubicBezTo>
                  <a:pt x="44863" y="1035485"/>
                  <a:pt x="0" y="990622"/>
                  <a:pt x="0" y="935281"/>
                </a:cubicBezTo>
                <a:lnTo>
                  <a:pt x="0" y="100204"/>
                </a:lnTo>
                <a:cubicBezTo>
                  <a:pt x="0" y="44863"/>
                  <a:pt x="44863" y="0"/>
                  <a:pt x="100204" y="0"/>
                </a:cubicBezTo>
                <a:close/>
              </a:path>
            </a:pathLst>
          </a:custGeom>
          <a:solidFill>
            <a:srgbClr val="0071E3">
              <a:alpha val="5098"/>
            </a:srgbClr>
          </a:solidFill>
          <a:ln/>
        </p:spPr>
      </p:sp>
      <p:sp>
        <p:nvSpPr>
          <p:cNvPr id="24" name="Text 22"/>
          <p:cNvSpPr/>
          <p:nvPr/>
        </p:nvSpPr>
        <p:spPr>
          <a:xfrm>
            <a:off x="707025" y="5447431"/>
            <a:ext cx="4726488" cy="233819"/>
          </a:xfrm>
          <a:prstGeom prst="rect">
            <a:avLst/>
          </a:prstGeom>
          <a:noFill/>
          <a:ln/>
        </p:spPr>
        <p:txBody>
          <a:bodyPr wrap="square" lIns="0" tIns="0" rIns="0" bIns="0" rtlCol="0" anchor="ctr"/>
          <a:lstStyle/>
          <a:p>
            <a:pPr>
              <a:lnSpc>
                <a:spcPct val="120000"/>
              </a:lnSpc>
            </a:pPr>
            <a:r>
              <a:rPr lang="en-US" sz="1315" b="1" dirty="0">
                <a:solidFill>
                  <a:srgbClr val="1D1D1F"/>
                </a:solidFill>
                <a:latin typeface="Liter" pitchFamily="34" charset="0"/>
                <a:ea typeface="Liter" pitchFamily="34" charset="-122"/>
                <a:cs typeface="Liter" pitchFamily="34" charset="-120"/>
              </a:rPr>
              <a:t>Logistic Regression (Delta-Augmented)</a:t>
            </a:r>
            <a:endParaRPr lang="en-US" sz="1600" dirty="0"/>
          </a:p>
        </p:txBody>
      </p:sp>
      <p:sp>
        <p:nvSpPr>
          <p:cNvPr id="25" name="Text 23"/>
          <p:cNvSpPr/>
          <p:nvPr/>
        </p:nvSpPr>
        <p:spPr>
          <a:xfrm>
            <a:off x="707025" y="5748056"/>
            <a:ext cx="4709786" cy="400833"/>
          </a:xfrm>
          <a:prstGeom prst="rect">
            <a:avLst/>
          </a:prstGeom>
          <a:noFill/>
          <a:ln/>
        </p:spPr>
        <p:txBody>
          <a:bodyPr wrap="square" lIns="0" tIns="0" rIns="0" bIns="0" rtlCol="0" anchor="ctr"/>
          <a:lstStyle/>
          <a:p>
            <a:pPr>
              <a:lnSpc>
                <a:spcPct val="130000"/>
              </a:lnSpc>
            </a:pPr>
            <a:r>
              <a:rPr lang="en-US" sz="1052" dirty="0">
                <a:solidFill>
                  <a:srgbClr val="86868B"/>
                </a:solidFill>
                <a:latin typeface="Liter" pitchFamily="34" charset="0"/>
                <a:ea typeface="Liter" pitchFamily="34" charset="-122"/>
                <a:cs typeface="Liter" pitchFamily="34" charset="-120"/>
              </a:rPr>
              <a:t>Combines current engagement levels with momentum features for optimal profit performance</a:t>
            </a:r>
            <a:endParaRPr lang="en-US" sz="1600" dirty="0"/>
          </a:p>
        </p:txBody>
      </p:sp>
      <p:sp>
        <p:nvSpPr>
          <p:cNvPr id="26" name="Shape 24"/>
          <p:cNvSpPr/>
          <p:nvPr/>
        </p:nvSpPr>
        <p:spPr>
          <a:xfrm>
            <a:off x="5924289" y="1171879"/>
            <a:ext cx="5926203" cy="5350005"/>
          </a:xfrm>
          <a:custGeom>
            <a:avLst/>
            <a:gdLst/>
            <a:ahLst/>
            <a:cxnLst/>
            <a:rect l="l" t="t" r="r" b="b"/>
            <a:pathLst>
              <a:path w="5926203" h="5350005">
                <a:moveTo>
                  <a:pt x="133590" y="0"/>
                </a:moveTo>
                <a:lnTo>
                  <a:pt x="5792613" y="0"/>
                </a:lnTo>
                <a:cubicBezTo>
                  <a:pt x="5866393" y="0"/>
                  <a:pt x="5926203" y="59810"/>
                  <a:pt x="5926203" y="133590"/>
                </a:cubicBezTo>
                <a:lnTo>
                  <a:pt x="5926203" y="5216416"/>
                </a:lnTo>
                <a:cubicBezTo>
                  <a:pt x="5926203" y="5290195"/>
                  <a:pt x="5866393" y="5350005"/>
                  <a:pt x="5792613" y="5350005"/>
                </a:cubicBezTo>
                <a:lnTo>
                  <a:pt x="133590" y="5350005"/>
                </a:lnTo>
                <a:cubicBezTo>
                  <a:pt x="59810" y="5350005"/>
                  <a:pt x="0" y="5290195"/>
                  <a:pt x="0" y="5216416"/>
                </a:cubicBezTo>
                <a:lnTo>
                  <a:pt x="0" y="133590"/>
                </a:lnTo>
                <a:cubicBezTo>
                  <a:pt x="0" y="59860"/>
                  <a:pt x="59860" y="0"/>
                  <a:pt x="133590" y="0"/>
                </a:cubicBezTo>
                <a:close/>
              </a:path>
            </a:pathLst>
          </a:custGeom>
          <a:solidFill>
            <a:srgbClr val="FFFFFF"/>
          </a:solidFill>
          <a:ln w="8467">
            <a:solidFill>
              <a:srgbClr val="F3F4F6"/>
            </a:solidFill>
            <a:prstDash val="solid"/>
          </a:ln>
          <a:effectLst>
            <a:outerShdw blurRad="25052" dist="8351" dir="5400000" algn="bl" rotWithShape="0">
              <a:srgbClr val="000000">
                <a:alpha val="10196"/>
              </a:srgbClr>
            </a:outerShdw>
          </a:effectLst>
        </p:spPr>
      </p:sp>
      <p:sp>
        <p:nvSpPr>
          <p:cNvPr id="27" name="Shape 25"/>
          <p:cNvSpPr/>
          <p:nvPr/>
        </p:nvSpPr>
        <p:spPr>
          <a:xfrm>
            <a:off x="6194295" y="1441888"/>
            <a:ext cx="534444" cy="534444"/>
          </a:xfrm>
          <a:custGeom>
            <a:avLst/>
            <a:gdLst/>
            <a:ahLst/>
            <a:cxnLst/>
            <a:rect l="l" t="t" r="r" b="b"/>
            <a:pathLst>
              <a:path w="534444" h="534444">
                <a:moveTo>
                  <a:pt x="100208" y="0"/>
                </a:moveTo>
                <a:lnTo>
                  <a:pt x="434236" y="0"/>
                </a:lnTo>
                <a:cubicBezTo>
                  <a:pt x="489579" y="0"/>
                  <a:pt x="534444" y="44865"/>
                  <a:pt x="534444" y="100208"/>
                </a:cubicBezTo>
                <a:lnTo>
                  <a:pt x="534444" y="434236"/>
                </a:lnTo>
                <a:cubicBezTo>
                  <a:pt x="534444" y="489579"/>
                  <a:pt x="489579" y="534444"/>
                  <a:pt x="434236" y="534444"/>
                </a:cubicBezTo>
                <a:lnTo>
                  <a:pt x="100208" y="534444"/>
                </a:lnTo>
                <a:cubicBezTo>
                  <a:pt x="44865" y="534444"/>
                  <a:pt x="0" y="489579"/>
                  <a:pt x="0" y="434236"/>
                </a:cubicBezTo>
                <a:lnTo>
                  <a:pt x="0" y="100208"/>
                </a:lnTo>
                <a:cubicBezTo>
                  <a:pt x="0" y="44902"/>
                  <a:pt x="44902" y="0"/>
                  <a:pt x="100208" y="0"/>
                </a:cubicBezTo>
                <a:close/>
              </a:path>
            </a:pathLst>
          </a:custGeom>
          <a:solidFill>
            <a:srgbClr val="86868B">
              <a:alpha val="10196"/>
            </a:srgbClr>
          </a:solidFill>
          <a:ln/>
        </p:spPr>
      </p:sp>
      <p:sp>
        <p:nvSpPr>
          <p:cNvPr id="28" name="Shape 26"/>
          <p:cNvSpPr/>
          <p:nvPr/>
        </p:nvSpPr>
        <p:spPr>
          <a:xfrm>
            <a:off x="6338344" y="1583849"/>
            <a:ext cx="250521" cy="250521"/>
          </a:xfrm>
          <a:custGeom>
            <a:avLst/>
            <a:gdLst/>
            <a:ahLst/>
            <a:cxnLst/>
            <a:rect l="l" t="t" r="r" b="b"/>
            <a:pathLst>
              <a:path w="250521" h="250521">
                <a:moveTo>
                  <a:pt x="125260" y="250521"/>
                </a:moveTo>
                <a:cubicBezTo>
                  <a:pt x="194393" y="250521"/>
                  <a:pt x="250521" y="194393"/>
                  <a:pt x="250521" y="125260"/>
                </a:cubicBezTo>
                <a:cubicBezTo>
                  <a:pt x="250521" y="56127"/>
                  <a:pt x="194393" y="0"/>
                  <a:pt x="125260" y="0"/>
                </a:cubicBezTo>
                <a:cubicBezTo>
                  <a:pt x="56127" y="0"/>
                  <a:pt x="0" y="56127"/>
                  <a:pt x="0" y="125260"/>
                </a:cubicBezTo>
                <a:cubicBezTo>
                  <a:pt x="0" y="194393"/>
                  <a:pt x="56127" y="250521"/>
                  <a:pt x="125260" y="250521"/>
                </a:cubicBezTo>
                <a:close/>
                <a:moveTo>
                  <a:pt x="125260" y="66545"/>
                </a:moveTo>
                <a:cubicBezTo>
                  <a:pt x="131768" y="66545"/>
                  <a:pt x="137003" y="71780"/>
                  <a:pt x="137003" y="78288"/>
                </a:cubicBezTo>
                <a:lnTo>
                  <a:pt x="137003" y="133089"/>
                </a:lnTo>
                <a:cubicBezTo>
                  <a:pt x="137003" y="139597"/>
                  <a:pt x="131768" y="144832"/>
                  <a:pt x="125260" y="144832"/>
                </a:cubicBezTo>
                <a:cubicBezTo>
                  <a:pt x="118753" y="144832"/>
                  <a:pt x="113517" y="139597"/>
                  <a:pt x="113517" y="133089"/>
                </a:cubicBezTo>
                <a:lnTo>
                  <a:pt x="113517" y="78288"/>
                </a:lnTo>
                <a:cubicBezTo>
                  <a:pt x="113517" y="71780"/>
                  <a:pt x="118753" y="66545"/>
                  <a:pt x="125260" y="66545"/>
                </a:cubicBezTo>
                <a:close/>
                <a:moveTo>
                  <a:pt x="112196" y="172233"/>
                </a:moveTo>
                <a:cubicBezTo>
                  <a:pt x="111899" y="167384"/>
                  <a:pt x="114317" y="162770"/>
                  <a:pt x="118474" y="160255"/>
                </a:cubicBezTo>
                <a:cubicBezTo>
                  <a:pt x="122631" y="157741"/>
                  <a:pt x="127840" y="157741"/>
                  <a:pt x="131997" y="160255"/>
                </a:cubicBezTo>
                <a:cubicBezTo>
                  <a:pt x="136154" y="162770"/>
                  <a:pt x="138573" y="167384"/>
                  <a:pt x="138276" y="172233"/>
                </a:cubicBezTo>
                <a:cubicBezTo>
                  <a:pt x="138573" y="177082"/>
                  <a:pt x="136154" y="181696"/>
                  <a:pt x="131997" y="184210"/>
                </a:cubicBezTo>
                <a:cubicBezTo>
                  <a:pt x="127840" y="186725"/>
                  <a:pt x="122631" y="186725"/>
                  <a:pt x="118474" y="184210"/>
                </a:cubicBezTo>
                <a:cubicBezTo>
                  <a:pt x="114317" y="181696"/>
                  <a:pt x="111899" y="177082"/>
                  <a:pt x="112196" y="172233"/>
                </a:cubicBezTo>
                <a:close/>
              </a:path>
            </a:pathLst>
          </a:custGeom>
          <a:solidFill>
            <a:srgbClr val="86868B"/>
          </a:solidFill>
          <a:ln/>
        </p:spPr>
      </p:sp>
      <p:sp>
        <p:nvSpPr>
          <p:cNvPr id="29" name="Text 27"/>
          <p:cNvSpPr/>
          <p:nvPr/>
        </p:nvSpPr>
        <p:spPr>
          <a:xfrm>
            <a:off x="6862350" y="1575499"/>
            <a:ext cx="2521907" cy="267222"/>
          </a:xfrm>
          <a:prstGeom prst="rect">
            <a:avLst/>
          </a:prstGeom>
          <a:noFill/>
          <a:ln/>
        </p:spPr>
        <p:txBody>
          <a:bodyPr wrap="square" lIns="0" tIns="0" rIns="0" bIns="0" rtlCol="0" anchor="ctr"/>
          <a:lstStyle/>
          <a:p>
            <a:pPr>
              <a:lnSpc>
                <a:spcPct val="110000"/>
              </a:lnSpc>
            </a:pPr>
            <a:r>
              <a:rPr lang="en-US" sz="1578" b="1" dirty="0">
                <a:solidFill>
                  <a:srgbClr val="1D1D1F"/>
                </a:solidFill>
                <a:latin typeface="Hedvig Letters Sans" pitchFamily="34" charset="0"/>
                <a:ea typeface="Hedvig Letters Sans" pitchFamily="34" charset="-122"/>
                <a:cs typeface="Hedvig Letters Sans" pitchFamily="34" charset="-120"/>
              </a:rPr>
              <a:t>Why Not Target Everyone?</a:t>
            </a:r>
            <a:endParaRPr lang="en-US" sz="1600" dirty="0"/>
          </a:p>
        </p:txBody>
      </p:sp>
      <p:sp>
        <p:nvSpPr>
          <p:cNvPr id="30" name="Shape 28"/>
          <p:cNvSpPr/>
          <p:nvPr/>
        </p:nvSpPr>
        <p:spPr>
          <a:xfrm>
            <a:off x="6210996" y="2176748"/>
            <a:ext cx="33403" cy="968679"/>
          </a:xfrm>
          <a:custGeom>
            <a:avLst/>
            <a:gdLst/>
            <a:ahLst/>
            <a:cxnLst/>
            <a:rect l="l" t="t" r="r" b="b"/>
            <a:pathLst>
              <a:path w="33403" h="968679">
                <a:moveTo>
                  <a:pt x="0" y="0"/>
                </a:moveTo>
                <a:lnTo>
                  <a:pt x="33403" y="0"/>
                </a:lnTo>
                <a:lnTo>
                  <a:pt x="33403" y="968679"/>
                </a:lnTo>
                <a:lnTo>
                  <a:pt x="0" y="968679"/>
                </a:lnTo>
                <a:lnTo>
                  <a:pt x="0" y="0"/>
                </a:lnTo>
                <a:close/>
              </a:path>
            </a:pathLst>
          </a:custGeom>
          <a:solidFill>
            <a:srgbClr val="FF6467"/>
          </a:solidFill>
          <a:ln/>
        </p:spPr>
      </p:sp>
      <p:sp>
        <p:nvSpPr>
          <p:cNvPr id="31" name="Shape 29"/>
          <p:cNvSpPr/>
          <p:nvPr/>
        </p:nvSpPr>
        <p:spPr>
          <a:xfrm>
            <a:off x="6415588" y="2210151"/>
            <a:ext cx="167014" cy="167014"/>
          </a:xfrm>
          <a:custGeom>
            <a:avLst/>
            <a:gdLst/>
            <a:ahLst/>
            <a:cxnLst/>
            <a:rect l="l" t="t" r="r" b="b"/>
            <a:pathLst>
              <a:path w="167014" h="167014">
                <a:moveTo>
                  <a:pt x="83507" y="167014"/>
                </a:moveTo>
                <a:cubicBezTo>
                  <a:pt x="129596" y="167014"/>
                  <a:pt x="167014" y="129596"/>
                  <a:pt x="167014" y="83507"/>
                </a:cubicBezTo>
                <a:cubicBezTo>
                  <a:pt x="167014" y="37418"/>
                  <a:pt x="129596" y="0"/>
                  <a:pt x="83507" y="0"/>
                </a:cubicBezTo>
                <a:cubicBezTo>
                  <a:pt x="37418" y="0"/>
                  <a:pt x="0" y="37418"/>
                  <a:pt x="0" y="83507"/>
                </a:cubicBezTo>
                <a:cubicBezTo>
                  <a:pt x="0" y="129596"/>
                  <a:pt x="37418" y="167014"/>
                  <a:pt x="83507" y="167014"/>
                </a:cubicBezTo>
                <a:close/>
                <a:moveTo>
                  <a:pt x="54475" y="54475"/>
                </a:moveTo>
                <a:cubicBezTo>
                  <a:pt x="57541" y="51409"/>
                  <a:pt x="62500" y="51409"/>
                  <a:pt x="65533" y="54475"/>
                </a:cubicBezTo>
                <a:lnTo>
                  <a:pt x="83474" y="72416"/>
                </a:lnTo>
                <a:lnTo>
                  <a:pt x="101415" y="54475"/>
                </a:lnTo>
                <a:cubicBezTo>
                  <a:pt x="104481" y="51409"/>
                  <a:pt x="109440" y="51409"/>
                  <a:pt x="112473" y="54475"/>
                </a:cubicBezTo>
                <a:cubicBezTo>
                  <a:pt x="115507" y="57541"/>
                  <a:pt x="115540" y="62500"/>
                  <a:pt x="112473" y="65533"/>
                </a:cubicBezTo>
                <a:lnTo>
                  <a:pt x="94532" y="83474"/>
                </a:lnTo>
                <a:lnTo>
                  <a:pt x="112473" y="101415"/>
                </a:lnTo>
                <a:cubicBezTo>
                  <a:pt x="115540" y="104481"/>
                  <a:pt x="115540" y="109440"/>
                  <a:pt x="112473" y="112473"/>
                </a:cubicBezTo>
                <a:cubicBezTo>
                  <a:pt x="109407" y="115507"/>
                  <a:pt x="104449" y="115540"/>
                  <a:pt x="101415" y="112473"/>
                </a:cubicBezTo>
                <a:lnTo>
                  <a:pt x="83474" y="94532"/>
                </a:lnTo>
                <a:lnTo>
                  <a:pt x="65533" y="112473"/>
                </a:lnTo>
                <a:cubicBezTo>
                  <a:pt x="62467" y="115540"/>
                  <a:pt x="57509" y="115540"/>
                  <a:pt x="54475" y="112473"/>
                </a:cubicBezTo>
                <a:cubicBezTo>
                  <a:pt x="51442" y="109407"/>
                  <a:pt x="51409" y="104449"/>
                  <a:pt x="54475" y="101415"/>
                </a:cubicBezTo>
                <a:lnTo>
                  <a:pt x="72416" y="83474"/>
                </a:lnTo>
                <a:lnTo>
                  <a:pt x="54475" y="65533"/>
                </a:lnTo>
                <a:cubicBezTo>
                  <a:pt x="51409" y="62467"/>
                  <a:pt x="51409" y="57509"/>
                  <a:pt x="54475" y="54475"/>
                </a:cubicBezTo>
                <a:close/>
              </a:path>
            </a:pathLst>
          </a:custGeom>
          <a:solidFill>
            <a:srgbClr val="FF6467"/>
          </a:solidFill>
          <a:ln/>
        </p:spPr>
      </p:sp>
      <p:sp>
        <p:nvSpPr>
          <p:cNvPr id="32" name="Text 30"/>
          <p:cNvSpPr/>
          <p:nvPr/>
        </p:nvSpPr>
        <p:spPr>
          <a:xfrm>
            <a:off x="6703687" y="2176748"/>
            <a:ext cx="2780778" cy="233819"/>
          </a:xfrm>
          <a:prstGeom prst="rect">
            <a:avLst/>
          </a:prstGeom>
          <a:noFill/>
          <a:ln/>
        </p:spPr>
        <p:txBody>
          <a:bodyPr wrap="square" lIns="0" tIns="0" rIns="0" bIns="0" rtlCol="0" anchor="ctr"/>
          <a:lstStyle/>
          <a:p>
            <a:pPr>
              <a:lnSpc>
                <a:spcPct val="120000"/>
              </a:lnSpc>
            </a:pPr>
            <a:r>
              <a:rPr lang="en-US" sz="1315" b="1" dirty="0">
                <a:solidFill>
                  <a:srgbClr val="1D1D1F"/>
                </a:solidFill>
                <a:latin typeface="Liter" pitchFamily="34" charset="0"/>
                <a:ea typeface="Liter" pitchFamily="34" charset="-122"/>
                <a:cs typeface="Liter" pitchFamily="34" charset="-120"/>
              </a:rPr>
              <a:t>Low-Probability Users Destroy Value</a:t>
            </a:r>
            <a:endParaRPr lang="en-US" sz="1600" dirty="0"/>
          </a:p>
        </p:txBody>
      </p:sp>
      <p:sp>
        <p:nvSpPr>
          <p:cNvPr id="33" name="Text 31"/>
          <p:cNvSpPr/>
          <p:nvPr/>
        </p:nvSpPr>
        <p:spPr>
          <a:xfrm>
            <a:off x="6394711" y="2477373"/>
            <a:ext cx="5252581" cy="200416"/>
          </a:xfrm>
          <a:prstGeom prst="rect">
            <a:avLst/>
          </a:prstGeom>
          <a:noFill/>
          <a:ln/>
        </p:spPr>
        <p:txBody>
          <a:bodyPr wrap="square" lIns="0" tIns="0" rIns="0" bIns="0" rtlCol="0" anchor="ctr"/>
          <a:lstStyle/>
          <a:p>
            <a:pPr>
              <a:lnSpc>
                <a:spcPct val="130000"/>
              </a:lnSpc>
            </a:pPr>
            <a:r>
              <a:rPr lang="en-US" sz="1052" dirty="0">
                <a:solidFill>
                  <a:srgbClr val="86868B"/>
                </a:solidFill>
                <a:latin typeface="Liter" pitchFamily="34" charset="0"/>
                <a:ea typeface="Liter" pitchFamily="34" charset="-122"/>
                <a:cs typeface="Liter" pitchFamily="34" charset="-120"/>
              </a:rPr>
              <a:t>Users with &lt;5% conversion probability waste promotional resources</a:t>
            </a:r>
            <a:endParaRPr lang="en-US" sz="1600" dirty="0"/>
          </a:p>
        </p:txBody>
      </p:sp>
      <p:sp>
        <p:nvSpPr>
          <p:cNvPr id="34" name="Shape 32"/>
          <p:cNvSpPr/>
          <p:nvPr/>
        </p:nvSpPr>
        <p:spPr>
          <a:xfrm>
            <a:off x="6394711" y="2777997"/>
            <a:ext cx="5185775" cy="367430"/>
          </a:xfrm>
          <a:custGeom>
            <a:avLst/>
            <a:gdLst/>
            <a:ahLst/>
            <a:cxnLst/>
            <a:rect l="l" t="t" r="r" b="b"/>
            <a:pathLst>
              <a:path w="5185775" h="367430">
                <a:moveTo>
                  <a:pt x="66806" y="0"/>
                </a:moveTo>
                <a:lnTo>
                  <a:pt x="5118969" y="0"/>
                </a:lnTo>
                <a:cubicBezTo>
                  <a:pt x="5155865" y="0"/>
                  <a:pt x="5185775" y="29910"/>
                  <a:pt x="5185775" y="66806"/>
                </a:cubicBezTo>
                <a:lnTo>
                  <a:pt x="5185775" y="300624"/>
                </a:lnTo>
                <a:cubicBezTo>
                  <a:pt x="5185775" y="337520"/>
                  <a:pt x="5155865" y="367430"/>
                  <a:pt x="5118969" y="367430"/>
                </a:cubicBezTo>
                <a:lnTo>
                  <a:pt x="66806" y="367430"/>
                </a:lnTo>
                <a:cubicBezTo>
                  <a:pt x="29935" y="367430"/>
                  <a:pt x="0" y="337495"/>
                  <a:pt x="0" y="300624"/>
                </a:cubicBezTo>
                <a:lnTo>
                  <a:pt x="0" y="66806"/>
                </a:lnTo>
                <a:cubicBezTo>
                  <a:pt x="0" y="29910"/>
                  <a:pt x="29910" y="0"/>
                  <a:pt x="66806" y="0"/>
                </a:cubicBezTo>
                <a:close/>
              </a:path>
            </a:pathLst>
          </a:custGeom>
          <a:solidFill>
            <a:srgbClr val="FEF2F2"/>
          </a:solidFill>
          <a:ln/>
        </p:spPr>
      </p:sp>
      <p:sp>
        <p:nvSpPr>
          <p:cNvPr id="35" name="Text 33"/>
          <p:cNvSpPr/>
          <p:nvPr/>
        </p:nvSpPr>
        <p:spPr>
          <a:xfrm>
            <a:off x="6494920" y="2878205"/>
            <a:ext cx="5043814" cy="167014"/>
          </a:xfrm>
          <a:prstGeom prst="rect">
            <a:avLst/>
          </a:prstGeom>
          <a:noFill/>
          <a:ln/>
        </p:spPr>
        <p:txBody>
          <a:bodyPr wrap="square" lIns="0" tIns="0" rIns="0" bIns="0" rtlCol="0" anchor="ctr"/>
          <a:lstStyle/>
          <a:p>
            <a:pPr>
              <a:lnSpc>
                <a:spcPct val="120000"/>
              </a:lnSpc>
            </a:pPr>
            <a:r>
              <a:rPr lang="en-US" sz="921" b="1" dirty="0">
                <a:solidFill>
                  <a:srgbClr val="C10007"/>
                </a:solidFill>
                <a:latin typeface="Liter" pitchFamily="34" charset="0"/>
                <a:ea typeface="Liter" pitchFamily="34" charset="-122"/>
                <a:cs typeface="Liter" pitchFamily="34" charset="-120"/>
              </a:rPr>
              <a:t>Cost:</a:t>
            </a:r>
            <a:r>
              <a:rPr lang="en-US" sz="921" dirty="0">
                <a:solidFill>
                  <a:srgbClr val="C10007"/>
                </a:solidFill>
                <a:latin typeface="Liter" pitchFamily="34" charset="0"/>
                <a:ea typeface="Liter" pitchFamily="34" charset="-122"/>
                <a:cs typeface="Liter" pitchFamily="34" charset="-120"/>
              </a:rPr>
              <a:t> 3 months free + lost ad revenue with minimal conversion</a:t>
            </a:r>
            <a:endParaRPr lang="en-US" sz="1600" dirty="0"/>
          </a:p>
        </p:txBody>
      </p:sp>
      <p:sp>
        <p:nvSpPr>
          <p:cNvPr id="36" name="Shape 34"/>
          <p:cNvSpPr/>
          <p:nvPr/>
        </p:nvSpPr>
        <p:spPr>
          <a:xfrm>
            <a:off x="6210996" y="3345844"/>
            <a:ext cx="33403" cy="968679"/>
          </a:xfrm>
          <a:custGeom>
            <a:avLst/>
            <a:gdLst/>
            <a:ahLst/>
            <a:cxnLst/>
            <a:rect l="l" t="t" r="r" b="b"/>
            <a:pathLst>
              <a:path w="33403" h="968679">
                <a:moveTo>
                  <a:pt x="0" y="0"/>
                </a:moveTo>
                <a:lnTo>
                  <a:pt x="33403" y="0"/>
                </a:lnTo>
                <a:lnTo>
                  <a:pt x="33403" y="968679"/>
                </a:lnTo>
                <a:lnTo>
                  <a:pt x="0" y="968679"/>
                </a:lnTo>
                <a:lnTo>
                  <a:pt x="0" y="0"/>
                </a:lnTo>
                <a:close/>
              </a:path>
            </a:pathLst>
          </a:custGeom>
          <a:solidFill>
            <a:srgbClr val="FF8904"/>
          </a:solidFill>
          <a:ln/>
        </p:spPr>
      </p:sp>
      <p:sp>
        <p:nvSpPr>
          <p:cNvPr id="37" name="Shape 35"/>
          <p:cNvSpPr/>
          <p:nvPr/>
        </p:nvSpPr>
        <p:spPr>
          <a:xfrm>
            <a:off x="6415588" y="3379247"/>
            <a:ext cx="167014" cy="167014"/>
          </a:xfrm>
          <a:custGeom>
            <a:avLst/>
            <a:gdLst/>
            <a:ahLst/>
            <a:cxnLst/>
            <a:rect l="l" t="t" r="r" b="b"/>
            <a:pathLst>
              <a:path w="167014" h="167014">
                <a:moveTo>
                  <a:pt x="83507" y="167014"/>
                </a:moveTo>
                <a:cubicBezTo>
                  <a:pt x="129596" y="167014"/>
                  <a:pt x="167014" y="129596"/>
                  <a:pt x="167014" y="83507"/>
                </a:cubicBezTo>
                <a:cubicBezTo>
                  <a:pt x="167014" y="37418"/>
                  <a:pt x="129596" y="0"/>
                  <a:pt x="83507" y="0"/>
                </a:cubicBezTo>
                <a:cubicBezTo>
                  <a:pt x="37418" y="0"/>
                  <a:pt x="0" y="37418"/>
                  <a:pt x="0" y="83507"/>
                </a:cubicBezTo>
                <a:cubicBezTo>
                  <a:pt x="0" y="129596"/>
                  <a:pt x="37418" y="167014"/>
                  <a:pt x="83507" y="167014"/>
                </a:cubicBezTo>
                <a:close/>
                <a:moveTo>
                  <a:pt x="54475" y="54475"/>
                </a:moveTo>
                <a:cubicBezTo>
                  <a:pt x="57541" y="51409"/>
                  <a:pt x="62500" y="51409"/>
                  <a:pt x="65533" y="54475"/>
                </a:cubicBezTo>
                <a:lnTo>
                  <a:pt x="83474" y="72416"/>
                </a:lnTo>
                <a:lnTo>
                  <a:pt x="101415" y="54475"/>
                </a:lnTo>
                <a:cubicBezTo>
                  <a:pt x="104481" y="51409"/>
                  <a:pt x="109440" y="51409"/>
                  <a:pt x="112473" y="54475"/>
                </a:cubicBezTo>
                <a:cubicBezTo>
                  <a:pt x="115507" y="57541"/>
                  <a:pt x="115540" y="62500"/>
                  <a:pt x="112473" y="65533"/>
                </a:cubicBezTo>
                <a:lnTo>
                  <a:pt x="94532" y="83474"/>
                </a:lnTo>
                <a:lnTo>
                  <a:pt x="112473" y="101415"/>
                </a:lnTo>
                <a:cubicBezTo>
                  <a:pt x="115540" y="104481"/>
                  <a:pt x="115540" y="109440"/>
                  <a:pt x="112473" y="112473"/>
                </a:cubicBezTo>
                <a:cubicBezTo>
                  <a:pt x="109407" y="115507"/>
                  <a:pt x="104449" y="115540"/>
                  <a:pt x="101415" y="112473"/>
                </a:cubicBezTo>
                <a:lnTo>
                  <a:pt x="83474" y="94532"/>
                </a:lnTo>
                <a:lnTo>
                  <a:pt x="65533" y="112473"/>
                </a:lnTo>
                <a:cubicBezTo>
                  <a:pt x="62467" y="115540"/>
                  <a:pt x="57509" y="115540"/>
                  <a:pt x="54475" y="112473"/>
                </a:cubicBezTo>
                <a:cubicBezTo>
                  <a:pt x="51442" y="109407"/>
                  <a:pt x="51409" y="104449"/>
                  <a:pt x="54475" y="101415"/>
                </a:cubicBezTo>
                <a:lnTo>
                  <a:pt x="72416" y="83474"/>
                </a:lnTo>
                <a:lnTo>
                  <a:pt x="54475" y="65533"/>
                </a:lnTo>
                <a:cubicBezTo>
                  <a:pt x="51409" y="62467"/>
                  <a:pt x="51409" y="57509"/>
                  <a:pt x="54475" y="54475"/>
                </a:cubicBezTo>
                <a:close/>
              </a:path>
            </a:pathLst>
          </a:custGeom>
          <a:solidFill>
            <a:srgbClr val="FF8904"/>
          </a:solidFill>
          <a:ln/>
        </p:spPr>
      </p:sp>
      <p:sp>
        <p:nvSpPr>
          <p:cNvPr id="38" name="Text 36"/>
          <p:cNvSpPr/>
          <p:nvPr/>
        </p:nvSpPr>
        <p:spPr>
          <a:xfrm>
            <a:off x="6703687" y="3345844"/>
            <a:ext cx="3582444" cy="233819"/>
          </a:xfrm>
          <a:prstGeom prst="rect">
            <a:avLst/>
          </a:prstGeom>
          <a:noFill/>
          <a:ln/>
        </p:spPr>
        <p:txBody>
          <a:bodyPr wrap="square" lIns="0" tIns="0" rIns="0" bIns="0" rtlCol="0" anchor="ctr"/>
          <a:lstStyle/>
          <a:p>
            <a:pPr>
              <a:lnSpc>
                <a:spcPct val="120000"/>
              </a:lnSpc>
            </a:pPr>
            <a:r>
              <a:rPr lang="en-US" sz="1315" b="1" dirty="0">
                <a:solidFill>
                  <a:srgbClr val="1D1D1F"/>
                </a:solidFill>
                <a:latin typeface="Liter" pitchFamily="34" charset="0"/>
                <a:ea typeface="Liter" pitchFamily="34" charset="-122"/>
                <a:cs typeface="Liter" pitchFamily="34" charset="-120"/>
              </a:rPr>
              <a:t>High-Probability Users Create Opportunity Cost</a:t>
            </a:r>
            <a:endParaRPr lang="en-US" sz="1600" dirty="0"/>
          </a:p>
        </p:txBody>
      </p:sp>
      <p:sp>
        <p:nvSpPr>
          <p:cNvPr id="39" name="Text 37"/>
          <p:cNvSpPr/>
          <p:nvPr/>
        </p:nvSpPr>
        <p:spPr>
          <a:xfrm>
            <a:off x="6394711" y="3646468"/>
            <a:ext cx="5252581" cy="200416"/>
          </a:xfrm>
          <a:prstGeom prst="rect">
            <a:avLst/>
          </a:prstGeom>
          <a:noFill/>
          <a:ln/>
        </p:spPr>
        <p:txBody>
          <a:bodyPr wrap="square" lIns="0" tIns="0" rIns="0" bIns="0" rtlCol="0" anchor="ctr"/>
          <a:lstStyle/>
          <a:p>
            <a:pPr>
              <a:lnSpc>
                <a:spcPct val="130000"/>
              </a:lnSpc>
            </a:pPr>
            <a:r>
              <a:rPr lang="en-US" sz="1052" dirty="0">
                <a:solidFill>
                  <a:srgbClr val="86868B"/>
                </a:solidFill>
                <a:latin typeface="Liter" pitchFamily="34" charset="0"/>
                <a:ea typeface="Liter" pitchFamily="34" charset="-122"/>
                <a:cs typeface="Liter" pitchFamily="34" charset="-120"/>
              </a:rPr>
              <a:t>Users with &gt;70% conversion probability would subscribe anyway</a:t>
            </a:r>
            <a:endParaRPr lang="en-US" sz="1600" dirty="0"/>
          </a:p>
        </p:txBody>
      </p:sp>
      <p:sp>
        <p:nvSpPr>
          <p:cNvPr id="40" name="Shape 38"/>
          <p:cNvSpPr/>
          <p:nvPr/>
        </p:nvSpPr>
        <p:spPr>
          <a:xfrm>
            <a:off x="6394711" y="3947093"/>
            <a:ext cx="5185775" cy="367430"/>
          </a:xfrm>
          <a:custGeom>
            <a:avLst/>
            <a:gdLst/>
            <a:ahLst/>
            <a:cxnLst/>
            <a:rect l="l" t="t" r="r" b="b"/>
            <a:pathLst>
              <a:path w="5185775" h="367430">
                <a:moveTo>
                  <a:pt x="66806" y="0"/>
                </a:moveTo>
                <a:lnTo>
                  <a:pt x="5118969" y="0"/>
                </a:lnTo>
                <a:cubicBezTo>
                  <a:pt x="5155865" y="0"/>
                  <a:pt x="5185775" y="29910"/>
                  <a:pt x="5185775" y="66806"/>
                </a:cubicBezTo>
                <a:lnTo>
                  <a:pt x="5185775" y="300624"/>
                </a:lnTo>
                <a:cubicBezTo>
                  <a:pt x="5185775" y="337520"/>
                  <a:pt x="5155865" y="367430"/>
                  <a:pt x="5118969" y="367430"/>
                </a:cubicBezTo>
                <a:lnTo>
                  <a:pt x="66806" y="367430"/>
                </a:lnTo>
                <a:cubicBezTo>
                  <a:pt x="29935" y="367430"/>
                  <a:pt x="0" y="337495"/>
                  <a:pt x="0" y="300624"/>
                </a:cubicBezTo>
                <a:lnTo>
                  <a:pt x="0" y="66806"/>
                </a:lnTo>
                <a:cubicBezTo>
                  <a:pt x="0" y="29910"/>
                  <a:pt x="29910" y="0"/>
                  <a:pt x="66806" y="0"/>
                </a:cubicBezTo>
                <a:close/>
              </a:path>
            </a:pathLst>
          </a:custGeom>
          <a:solidFill>
            <a:srgbClr val="FFF7ED"/>
          </a:solidFill>
          <a:ln/>
        </p:spPr>
      </p:sp>
      <p:sp>
        <p:nvSpPr>
          <p:cNvPr id="41" name="Text 39"/>
          <p:cNvSpPr/>
          <p:nvPr/>
        </p:nvSpPr>
        <p:spPr>
          <a:xfrm>
            <a:off x="6494920" y="4047301"/>
            <a:ext cx="5043814" cy="167014"/>
          </a:xfrm>
          <a:prstGeom prst="rect">
            <a:avLst/>
          </a:prstGeom>
          <a:noFill/>
          <a:ln/>
        </p:spPr>
        <p:txBody>
          <a:bodyPr wrap="square" lIns="0" tIns="0" rIns="0" bIns="0" rtlCol="0" anchor="ctr"/>
          <a:lstStyle/>
          <a:p>
            <a:pPr>
              <a:lnSpc>
                <a:spcPct val="120000"/>
              </a:lnSpc>
            </a:pPr>
            <a:r>
              <a:rPr lang="en-US" sz="921" b="1" dirty="0">
                <a:solidFill>
                  <a:srgbClr val="CA3500"/>
                </a:solidFill>
                <a:latin typeface="Liter" pitchFamily="34" charset="0"/>
                <a:ea typeface="Liter" pitchFamily="34" charset="-122"/>
                <a:cs typeface="Liter" pitchFamily="34" charset="-120"/>
              </a:rPr>
              <a:t>Cost:</a:t>
            </a:r>
            <a:r>
              <a:rPr lang="en-US" sz="921" dirty="0">
                <a:solidFill>
                  <a:srgbClr val="CA3500"/>
                </a:solidFill>
                <a:latin typeface="Liter" pitchFamily="34" charset="0"/>
                <a:ea typeface="Liter" pitchFamily="34" charset="-122"/>
                <a:cs typeface="Liter" pitchFamily="34" charset="-120"/>
              </a:rPr>
              <a:t> Unnecessary free months given to self-converters</a:t>
            </a:r>
            <a:endParaRPr lang="en-US" sz="1600" dirty="0"/>
          </a:p>
        </p:txBody>
      </p:sp>
      <p:sp>
        <p:nvSpPr>
          <p:cNvPr id="42" name="Shape 40"/>
          <p:cNvSpPr/>
          <p:nvPr/>
        </p:nvSpPr>
        <p:spPr>
          <a:xfrm>
            <a:off x="6194295" y="4514940"/>
            <a:ext cx="5386192" cy="1002082"/>
          </a:xfrm>
          <a:custGeom>
            <a:avLst/>
            <a:gdLst/>
            <a:ahLst/>
            <a:cxnLst/>
            <a:rect l="l" t="t" r="r" b="b"/>
            <a:pathLst>
              <a:path w="5386192" h="1002082">
                <a:moveTo>
                  <a:pt x="100208" y="0"/>
                </a:moveTo>
                <a:lnTo>
                  <a:pt x="5285984" y="0"/>
                </a:lnTo>
                <a:cubicBezTo>
                  <a:pt x="5341327" y="0"/>
                  <a:pt x="5386192" y="44865"/>
                  <a:pt x="5386192" y="100208"/>
                </a:cubicBezTo>
                <a:lnTo>
                  <a:pt x="5386192" y="901874"/>
                </a:lnTo>
                <a:cubicBezTo>
                  <a:pt x="5386192" y="957217"/>
                  <a:pt x="5341327" y="1002082"/>
                  <a:pt x="5285984" y="1002082"/>
                </a:cubicBezTo>
                <a:lnTo>
                  <a:pt x="100208" y="1002082"/>
                </a:lnTo>
                <a:cubicBezTo>
                  <a:pt x="44865" y="1002082"/>
                  <a:pt x="0" y="957217"/>
                  <a:pt x="0" y="901874"/>
                </a:cubicBezTo>
                <a:lnTo>
                  <a:pt x="0" y="100208"/>
                </a:lnTo>
                <a:cubicBezTo>
                  <a:pt x="0" y="44902"/>
                  <a:pt x="44902" y="0"/>
                  <a:pt x="100208" y="0"/>
                </a:cubicBezTo>
                <a:close/>
              </a:path>
            </a:pathLst>
          </a:custGeom>
          <a:solidFill>
            <a:srgbClr val="1D1D1F"/>
          </a:solidFill>
          <a:ln/>
        </p:spPr>
      </p:sp>
      <p:sp>
        <p:nvSpPr>
          <p:cNvPr id="43" name="Shape 41"/>
          <p:cNvSpPr/>
          <p:nvPr/>
        </p:nvSpPr>
        <p:spPr>
          <a:xfrm>
            <a:off x="6365484" y="4915773"/>
            <a:ext cx="200416" cy="200416"/>
          </a:xfrm>
          <a:custGeom>
            <a:avLst/>
            <a:gdLst/>
            <a:ahLst/>
            <a:cxnLst/>
            <a:rect l="l" t="t" r="r" b="b"/>
            <a:pathLst>
              <a:path w="200416" h="200416">
                <a:moveTo>
                  <a:pt x="25052" y="25052"/>
                </a:moveTo>
                <a:cubicBezTo>
                  <a:pt x="25052" y="18124"/>
                  <a:pt x="19454" y="12526"/>
                  <a:pt x="12526" y="12526"/>
                </a:cubicBezTo>
                <a:cubicBezTo>
                  <a:pt x="5598" y="12526"/>
                  <a:pt x="0" y="18124"/>
                  <a:pt x="0" y="25052"/>
                </a:cubicBezTo>
                <a:lnTo>
                  <a:pt x="0" y="156575"/>
                </a:lnTo>
                <a:cubicBezTo>
                  <a:pt x="0" y="173877"/>
                  <a:pt x="14013" y="187890"/>
                  <a:pt x="31315" y="187890"/>
                </a:cubicBezTo>
                <a:lnTo>
                  <a:pt x="187890" y="187890"/>
                </a:lnTo>
                <a:cubicBezTo>
                  <a:pt x="194819" y="187890"/>
                  <a:pt x="200416" y="182293"/>
                  <a:pt x="200416" y="175364"/>
                </a:cubicBezTo>
                <a:cubicBezTo>
                  <a:pt x="200416" y="168436"/>
                  <a:pt x="194819" y="162838"/>
                  <a:pt x="187890" y="162838"/>
                </a:cubicBezTo>
                <a:lnTo>
                  <a:pt x="31315" y="162838"/>
                </a:lnTo>
                <a:cubicBezTo>
                  <a:pt x="27870" y="162838"/>
                  <a:pt x="25052" y="160020"/>
                  <a:pt x="25052" y="156575"/>
                </a:cubicBezTo>
                <a:lnTo>
                  <a:pt x="25052" y="25052"/>
                </a:lnTo>
                <a:close/>
                <a:moveTo>
                  <a:pt x="184211" y="58951"/>
                </a:moveTo>
                <a:cubicBezTo>
                  <a:pt x="189104" y="54058"/>
                  <a:pt x="189104" y="46111"/>
                  <a:pt x="184211" y="41218"/>
                </a:cubicBezTo>
                <a:cubicBezTo>
                  <a:pt x="179318" y="36325"/>
                  <a:pt x="171372" y="36325"/>
                  <a:pt x="166479" y="41218"/>
                </a:cubicBezTo>
                <a:lnTo>
                  <a:pt x="125260" y="82476"/>
                </a:lnTo>
                <a:lnTo>
                  <a:pt x="102792" y="60047"/>
                </a:lnTo>
                <a:cubicBezTo>
                  <a:pt x="97899" y="55154"/>
                  <a:pt x="89953" y="55154"/>
                  <a:pt x="85060" y="60047"/>
                </a:cubicBezTo>
                <a:lnTo>
                  <a:pt x="47481" y="97625"/>
                </a:lnTo>
                <a:cubicBezTo>
                  <a:pt x="42588" y="102518"/>
                  <a:pt x="42588" y="110464"/>
                  <a:pt x="47481" y="115357"/>
                </a:cubicBezTo>
                <a:cubicBezTo>
                  <a:pt x="52374" y="120250"/>
                  <a:pt x="60321" y="120250"/>
                  <a:pt x="65214" y="115357"/>
                </a:cubicBezTo>
                <a:lnTo>
                  <a:pt x="93945" y="86625"/>
                </a:lnTo>
                <a:lnTo>
                  <a:pt x="116414" y="109094"/>
                </a:lnTo>
                <a:cubicBezTo>
                  <a:pt x="121307" y="113987"/>
                  <a:pt x="129253" y="113987"/>
                  <a:pt x="134146" y="109094"/>
                </a:cubicBezTo>
                <a:lnTo>
                  <a:pt x="184250" y="58990"/>
                </a:lnTo>
                <a:close/>
              </a:path>
            </a:pathLst>
          </a:custGeom>
          <a:solidFill>
            <a:srgbClr val="0071E3"/>
          </a:solidFill>
          <a:ln/>
        </p:spPr>
      </p:sp>
      <p:sp>
        <p:nvSpPr>
          <p:cNvPr id="44" name="Text 42"/>
          <p:cNvSpPr/>
          <p:nvPr/>
        </p:nvSpPr>
        <p:spPr>
          <a:xfrm>
            <a:off x="6673850" y="4681953"/>
            <a:ext cx="4818345" cy="233819"/>
          </a:xfrm>
          <a:prstGeom prst="rect">
            <a:avLst/>
          </a:prstGeom>
          <a:noFill/>
          <a:ln/>
        </p:spPr>
        <p:txBody>
          <a:bodyPr wrap="square" lIns="0" tIns="0" rIns="0" bIns="0" rtlCol="0" anchor="ctr"/>
          <a:lstStyle/>
          <a:p>
            <a:pPr>
              <a:lnSpc>
                <a:spcPct val="130000"/>
              </a:lnSpc>
            </a:pPr>
            <a:r>
              <a:rPr lang="en-US" sz="1150" b="1">
                <a:solidFill>
                  <a:srgbClr val="FFFFFF"/>
                </a:solidFill>
                <a:latin typeface="Liter"/>
                <a:ea typeface="Liter" pitchFamily="34" charset="-122"/>
                <a:cs typeface="Liter" pitchFamily="34" charset="-120"/>
              </a:rPr>
              <a:t>Sweet Spot: Targeting Deciles  7, 8 and 9</a:t>
            </a:r>
            <a:endParaRPr lang="en-US" sz="1600" dirty="0"/>
          </a:p>
        </p:txBody>
      </p:sp>
      <p:sp>
        <p:nvSpPr>
          <p:cNvPr id="45" name="Text 43"/>
          <p:cNvSpPr/>
          <p:nvPr/>
        </p:nvSpPr>
        <p:spPr>
          <a:xfrm>
            <a:off x="6673850" y="4949175"/>
            <a:ext cx="4809995" cy="400833"/>
          </a:xfrm>
          <a:prstGeom prst="rect">
            <a:avLst/>
          </a:prstGeom>
          <a:noFill/>
          <a:ln/>
        </p:spPr>
        <p:txBody>
          <a:bodyPr wrap="square" lIns="0" tIns="0" rIns="0" bIns="0" rtlCol="0" anchor="ctr"/>
          <a:lstStyle/>
          <a:p>
            <a:pPr>
              <a:lnSpc>
                <a:spcPct val="130000"/>
              </a:lnSpc>
            </a:pPr>
            <a:r>
              <a:rPr lang="en-US" sz="1050">
                <a:solidFill>
                  <a:srgbClr val="FFFFFF">
                    <a:alpha val="80000"/>
                  </a:srgbClr>
                </a:solidFill>
                <a:latin typeface="Liter"/>
                <a:ea typeface="Liter" pitchFamily="34" charset="-122"/>
                <a:cs typeface="Liter" pitchFamily="34" charset="-120"/>
              </a:rPr>
              <a:t>Concentrate offers on users with 15-19% conversion probability for maximum incremental profit with targeted promotional activities.</a:t>
            </a:r>
            <a:endParaRPr lang="en-US" sz="1050">
              <a:latin typeface="Liter"/>
            </a:endParaRPr>
          </a:p>
        </p:txBody>
      </p:sp>
      <p:pic>
        <p:nvPicPr>
          <p:cNvPr id="47" name="Picture 46" descr="A logo on a glass wall&#10;&#10;AI-generated content may be incorrect.">
            <a:extLst>
              <a:ext uri="{FF2B5EF4-FFF2-40B4-BE49-F238E27FC236}">
                <a16:creationId xmlns:a16="http://schemas.microsoft.com/office/drawing/2014/main" id="{26E71185-1BC8-5537-DBAB-1EE600D94F59}"/>
              </a:ext>
            </a:extLst>
          </p:cNvPr>
          <p:cNvPicPr>
            <a:picLocks noChangeAspect="1"/>
          </p:cNvPicPr>
          <p:nvPr/>
        </p:nvPicPr>
        <p:blipFill>
          <a:blip r:embed="rId3"/>
          <a:stretch>
            <a:fillRect/>
          </a:stretch>
        </p:blipFill>
        <p:spPr>
          <a:xfrm>
            <a:off x="11070936" y="-1"/>
            <a:ext cx="1121065" cy="107384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D1D1F"/>
        </a:solidFill>
        <a:effectLst/>
      </p:bgPr>
    </p:bg>
    <p:spTree>
      <p:nvGrpSpPr>
        <p:cNvPr id="1" name=""/>
        <p:cNvGrpSpPr/>
        <p:nvPr/>
      </p:nvGrpSpPr>
      <p:grpSpPr>
        <a:xfrm>
          <a:off x="0" y="0"/>
          <a:ext cx="0" cy="0"/>
          <a:chOff x="0" y="0"/>
          <a:chExt cx="0" cy="0"/>
        </a:xfrm>
      </p:grpSpPr>
      <p:pic>
        <p:nvPicPr>
          <p:cNvPr id="2" name="Image 0" descr="https://kimi-web-img.moonshot.cn/img/img.freepik.com/af599c467b90b1e10afe0b01977439be09cfcab6.jpg"/>
          <p:cNvPicPr>
            <a:picLocks noChangeAspect="1"/>
          </p:cNvPicPr>
          <p:nvPr/>
        </p:nvPicPr>
        <p:blipFill>
          <a:blip r:embed="rId3">
            <a:alphaModFix amt="20000"/>
          </a:blip>
          <a:srcRect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D1D1F">
                  <a:alpha val="95000"/>
                </a:srgbClr>
              </a:gs>
              <a:gs pos="50000">
                <a:srgbClr val="1D1D1F">
                  <a:alpha val="90000"/>
                </a:srgbClr>
              </a:gs>
              <a:gs pos="100000">
                <a:srgbClr val="0071E3">
                  <a:alpha val="30000"/>
                </a:srgbClr>
              </a:gs>
            </a:gsLst>
            <a:lin ang="2700000" scaled="1"/>
          </a:gradFill>
          <a:ln/>
        </p:spPr>
      </p:sp>
      <p:sp>
        <p:nvSpPr>
          <p:cNvPr id="4" name="Text 1"/>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Liter" pitchFamily="34" charset="0"/>
                <a:ea typeface="Liter" pitchFamily="34" charset="-122"/>
                <a:cs typeface="Liter" pitchFamily="34" charset="-120"/>
              </a:rPr>
              <a:t>Executive Summary</a:t>
            </a:r>
            <a:endParaRPr lang="en-US" sz="1600" dirty="0"/>
          </a:p>
        </p:txBody>
      </p:sp>
      <p:sp>
        <p:nvSpPr>
          <p:cNvPr id="5" name="Text 2"/>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5F5F7"/>
                </a:solidFill>
                <a:latin typeface="Hedvig Letters Sans" pitchFamily="34" charset="0"/>
                <a:ea typeface="Hedvig Letters Sans" pitchFamily="34" charset="-122"/>
                <a:cs typeface="Hedvig Letters Sans" pitchFamily="34" charset="-120"/>
              </a:rPr>
              <a:t>Final Recommendation to Management</a:t>
            </a:r>
            <a:endParaRPr lang="en-US" sz="1600" dirty="0"/>
          </a:p>
        </p:txBody>
      </p:sp>
      <p:sp>
        <p:nvSpPr>
          <p:cNvPr id="6" name="Shape 3"/>
          <p:cNvSpPr/>
          <p:nvPr/>
        </p:nvSpPr>
        <p:spPr>
          <a:xfrm>
            <a:off x="384175" y="1336675"/>
            <a:ext cx="6149975" cy="3088733"/>
          </a:xfrm>
          <a:custGeom>
            <a:avLst/>
            <a:gdLst/>
            <a:ahLst/>
            <a:cxnLst/>
            <a:rect l="l" t="t" r="r" b="b"/>
            <a:pathLst>
              <a:path w="6149975" h="3321050">
                <a:moveTo>
                  <a:pt x="152403" y="0"/>
                </a:moveTo>
                <a:lnTo>
                  <a:pt x="5997572" y="0"/>
                </a:lnTo>
                <a:cubicBezTo>
                  <a:pt x="6081742" y="0"/>
                  <a:pt x="6149975" y="68233"/>
                  <a:pt x="6149975" y="152403"/>
                </a:cubicBezTo>
                <a:lnTo>
                  <a:pt x="6149975" y="3168647"/>
                </a:lnTo>
                <a:cubicBezTo>
                  <a:pt x="6149975" y="3252817"/>
                  <a:pt x="6081742" y="3321050"/>
                  <a:pt x="5997572" y="3321050"/>
                </a:cubicBezTo>
                <a:lnTo>
                  <a:pt x="152403" y="3321050"/>
                </a:lnTo>
                <a:cubicBezTo>
                  <a:pt x="68233" y="3321050"/>
                  <a:pt x="0" y="3252817"/>
                  <a:pt x="0" y="3168647"/>
                </a:cubicBezTo>
                <a:lnTo>
                  <a:pt x="0" y="152403"/>
                </a:lnTo>
                <a:cubicBezTo>
                  <a:pt x="0" y="68289"/>
                  <a:pt x="68289" y="0"/>
                  <a:pt x="152403" y="0"/>
                </a:cubicBezTo>
                <a:close/>
              </a:path>
            </a:pathLst>
          </a:custGeom>
          <a:solidFill>
            <a:srgbClr val="FFFFFF">
              <a:alpha val="10196"/>
            </a:srgbClr>
          </a:solidFill>
          <a:ln w="8467">
            <a:solidFill>
              <a:srgbClr val="FFFFFF">
                <a:alpha val="20000"/>
              </a:srgbClr>
            </a:solidFill>
            <a:prstDash val="solid"/>
          </a:ln>
        </p:spPr>
      </p:sp>
      <p:sp>
        <p:nvSpPr>
          <p:cNvPr id="7" name="Shape 4"/>
          <p:cNvSpPr/>
          <p:nvPr/>
        </p:nvSpPr>
        <p:spPr>
          <a:xfrm>
            <a:off x="615950" y="1568453"/>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solidFill>
          <a:ln/>
        </p:spPr>
      </p:sp>
      <p:sp>
        <p:nvSpPr>
          <p:cNvPr id="8" name="Shape 5"/>
          <p:cNvSpPr/>
          <p:nvPr/>
        </p:nvSpPr>
        <p:spPr>
          <a:xfrm>
            <a:off x="768350" y="1720853"/>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FFFFFF"/>
          </a:solidFill>
          <a:ln/>
        </p:spPr>
      </p:sp>
      <p:sp>
        <p:nvSpPr>
          <p:cNvPr id="9" name="Text 6"/>
          <p:cNvSpPr/>
          <p:nvPr/>
        </p:nvSpPr>
        <p:spPr>
          <a:xfrm>
            <a:off x="1301750" y="1682753"/>
            <a:ext cx="2771775" cy="304800"/>
          </a:xfrm>
          <a:prstGeom prst="rect">
            <a:avLst/>
          </a:prstGeom>
          <a:noFill/>
          <a:ln/>
        </p:spPr>
        <p:txBody>
          <a:bodyPr wrap="square" lIns="0" tIns="0" rIns="0" bIns="0" rtlCol="0" anchor="ctr"/>
          <a:lstStyle/>
          <a:p>
            <a:pPr>
              <a:lnSpc>
                <a:spcPct val="110000"/>
              </a:lnSpc>
            </a:pPr>
            <a:r>
              <a:rPr lang="en-US" sz="1800" b="1" dirty="0">
                <a:solidFill>
                  <a:srgbClr val="F5F5F7"/>
                </a:solidFill>
                <a:latin typeface="Hedvig Letters Sans" pitchFamily="34" charset="0"/>
                <a:ea typeface="Hedvig Letters Sans" pitchFamily="34" charset="-122"/>
                <a:cs typeface="Hedvig Letters Sans" pitchFamily="34" charset="-120"/>
              </a:rPr>
              <a:t>Recommended Approach</a:t>
            </a:r>
            <a:endParaRPr lang="en-US" sz="1600" dirty="0"/>
          </a:p>
        </p:txBody>
      </p:sp>
      <p:sp>
        <p:nvSpPr>
          <p:cNvPr id="10" name="Shape 7"/>
          <p:cNvSpPr/>
          <p:nvPr/>
        </p:nvSpPr>
        <p:spPr>
          <a:xfrm>
            <a:off x="615950" y="229235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71E3">
              <a:alpha val="30196"/>
            </a:srgbClr>
          </a:solidFill>
          <a:ln/>
        </p:spPr>
      </p:sp>
      <p:sp>
        <p:nvSpPr>
          <p:cNvPr id="11" name="Text 8"/>
          <p:cNvSpPr/>
          <p:nvPr/>
        </p:nvSpPr>
        <p:spPr>
          <a:xfrm>
            <a:off x="772120" y="2349503"/>
            <a:ext cx="1524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1</a:t>
            </a:r>
            <a:endParaRPr lang="en-US" sz="1600" dirty="0"/>
          </a:p>
        </p:txBody>
      </p:sp>
      <p:sp>
        <p:nvSpPr>
          <p:cNvPr id="12" name="Text 9"/>
          <p:cNvSpPr/>
          <p:nvPr/>
        </p:nvSpPr>
        <p:spPr>
          <a:xfrm>
            <a:off x="1149350" y="2292353"/>
            <a:ext cx="5248275" cy="266700"/>
          </a:xfrm>
          <a:prstGeom prst="rect">
            <a:avLst/>
          </a:prstGeom>
          <a:noFill/>
          <a:ln/>
        </p:spPr>
        <p:txBody>
          <a:bodyPr wrap="square" lIns="0" tIns="0" rIns="0" bIns="0" rtlCol="0" anchor="ctr"/>
          <a:lstStyle/>
          <a:p>
            <a:pPr>
              <a:lnSpc>
                <a:spcPct val="120000"/>
              </a:lnSpc>
            </a:pPr>
            <a:r>
              <a:rPr lang="en-US" sz="1500" b="1" dirty="0">
                <a:solidFill>
                  <a:srgbClr val="F5F5F7"/>
                </a:solidFill>
                <a:latin typeface="Liter" pitchFamily="34" charset="0"/>
                <a:ea typeface="Liter" pitchFamily="34" charset="-122"/>
                <a:cs typeface="Liter" pitchFamily="34" charset="-120"/>
              </a:rPr>
              <a:t>Use Logistic Regression with Current + Delta Features</a:t>
            </a:r>
            <a:endParaRPr lang="en-US" sz="1600" dirty="0"/>
          </a:p>
        </p:txBody>
      </p:sp>
      <p:sp>
        <p:nvSpPr>
          <p:cNvPr id="13" name="Text 10"/>
          <p:cNvSpPr/>
          <p:nvPr/>
        </p:nvSpPr>
        <p:spPr>
          <a:xfrm>
            <a:off x="1149350" y="2597153"/>
            <a:ext cx="5229225" cy="4572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Combines absolute engagement levels with momentum indicators for optimal predictions</a:t>
            </a:r>
            <a:endParaRPr lang="en-US" sz="1600" dirty="0"/>
          </a:p>
        </p:txBody>
      </p:sp>
      <p:sp>
        <p:nvSpPr>
          <p:cNvPr id="14" name="Shape 11"/>
          <p:cNvSpPr/>
          <p:nvPr/>
        </p:nvSpPr>
        <p:spPr>
          <a:xfrm>
            <a:off x="615950" y="320675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71E3">
              <a:alpha val="30196"/>
            </a:srgbClr>
          </a:solidFill>
          <a:ln/>
        </p:spPr>
      </p:sp>
      <p:sp>
        <p:nvSpPr>
          <p:cNvPr id="15" name="Text 12"/>
          <p:cNvSpPr/>
          <p:nvPr/>
        </p:nvSpPr>
        <p:spPr>
          <a:xfrm>
            <a:off x="756642" y="3263903"/>
            <a:ext cx="18097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2</a:t>
            </a:r>
            <a:endParaRPr lang="en-US" sz="1600" dirty="0"/>
          </a:p>
        </p:txBody>
      </p:sp>
      <p:sp>
        <p:nvSpPr>
          <p:cNvPr id="16" name="Text 13"/>
          <p:cNvSpPr/>
          <p:nvPr/>
        </p:nvSpPr>
        <p:spPr>
          <a:xfrm>
            <a:off x="1149350" y="3206753"/>
            <a:ext cx="5162550" cy="266700"/>
          </a:xfrm>
          <a:prstGeom prst="rect">
            <a:avLst/>
          </a:prstGeom>
          <a:noFill/>
          <a:ln/>
        </p:spPr>
        <p:txBody>
          <a:bodyPr wrap="square" lIns="0" tIns="0" rIns="0" bIns="0" rtlCol="0" anchor="ctr"/>
          <a:lstStyle/>
          <a:p>
            <a:pPr>
              <a:lnSpc>
                <a:spcPct val="120000"/>
              </a:lnSpc>
            </a:pPr>
            <a:r>
              <a:rPr lang="en-US" sz="1500" b="1">
                <a:solidFill>
                  <a:srgbClr val="F5F5F7"/>
                </a:solidFill>
                <a:latin typeface="Liter"/>
                <a:ea typeface="Liter" pitchFamily="34" charset="-122"/>
                <a:cs typeface="Liter" pitchFamily="34" charset="-120"/>
              </a:rPr>
              <a:t>Target Deciles 7-9 for promotional activities</a:t>
            </a:r>
            <a:endParaRPr lang="en-US" sz="1600">
              <a:latin typeface="Liter"/>
            </a:endParaRPr>
          </a:p>
        </p:txBody>
      </p:sp>
      <p:sp>
        <p:nvSpPr>
          <p:cNvPr id="17" name="Text 14"/>
          <p:cNvSpPr/>
          <p:nvPr/>
        </p:nvSpPr>
        <p:spPr>
          <a:xfrm>
            <a:off x="1149350" y="3511553"/>
            <a:ext cx="51435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Concentrate promotional offers on users with highest conversion probability</a:t>
            </a:r>
            <a:endParaRPr lang="en-US" sz="1600" dirty="0"/>
          </a:p>
        </p:txBody>
      </p:sp>
      <p:sp>
        <p:nvSpPr>
          <p:cNvPr id="18" name="Shape 15"/>
          <p:cNvSpPr/>
          <p:nvPr/>
        </p:nvSpPr>
        <p:spPr>
          <a:xfrm>
            <a:off x="615950" y="389255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0071E3">
              <a:alpha val="30196"/>
            </a:srgbClr>
          </a:solidFill>
          <a:ln/>
        </p:spPr>
      </p:sp>
      <p:sp>
        <p:nvSpPr>
          <p:cNvPr id="19" name="Text 16"/>
          <p:cNvSpPr/>
          <p:nvPr/>
        </p:nvSpPr>
        <p:spPr>
          <a:xfrm>
            <a:off x="755848" y="3949703"/>
            <a:ext cx="1905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3</a:t>
            </a:r>
            <a:endParaRPr lang="en-US" sz="1600" dirty="0"/>
          </a:p>
        </p:txBody>
      </p:sp>
      <p:sp>
        <p:nvSpPr>
          <p:cNvPr id="20" name="Text 17"/>
          <p:cNvSpPr/>
          <p:nvPr/>
        </p:nvSpPr>
        <p:spPr>
          <a:xfrm>
            <a:off x="1149350" y="3892553"/>
            <a:ext cx="4095750" cy="266700"/>
          </a:xfrm>
          <a:prstGeom prst="rect">
            <a:avLst/>
          </a:prstGeom>
          <a:noFill/>
          <a:ln/>
        </p:spPr>
        <p:txBody>
          <a:bodyPr wrap="square" lIns="0" tIns="0" rIns="0" bIns="0" rtlCol="0" anchor="ctr"/>
          <a:lstStyle/>
          <a:p>
            <a:pPr>
              <a:lnSpc>
                <a:spcPct val="120000"/>
              </a:lnSpc>
            </a:pPr>
            <a:r>
              <a:rPr lang="en-US" sz="1500" b="1" dirty="0">
                <a:solidFill>
                  <a:srgbClr val="F5F5F7"/>
                </a:solidFill>
                <a:latin typeface="Liter" pitchFamily="34" charset="0"/>
                <a:ea typeface="Liter" pitchFamily="34" charset="-122"/>
                <a:cs typeface="Liter" pitchFamily="34" charset="-120"/>
              </a:rPr>
              <a:t>Monitor Profit, Not Just Conversion Rate</a:t>
            </a:r>
            <a:endParaRPr lang="en-US" sz="1600" dirty="0"/>
          </a:p>
        </p:txBody>
      </p:sp>
      <p:sp>
        <p:nvSpPr>
          <p:cNvPr id="21" name="Text 18"/>
          <p:cNvSpPr/>
          <p:nvPr/>
        </p:nvSpPr>
        <p:spPr>
          <a:xfrm>
            <a:off x="1149350" y="4197353"/>
            <a:ext cx="407670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Track incremental profit and ROI as primary success metrics</a:t>
            </a:r>
            <a:endParaRPr lang="en-US" sz="1600" dirty="0"/>
          </a:p>
        </p:txBody>
      </p:sp>
      <p:sp>
        <p:nvSpPr>
          <p:cNvPr id="25" name="Shape 22"/>
          <p:cNvSpPr/>
          <p:nvPr/>
        </p:nvSpPr>
        <p:spPr>
          <a:xfrm>
            <a:off x="6773565" y="1336675"/>
            <a:ext cx="5035550" cy="3197225"/>
          </a:xfrm>
          <a:custGeom>
            <a:avLst/>
            <a:gdLst/>
            <a:ahLst/>
            <a:cxnLst/>
            <a:rect l="l" t="t" r="r" b="b"/>
            <a:pathLst>
              <a:path w="5035550" h="3197225">
                <a:moveTo>
                  <a:pt x="152412" y="0"/>
                </a:moveTo>
                <a:lnTo>
                  <a:pt x="4883138" y="0"/>
                </a:lnTo>
                <a:cubicBezTo>
                  <a:pt x="4967313" y="0"/>
                  <a:pt x="5035550" y="68237"/>
                  <a:pt x="5035550" y="152412"/>
                </a:cubicBezTo>
                <a:lnTo>
                  <a:pt x="5035550" y="3044813"/>
                </a:lnTo>
                <a:cubicBezTo>
                  <a:pt x="5035550" y="3128988"/>
                  <a:pt x="4967313" y="3197225"/>
                  <a:pt x="4883138" y="3197225"/>
                </a:cubicBezTo>
                <a:lnTo>
                  <a:pt x="152412" y="3197225"/>
                </a:lnTo>
                <a:cubicBezTo>
                  <a:pt x="68237" y="3197225"/>
                  <a:pt x="0" y="3128988"/>
                  <a:pt x="0" y="3044813"/>
                </a:cubicBezTo>
                <a:lnTo>
                  <a:pt x="0" y="152412"/>
                </a:lnTo>
                <a:cubicBezTo>
                  <a:pt x="0" y="68293"/>
                  <a:pt x="68293" y="0"/>
                  <a:pt x="152412" y="0"/>
                </a:cubicBezTo>
                <a:close/>
              </a:path>
            </a:pathLst>
          </a:custGeom>
          <a:solidFill>
            <a:srgbClr val="FFFFFF">
              <a:alpha val="10196"/>
            </a:srgbClr>
          </a:solidFill>
          <a:ln w="8467">
            <a:solidFill>
              <a:srgbClr val="FFFFFF">
                <a:alpha val="20000"/>
              </a:srgbClr>
            </a:solidFill>
            <a:prstDash val="solid"/>
          </a:ln>
        </p:spPr>
      </p:sp>
      <p:sp>
        <p:nvSpPr>
          <p:cNvPr id="26" name="Shape 23"/>
          <p:cNvSpPr/>
          <p:nvPr/>
        </p:nvSpPr>
        <p:spPr>
          <a:xfrm>
            <a:off x="7005340" y="1568453"/>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071E3"/>
          </a:solidFill>
          <a:ln/>
        </p:spPr>
      </p:sp>
      <p:sp>
        <p:nvSpPr>
          <p:cNvPr id="27" name="Shape 24"/>
          <p:cNvSpPr/>
          <p:nvPr/>
        </p:nvSpPr>
        <p:spPr>
          <a:xfrm>
            <a:off x="7157740" y="1720853"/>
            <a:ext cx="228600" cy="228600"/>
          </a:xfrm>
          <a:custGeom>
            <a:avLst/>
            <a:gdLst/>
            <a:ahLst/>
            <a:cxnLst/>
            <a:rect l="l" t="t" r="r" b="b"/>
            <a:pathLst>
              <a:path w="228600" h="228600">
                <a:moveTo>
                  <a:pt x="64428" y="0"/>
                </a:moveTo>
                <a:lnTo>
                  <a:pt x="164440" y="0"/>
                </a:lnTo>
                <a:cubicBezTo>
                  <a:pt x="176272" y="0"/>
                  <a:pt x="185916" y="9733"/>
                  <a:pt x="185470" y="21521"/>
                </a:cubicBezTo>
                <a:cubicBezTo>
                  <a:pt x="185380" y="23887"/>
                  <a:pt x="185291" y="26253"/>
                  <a:pt x="185157" y="28575"/>
                </a:cubicBezTo>
                <a:lnTo>
                  <a:pt x="207303" y="28575"/>
                </a:lnTo>
                <a:cubicBezTo>
                  <a:pt x="218956" y="28575"/>
                  <a:pt x="229225" y="38219"/>
                  <a:pt x="228332" y="50810"/>
                </a:cubicBezTo>
                <a:cubicBezTo>
                  <a:pt x="224983" y="97110"/>
                  <a:pt x="201320" y="122560"/>
                  <a:pt x="175647" y="135865"/>
                </a:cubicBezTo>
                <a:cubicBezTo>
                  <a:pt x="168593" y="139526"/>
                  <a:pt x="161404" y="142250"/>
                  <a:pt x="154573" y="144259"/>
                </a:cubicBezTo>
                <a:cubicBezTo>
                  <a:pt x="145554" y="157029"/>
                  <a:pt x="136178" y="163770"/>
                  <a:pt x="128721" y="167387"/>
                </a:cubicBezTo>
                <a:lnTo>
                  <a:pt x="128721" y="200025"/>
                </a:lnTo>
                <a:lnTo>
                  <a:pt x="157296" y="200025"/>
                </a:lnTo>
                <a:cubicBezTo>
                  <a:pt x="165199" y="200025"/>
                  <a:pt x="171584" y="206410"/>
                  <a:pt x="171584" y="214313"/>
                </a:cubicBezTo>
                <a:cubicBezTo>
                  <a:pt x="171584" y="222215"/>
                  <a:pt x="165199" y="228600"/>
                  <a:pt x="157296" y="228600"/>
                </a:cubicBezTo>
                <a:lnTo>
                  <a:pt x="71571" y="228600"/>
                </a:lnTo>
                <a:cubicBezTo>
                  <a:pt x="63669" y="228600"/>
                  <a:pt x="57284" y="222215"/>
                  <a:pt x="57284" y="214313"/>
                </a:cubicBezTo>
                <a:cubicBezTo>
                  <a:pt x="57284" y="206410"/>
                  <a:pt x="63669" y="200025"/>
                  <a:pt x="71571" y="200025"/>
                </a:cubicBezTo>
                <a:lnTo>
                  <a:pt x="100146" y="200025"/>
                </a:lnTo>
                <a:lnTo>
                  <a:pt x="100146" y="167387"/>
                </a:lnTo>
                <a:cubicBezTo>
                  <a:pt x="93003" y="163949"/>
                  <a:pt x="84118" y="157564"/>
                  <a:pt x="75456" y="145822"/>
                </a:cubicBezTo>
                <a:cubicBezTo>
                  <a:pt x="67241" y="143679"/>
                  <a:pt x="58311" y="140419"/>
                  <a:pt x="49604" y="135508"/>
                </a:cubicBezTo>
                <a:cubicBezTo>
                  <a:pt x="25450" y="121980"/>
                  <a:pt x="3661" y="96485"/>
                  <a:pt x="536" y="50721"/>
                </a:cubicBezTo>
                <a:cubicBezTo>
                  <a:pt x="-313" y="38174"/>
                  <a:pt x="9912" y="28530"/>
                  <a:pt x="21565" y="28530"/>
                </a:cubicBezTo>
                <a:lnTo>
                  <a:pt x="43711" y="28530"/>
                </a:lnTo>
                <a:cubicBezTo>
                  <a:pt x="43577" y="26209"/>
                  <a:pt x="43488" y="23887"/>
                  <a:pt x="43398" y="21476"/>
                </a:cubicBezTo>
                <a:cubicBezTo>
                  <a:pt x="42952" y="9644"/>
                  <a:pt x="52596" y="-45"/>
                  <a:pt x="64428" y="-45"/>
                </a:cubicBezTo>
                <a:close/>
                <a:moveTo>
                  <a:pt x="45318" y="50006"/>
                </a:moveTo>
                <a:lnTo>
                  <a:pt x="21922" y="50006"/>
                </a:lnTo>
                <a:cubicBezTo>
                  <a:pt x="24691" y="87823"/>
                  <a:pt x="42059" y="106754"/>
                  <a:pt x="59963" y="116800"/>
                </a:cubicBezTo>
                <a:cubicBezTo>
                  <a:pt x="53533" y="100146"/>
                  <a:pt x="48220" y="78403"/>
                  <a:pt x="45318" y="50006"/>
                </a:cubicBezTo>
                <a:close/>
                <a:moveTo>
                  <a:pt x="169664" y="114657"/>
                </a:moveTo>
                <a:cubicBezTo>
                  <a:pt x="187747" y="104031"/>
                  <a:pt x="204088" y="85145"/>
                  <a:pt x="206856" y="50006"/>
                </a:cubicBezTo>
                <a:lnTo>
                  <a:pt x="183505" y="50006"/>
                </a:lnTo>
                <a:cubicBezTo>
                  <a:pt x="180737" y="77197"/>
                  <a:pt x="175736" y="98316"/>
                  <a:pt x="169664" y="114657"/>
                </a:cubicBezTo>
                <a:close/>
              </a:path>
            </a:pathLst>
          </a:custGeom>
          <a:solidFill>
            <a:srgbClr val="FFFFFF"/>
          </a:solidFill>
          <a:ln/>
        </p:spPr>
      </p:sp>
      <p:sp>
        <p:nvSpPr>
          <p:cNvPr id="28" name="Text 25"/>
          <p:cNvSpPr/>
          <p:nvPr/>
        </p:nvSpPr>
        <p:spPr>
          <a:xfrm>
            <a:off x="7691140" y="1682753"/>
            <a:ext cx="2238375" cy="304800"/>
          </a:xfrm>
          <a:prstGeom prst="rect">
            <a:avLst/>
          </a:prstGeom>
          <a:noFill/>
          <a:ln/>
        </p:spPr>
        <p:txBody>
          <a:bodyPr wrap="square" lIns="0" tIns="0" rIns="0" bIns="0" rtlCol="0" anchor="ctr"/>
          <a:lstStyle/>
          <a:p>
            <a:pPr>
              <a:lnSpc>
                <a:spcPct val="110000"/>
              </a:lnSpc>
            </a:pPr>
            <a:r>
              <a:rPr lang="en-US" sz="1800" b="1" dirty="0">
                <a:solidFill>
                  <a:srgbClr val="F5F5F7"/>
                </a:solidFill>
                <a:latin typeface="Hedvig Letters Sans" pitchFamily="34" charset="0"/>
                <a:ea typeface="Hedvig Letters Sans" pitchFamily="34" charset="-122"/>
                <a:cs typeface="Hedvig Letters Sans" pitchFamily="34" charset="-120"/>
              </a:rPr>
              <a:t>Expected Outcomes</a:t>
            </a:r>
            <a:endParaRPr lang="en-US" sz="1600" dirty="0"/>
          </a:p>
        </p:txBody>
      </p:sp>
      <p:sp>
        <p:nvSpPr>
          <p:cNvPr id="29" name="Shape 26"/>
          <p:cNvSpPr/>
          <p:nvPr/>
        </p:nvSpPr>
        <p:spPr>
          <a:xfrm>
            <a:off x="7029152" y="2330453"/>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0071E3"/>
          </a:solidFill>
          <a:ln/>
        </p:spPr>
      </p:sp>
      <p:sp>
        <p:nvSpPr>
          <p:cNvPr id="30" name="Text 27"/>
          <p:cNvSpPr/>
          <p:nvPr/>
        </p:nvSpPr>
        <p:spPr>
          <a:xfrm>
            <a:off x="7395865" y="2292353"/>
            <a:ext cx="3457575" cy="266700"/>
          </a:xfrm>
          <a:prstGeom prst="rect">
            <a:avLst/>
          </a:prstGeom>
          <a:noFill/>
          <a:ln/>
        </p:spPr>
        <p:txBody>
          <a:bodyPr wrap="square" lIns="0" tIns="0" rIns="0" bIns="0" rtlCol="0" anchor="ctr"/>
          <a:lstStyle/>
          <a:p>
            <a:pPr>
              <a:lnSpc>
                <a:spcPct val="130000"/>
              </a:lnSpc>
            </a:pPr>
            <a:r>
              <a:rPr lang="en-US" sz="1350" b="1" dirty="0">
                <a:solidFill>
                  <a:srgbClr val="F5F5F7"/>
                </a:solidFill>
                <a:latin typeface="Liter" pitchFamily="34" charset="0"/>
                <a:ea typeface="Liter" pitchFamily="34" charset="-122"/>
                <a:cs typeface="Liter" pitchFamily="34" charset="-120"/>
              </a:rPr>
              <a:t>Faster Paid Subscriber Growth</a:t>
            </a:r>
            <a:endParaRPr lang="en-US" sz="1600" dirty="0"/>
          </a:p>
        </p:txBody>
      </p:sp>
      <p:sp>
        <p:nvSpPr>
          <p:cNvPr id="31" name="Text 28"/>
          <p:cNvSpPr/>
          <p:nvPr/>
        </p:nvSpPr>
        <p:spPr>
          <a:xfrm>
            <a:off x="7395865" y="2597153"/>
            <a:ext cx="34480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3-4× higher conversion rates in targeted segments</a:t>
            </a:r>
            <a:endParaRPr lang="en-US" sz="1600" dirty="0"/>
          </a:p>
        </p:txBody>
      </p:sp>
      <p:sp>
        <p:nvSpPr>
          <p:cNvPr id="32" name="Shape 29"/>
          <p:cNvSpPr/>
          <p:nvPr/>
        </p:nvSpPr>
        <p:spPr>
          <a:xfrm>
            <a:off x="7064871" y="3016253"/>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0071E3"/>
          </a:solidFill>
          <a:ln/>
        </p:spPr>
      </p:sp>
      <p:sp>
        <p:nvSpPr>
          <p:cNvPr id="33" name="Text 30"/>
          <p:cNvSpPr/>
          <p:nvPr/>
        </p:nvSpPr>
        <p:spPr>
          <a:xfrm>
            <a:off x="7395865" y="2978153"/>
            <a:ext cx="3638550" cy="266700"/>
          </a:xfrm>
          <a:prstGeom prst="rect">
            <a:avLst/>
          </a:prstGeom>
          <a:noFill/>
          <a:ln/>
        </p:spPr>
        <p:txBody>
          <a:bodyPr wrap="square" lIns="0" tIns="0" rIns="0" bIns="0" rtlCol="0" anchor="ctr"/>
          <a:lstStyle/>
          <a:p>
            <a:pPr>
              <a:lnSpc>
                <a:spcPct val="130000"/>
              </a:lnSpc>
            </a:pPr>
            <a:r>
              <a:rPr lang="en-US" sz="1350" b="1" dirty="0">
                <a:solidFill>
                  <a:srgbClr val="F5F5F7"/>
                </a:solidFill>
                <a:latin typeface="Liter" pitchFamily="34" charset="0"/>
                <a:ea typeface="Liter" pitchFamily="34" charset="-122"/>
                <a:cs typeface="Liter" pitchFamily="34" charset="-120"/>
              </a:rPr>
              <a:t>Higher ROI on Promotions</a:t>
            </a:r>
            <a:endParaRPr lang="en-US" sz="1600" dirty="0"/>
          </a:p>
        </p:txBody>
      </p:sp>
      <p:sp>
        <p:nvSpPr>
          <p:cNvPr id="34" name="Text 31"/>
          <p:cNvSpPr/>
          <p:nvPr/>
        </p:nvSpPr>
        <p:spPr>
          <a:xfrm>
            <a:off x="7395865" y="3282953"/>
            <a:ext cx="362902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Delta model delivers 10-15% higher incremental profit</a:t>
            </a:r>
            <a:endParaRPr lang="en-US" sz="1600" dirty="0"/>
          </a:p>
        </p:txBody>
      </p:sp>
      <p:sp>
        <p:nvSpPr>
          <p:cNvPr id="35" name="Shape 32"/>
          <p:cNvSpPr/>
          <p:nvPr/>
        </p:nvSpPr>
        <p:spPr>
          <a:xfrm>
            <a:off x="7029152" y="3702053"/>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0071E3"/>
          </a:solidFill>
          <a:ln/>
        </p:spPr>
      </p:sp>
      <p:sp>
        <p:nvSpPr>
          <p:cNvPr id="36" name="Text 33"/>
          <p:cNvSpPr/>
          <p:nvPr/>
        </p:nvSpPr>
        <p:spPr>
          <a:xfrm>
            <a:off x="7395865" y="3663953"/>
            <a:ext cx="3390900" cy="266700"/>
          </a:xfrm>
          <a:prstGeom prst="rect">
            <a:avLst/>
          </a:prstGeom>
          <a:noFill/>
          <a:ln/>
        </p:spPr>
        <p:txBody>
          <a:bodyPr wrap="square" lIns="0" tIns="0" rIns="0" bIns="0" rtlCol="0" anchor="ctr"/>
          <a:lstStyle/>
          <a:p>
            <a:pPr>
              <a:lnSpc>
                <a:spcPct val="130000"/>
              </a:lnSpc>
            </a:pPr>
            <a:r>
              <a:rPr lang="en-US" sz="1350" b="1" dirty="0">
                <a:solidFill>
                  <a:srgbClr val="F5F5F7"/>
                </a:solidFill>
                <a:latin typeface="Liter" pitchFamily="34" charset="0"/>
                <a:ea typeface="Liter" pitchFamily="34" charset="-122"/>
                <a:cs typeface="Liter" pitchFamily="34" charset="-120"/>
              </a:rPr>
              <a:t>Defensible, Explainable Strategy</a:t>
            </a:r>
            <a:endParaRPr lang="en-US" sz="1600" dirty="0"/>
          </a:p>
        </p:txBody>
      </p:sp>
      <p:sp>
        <p:nvSpPr>
          <p:cNvPr id="37" name="Text 34"/>
          <p:cNvSpPr/>
          <p:nvPr/>
        </p:nvSpPr>
        <p:spPr>
          <a:xfrm>
            <a:off x="7395865" y="3968753"/>
            <a:ext cx="3381375"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Liter" pitchFamily="34" charset="0"/>
                <a:ea typeface="Liter" pitchFamily="34" charset="-122"/>
                <a:cs typeface="Liter" pitchFamily="34" charset="-120"/>
              </a:rPr>
              <a:t>Backed by rigorous analysis and validated models</a:t>
            </a:r>
            <a:endParaRPr lang="en-US" sz="1600" dirty="0"/>
          </a:p>
        </p:txBody>
      </p:sp>
      <p:sp>
        <p:nvSpPr>
          <p:cNvPr id="38" name="Shape 35"/>
          <p:cNvSpPr/>
          <p:nvPr/>
        </p:nvSpPr>
        <p:spPr>
          <a:xfrm>
            <a:off x="6770390" y="4724400"/>
            <a:ext cx="5038725" cy="1752600"/>
          </a:xfrm>
          <a:custGeom>
            <a:avLst/>
            <a:gdLst/>
            <a:ahLst/>
            <a:cxnLst/>
            <a:rect l="l" t="t" r="r" b="b"/>
            <a:pathLst>
              <a:path w="5038725" h="1752600">
                <a:moveTo>
                  <a:pt x="152406" y="0"/>
                </a:moveTo>
                <a:lnTo>
                  <a:pt x="4886319" y="0"/>
                </a:lnTo>
                <a:cubicBezTo>
                  <a:pt x="4970490" y="0"/>
                  <a:pt x="5038725" y="68235"/>
                  <a:pt x="5038725" y="152406"/>
                </a:cubicBezTo>
                <a:lnTo>
                  <a:pt x="5038725" y="1600194"/>
                </a:lnTo>
                <a:cubicBezTo>
                  <a:pt x="5038725" y="1684365"/>
                  <a:pt x="4970490" y="1752600"/>
                  <a:pt x="4886319" y="1752600"/>
                </a:cubicBezTo>
                <a:lnTo>
                  <a:pt x="152406" y="1752600"/>
                </a:lnTo>
                <a:cubicBezTo>
                  <a:pt x="68235" y="1752600"/>
                  <a:pt x="0" y="1684365"/>
                  <a:pt x="0" y="1600194"/>
                </a:cubicBezTo>
                <a:lnTo>
                  <a:pt x="0" y="152406"/>
                </a:lnTo>
                <a:cubicBezTo>
                  <a:pt x="0" y="68291"/>
                  <a:pt x="68291" y="0"/>
                  <a:pt x="152406" y="0"/>
                </a:cubicBezTo>
                <a:close/>
              </a:path>
            </a:pathLst>
          </a:custGeom>
          <a:gradFill flip="none" rotWithShape="1">
            <a:gsLst>
              <a:gs pos="0">
                <a:srgbClr val="0071E3"/>
              </a:gs>
              <a:gs pos="100000">
                <a:srgbClr val="0071E3">
                  <a:alpha val="80000"/>
                </a:srgbClr>
              </a:gs>
            </a:gsLst>
            <a:lin ang="0" scaled="1"/>
          </a:gradFill>
          <a:ln/>
        </p:spPr>
      </p:sp>
      <p:sp>
        <p:nvSpPr>
          <p:cNvPr id="39" name="Shape 36"/>
          <p:cNvSpPr/>
          <p:nvPr/>
        </p:nvSpPr>
        <p:spPr>
          <a:xfrm>
            <a:off x="7056140" y="497205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FFFFFF"/>
          </a:solidFill>
          <a:ln/>
        </p:spPr>
      </p:sp>
      <p:sp>
        <p:nvSpPr>
          <p:cNvPr id="40" name="Text 37"/>
          <p:cNvSpPr/>
          <p:nvPr/>
        </p:nvSpPr>
        <p:spPr>
          <a:xfrm>
            <a:off x="7437140" y="4953000"/>
            <a:ext cx="10572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Hedvig Letters Sans" pitchFamily="34" charset="0"/>
                <a:ea typeface="Hedvig Letters Sans" pitchFamily="34" charset="-122"/>
                <a:cs typeface="Hedvig Letters Sans" pitchFamily="34" charset="-120"/>
              </a:rPr>
              <a:t>Key Insight</a:t>
            </a:r>
            <a:endParaRPr lang="en-US" sz="1600" dirty="0"/>
          </a:p>
        </p:txBody>
      </p:sp>
      <p:sp>
        <p:nvSpPr>
          <p:cNvPr id="41" name="Text 38"/>
          <p:cNvSpPr/>
          <p:nvPr/>
        </p:nvSpPr>
        <p:spPr>
          <a:xfrm>
            <a:off x="6998990" y="5334000"/>
            <a:ext cx="4657725" cy="914400"/>
          </a:xfrm>
          <a:prstGeom prst="rect">
            <a:avLst/>
          </a:prstGeom>
          <a:noFill/>
          <a:ln/>
        </p:spPr>
        <p:txBody>
          <a:bodyPr wrap="square" lIns="0" tIns="0" rIns="0" bIns="0" rtlCol="0" anchor="ctr"/>
          <a:lstStyle/>
          <a:p>
            <a:pPr>
              <a:lnSpc>
                <a:spcPct val="130000"/>
              </a:lnSpc>
            </a:pPr>
            <a:r>
              <a:rPr lang="en-US" sz="1200">
                <a:solidFill>
                  <a:srgbClr val="FFFFFF">
                    <a:alpha val="90000"/>
                  </a:srgbClr>
                </a:solidFill>
                <a:latin typeface="Liter"/>
                <a:ea typeface="Liter" pitchFamily="34" charset="-122"/>
                <a:cs typeface="Liter" pitchFamily="34" charset="-120"/>
              </a:rPr>
              <a:t>Subscription conversion is predictable. By targeting users based on behavioral signals both current engagement and growth momentum, we can achieve profitable growth while minimizing wasted promotional spend.</a:t>
            </a:r>
            <a:endParaRPr lang="en-US" sz="1600">
              <a:latin typeface="Liter"/>
            </a:endParaRPr>
          </a:p>
        </p:txBody>
      </p:sp>
      <p:graphicFrame>
        <p:nvGraphicFramePr>
          <p:cNvPr id="43" name="Table 42">
            <a:extLst>
              <a:ext uri="{FF2B5EF4-FFF2-40B4-BE49-F238E27FC236}">
                <a16:creationId xmlns:a16="http://schemas.microsoft.com/office/drawing/2014/main" id="{0CF623FE-6710-41DA-F9D6-C014ED1C43E4}"/>
              </a:ext>
            </a:extLst>
          </p:cNvPr>
          <p:cNvGraphicFramePr>
            <a:graphicFrameLocks noGrp="1"/>
          </p:cNvGraphicFramePr>
          <p:nvPr>
            <p:extLst>
              <p:ext uri="{D42A27DB-BD31-4B8C-83A1-F6EECF244321}">
                <p14:modId xmlns:p14="http://schemas.microsoft.com/office/powerpoint/2010/main" val="2724770114"/>
              </p:ext>
            </p:extLst>
          </p:nvPr>
        </p:nvGraphicFramePr>
        <p:xfrm>
          <a:off x="419100" y="4597400"/>
          <a:ext cx="6112455" cy="2138792"/>
        </p:xfrm>
        <a:graphic>
          <a:graphicData uri="http://schemas.openxmlformats.org/drawingml/2006/table">
            <a:tbl>
              <a:tblPr firstRow="1" bandRow="1">
                <a:tableStyleId>{69012ECD-51FC-41F1-AA8D-1B2483CD663E}</a:tableStyleId>
              </a:tblPr>
              <a:tblGrid>
                <a:gridCol w="2037485">
                  <a:extLst>
                    <a:ext uri="{9D8B030D-6E8A-4147-A177-3AD203B41FA5}">
                      <a16:colId xmlns:a16="http://schemas.microsoft.com/office/drawing/2014/main" val="664430462"/>
                    </a:ext>
                  </a:extLst>
                </a:gridCol>
                <a:gridCol w="2037485">
                  <a:extLst>
                    <a:ext uri="{9D8B030D-6E8A-4147-A177-3AD203B41FA5}">
                      <a16:colId xmlns:a16="http://schemas.microsoft.com/office/drawing/2014/main" val="3875548891"/>
                    </a:ext>
                  </a:extLst>
                </a:gridCol>
                <a:gridCol w="2037485">
                  <a:extLst>
                    <a:ext uri="{9D8B030D-6E8A-4147-A177-3AD203B41FA5}">
                      <a16:colId xmlns:a16="http://schemas.microsoft.com/office/drawing/2014/main" val="985969419"/>
                    </a:ext>
                  </a:extLst>
                </a:gridCol>
              </a:tblGrid>
              <a:tr h="336096">
                <a:tc>
                  <a:txBody>
                    <a:bodyPr/>
                    <a:lstStyle/>
                    <a:p>
                      <a:pPr algn="ctr" rtl="0" fontAlgn="t">
                        <a:spcAft>
                          <a:spcPts val="2400"/>
                        </a:spcAft>
                        <a:buNone/>
                      </a:pPr>
                      <a:r>
                        <a:rPr lang="en-US" sz="1200">
                          <a:solidFill>
                            <a:srgbClr val="FFFFFF"/>
                          </a:solidFill>
                          <a:effectLst/>
                        </a:rPr>
                        <a:t>Group</a:t>
                      </a:r>
                    </a:p>
                  </a:txBody>
                  <a:tcPr marL="114300" marR="114300" marT="76200" marB="76200"/>
                </a:tc>
                <a:tc>
                  <a:txBody>
                    <a:bodyPr/>
                    <a:lstStyle/>
                    <a:p>
                      <a:pPr algn="ctr" rtl="0" fontAlgn="t">
                        <a:spcAft>
                          <a:spcPts val="2400"/>
                        </a:spcAft>
                        <a:buNone/>
                      </a:pPr>
                      <a:r>
                        <a:rPr lang="en-US" sz="1200">
                          <a:solidFill>
                            <a:srgbClr val="FFFFFF"/>
                          </a:solidFill>
                          <a:effectLst/>
                        </a:rPr>
                        <a:t>Label</a:t>
                      </a:r>
                    </a:p>
                  </a:txBody>
                  <a:tcPr marL="114300" marR="114300" marT="76200" marB="76200"/>
                </a:tc>
                <a:tc>
                  <a:txBody>
                    <a:bodyPr/>
                    <a:lstStyle/>
                    <a:p>
                      <a:pPr algn="ctr" rtl="0" fontAlgn="t">
                        <a:spcAft>
                          <a:spcPts val="2400"/>
                        </a:spcAft>
                        <a:buNone/>
                      </a:pPr>
                      <a:r>
                        <a:rPr lang="en-US" sz="1200">
                          <a:solidFill>
                            <a:srgbClr val="FFFFFF"/>
                          </a:solidFill>
                          <a:effectLst/>
                        </a:rPr>
                        <a:t>Strategy</a:t>
                      </a:r>
                    </a:p>
                  </a:txBody>
                  <a:tcPr marL="114300" marR="114300" marT="76200" marB="76200"/>
                </a:tc>
                <a:extLst>
                  <a:ext uri="{0D108BD9-81ED-4DB2-BD59-A6C34878D82A}">
                    <a16:rowId xmlns:a16="http://schemas.microsoft.com/office/drawing/2014/main" val="1064786461"/>
                  </a:ext>
                </a:extLst>
              </a:tr>
              <a:tr h="549975">
                <a:tc>
                  <a:txBody>
                    <a:bodyPr/>
                    <a:lstStyle/>
                    <a:p>
                      <a:pPr algn="ctr" rtl="0" fontAlgn="t">
                        <a:spcAft>
                          <a:spcPts val="2400"/>
                        </a:spcAft>
                        <a:buNone/>
                      </a:pPr>
                      <a:r>
                        <a:rPr lang="en-US" sz="1200">
                          <a:solidFill>
                            <a:srgbClr val="FFFFFF"/>
                          </a:solidFill>
                          <a:effectLst/>
                        </a:rPr>
                        <a:t>Decile 1–5</a:t>
                      </a:r>
                    </a:p>
                  </a:txBody>
                  <a:tcPr marL="114300" marR="114300" marT="76200" marB="76200"/>
                </a:tc>
                <a:tc>
                  <a:txBody>
                    <a:bodyPr/>
                    <a:lstStyle/>
                    <a:p>
                      <a:pPr algn="ctr" rtl="0" fontAlgn="t">
                        <a:spcAft>
                          <a:spcPts val="2400"/>
                        </a:spcAft>
                        <a:buNone/>
                      </a:pPr>
                      <a:r>
                        <a:rPr lang="en-US" sz="1200">
                          <a:solidFill>
                            <a:srgbClr val="FFFFFF"/>
                          </a:solidFill>
                          <a:effectLst/>
                        </a:rPr>
                        <a:t>The "Cold" Group</a:t>
                      </a:r>
                    </a:p>
                  </a:txBody>
                  <a:tcPr marL="114300" marR="114300" marT="76200" marB="76200"/>
                </a:tc>
                <a:tc>
                  <a:txBody>
                    <a:bodyPr/>
                    <a:lstStyle/>
                    <a:p>
                      <a:pPr algn="ctr" rtl="0" fontAlgn="t">
                        <a:spcAft>
                          <a:spcPts val="2400"/>
                        </a:spcAft>
                        <a:buNone/>
                      </a:pPr>
                      <a:r>
                        <a:rPr lang="en-US" sz="1200">
                          <a:solidFill>
                            <a:srgbClr val="FFFFFF"/>
                          </a:solidFill>
                          <a:effectLst/>
                        </a:rPr>
                        <a:t>Too hard to convert; they don't use the app enough.</a:t>
                      </a:r>
                    </a:p>
                  </a:txBody>
                  <a:tcPr marL="114300" marR="114300" marT="76200" marB="76200"/>
                </a:tc>
                <a:extLst>
                  <a:ext uri="{0D108BD9-81ED-4DB2-BD59-A6C34878D82A}">
                    <a16:rowId xmlns:a16="http://schemas.microsoft.com/office/drawing/2014/main" val="2341319034"/>
                  </a:ext>
                </a:extLst>
              </a:tr>
              <a:tr h="702746">
                <a:tc>
                  <a:txBody>
                    <a:bodyPr/>
                    <a:lstStyle/>
                    <a:p>
                      <a:pPr algn="ctr" rtl="0" fontAlgn="t">
                        <a:spcAft>
                          <a:spcPts val="2400"/>
                        </a:spcAft>
                        <a:buNone/>
                      </a:pPr>
                      <a:r>
                        <a:rPr lang="en-US" sz="1200">
                          <a:solidFill>
                            <a:srgbClr val="FFFFFF"/>
                          </a:solidFill>
                          <a:effectLst/>
                        </a:rPr>
                        <a:t>Decile 7–9</a:t>
                      </a:r>
                    </a:p>
                  </a:txBody>
                  <a:tcPr marL="114300" marR="114300" marT="76200" marB="76200"/>
                </a:tc>
                <a:tc>
                  <a:txBody>
                    <a:bodyPr/>
                    <a:lstStyle/>
                    <a:p>
                      <a:pPr algn="ctr" rtl="0" fontAlgn="t">
                        <a:spcAft>
                          <a:spcPts val="2400"/>
                        </a:spcAft>
                        <a:buNone/>
                      </a:pPr>
                      <a:r>
                        <a:rPr lang="en-US" sz="1200">
                          <a:solidFill>
                            <a:srgbClr val="FFFFFF"/>
                          </a:solidFill>
                          <a:effectLst/>
                        </a:rPr>
                        <a:t>The "Swing" Group</a:t>
                      </a:r>
                    </a:p>
                  </a:txBody>
                  <a:tcPr marL="114300" marR="114300" marT="76200" marB="76200"/>
                </a:tc>
                <a:tc>
                  <a:txBody>
                    <a:bodyPr/>
                    <a:lstStyle/>
                    <a:p>
                      <a:pPr algn="ctr" rtl="0" fontAlgn="t">
                        <a:spcAft>
                          <a:spcPts val="2400"/>
                        </a:spcAft>
                        <a:buNone/>
                      </a:pPr>
                      <a:r>
                        <a:rPr lang="en-US" sz="1200">
                          <a:solidFill>
                            <a:srgbClr val="FFFFFF"/>
                          </a:solidFill>
                          <a:effectLst/>
                        </a:rPr>
                        <a:t>Best ROI. High usage makes them likely to say 'Yes' to an offer.</a:t>
                      </a:r>
                    </a:p>
                  </a:txBody>
                  <a:tcPr marL="114300" marR="114300" marT="76200" marB="76200"/>
                </a:tc>
                <a:extLst>
                  <a:ext uri="{0D108BD9-81ED-4DB2-BD59-A6C34878D82A}">
                    <a16:rowId xmlns:a16="http://schemas.microsoft.com/office/drawing/2014/main" val="2988321780"/>
                  </a:ext>
                </a:extLst>
              </a:tr>
              <a:tr h="549975">
                <a:tc>
                  <a:txBody>
                    <a:bodyPr/>
                    <a:lstStyle/>
                    <a:p>
                      <a:pPr algn="ctr" rtl="0" fontAlgn="t">
                        <a:spcAft>
                          <a:spcPts val="2400"/>
                        </a:spcAft>
                        <a:buNone/>
                      </a:pPr>
                      <a:r>
                        <a:rPr lang="en-US" sz="1200">
                          <a:solidFill>
                            <a:srgbClr val="FFFFFF"/>
                          </a:solidFill>
                          <a:effectLst/>
                        </a:rPr>
                        <a:t>Decile 10</a:t>
                      </a:r>
                    </a:p>
                  </a:txBody>
                  <a:tcPr marL="114300" marR="114300" marT="76200" marB="76200"/>
                </a:tc>
                <a:tc>
                  <a:txBody>
                    <a:bodyPr/>
                    <a:lstStyle/>
                    <a:p>
                      <a:pPr algn="ctr" rtl="0" fontAlgn="t">
                        <a:spcAft>
                          <a:spcPts val="2400"/>
                        </a:spcAft>
                        <a:buNone/>
                      </a:pPr>
                      <a:r>
                        <a:rPr lang="en-US" sz="1200">
                          <a:solidFill>
                            <a:srgbClr val="FFFFFF"/>
                          </a:solidFill>
                          <a:effectLst/>
                        </a:rPr>
                        <a:t>The "Sold" Group</a:t>
                      </a:r>
                    </a:p>
                  </a:txBody>
                  <a:tcPr marL="114300" marR="114300" marT="76200" marB="76200"/>
                </a:tc>
                <a:tc>
                  <a:txBody>
                    <a:bodyPr/>
                    <a:lstStyle/>
                    <a:p>
                      <a:pPr algn="ctr" rtl="0" fontAlgn="t">
                        <a:spcAft>
                          <a:spcPts val="2400"/>
                        </a:spcAft>
                        <a:buNone/>
                      </a:pPr>
                      <a:r>
                        <a:rPr lang="en-US" sz="1200">
                          <a:solidFill>
                            <a:srgbClr val="FFFFFF"/>
                          </a:solidFill>
                          <a:effectLst/>
                        </a:rPr>
                        <a:t>Don't waste money; they are already buying at full price.</a:t>
                      </a:r>
                    </a:p>
                  </a:txBody>
                  <a:tcPr marL="114300" marR="114300" marT="76200" marB="76200"/>
                </a:tc>
                <a:extLst>
                  <a:ext uri="{0D108BD9-81ED-4DB2-BD59-A6C34878D82A}">
                    <a16:rowId xmlns:a16="http://schemas.microsoft.com/office/drawing/2014/main" val="2736100231"/>
                  </a:ext>
                </a:extLst>
              </a:tr>
            </a:tbl>
          </a:graphicData>
        </a:graphic>
      </p:graphicFrame>
      <p:pic>
        <p:nvPicPr>
          <p:cNvPr id="44" name="Picture 43" descr="A logo on a glass wall&#10;&#10;AI-generated content may be incorrect.">
            <a:extLst>
              <a:ext uri="{FF2B5EF4-FFF2-40B4-BE49-F238E27FC236}">
                <a16:creationId xmlns:a16="http://schemas.microsoft.com/office/drawing/2014/main" id="{A588BC99-54EF-EDFD-6638-1924AFFE202B}"/>
              </a:ext>
            </a:extLst>
          </p:cNvPr>
          <p:cNvPicPr>
            <a:picLocks noChangeAspect="1"/>
          </p:cNvPicPr>
          <p:nvPr/>
        </p:nvPicPr>
        <p:blipFill>
          <a:blip r:embed="rId4"/>
          <a:stretch>
            <a:fillRect/>
          </a:stretch>
        </p:blipFill>
        <p:spPr>
          <a:xfrm>
            <a:off x="11070936" y="-1"/>
            <a:ext cx="1121065" cy="107384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0532F6-F751-F387-2EA8-4E36329DF7F8}"/>
              </a:ext>
            </a:extLst>
          </p:cNvPr>
          <p:cNvSpPr txBox="1"/>
          <p:nvPr/>
        </p:nvSpPr>
        <p:spPr>
          <a:xfrm>
            <a:off x="2140806" y="2664385"/>
            <a:ext cx="825766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latin typeface="Hedvig Letters Sans"/>
                <a:ea typeface="Calibri"/>
                <a:cs typeface="Calibri"/>
              </a:rPr>
              <a:t>APPENDIX</a:t>
            </a:r>
            <a:endParaRPr lang="en-US" sz="4400">
              <a:latin typeface="Hedvig Letters Sans"/>
            </a:endParaRPr>
          </a:p>
        </p:txBody>
      </p:sp>
    </p:spTree>
    <p:extLst>
      <p:ext uri="{BB962C8B-B14F-4D97-AF65-F5344CB8AC3E}">
        <p14:creationId xmlns:p14="http://schemas.microsoft.com/office/powerpoint/2010/main" val="2709854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6D008B03-7C80-1FD5-411E-A3A6684C6B80}"/>
              </a:ext>
            </a:extLst>
          </p:cNvPr>
          <p:cNvPicPr>
            <a:picLocks noChangeAspect="1"/>
          </p:cNvPicPr>
          <p:nvPr/>
        </p:nvPicPr>
        <p:blipFill>
          <a:blip r:embed="rId3"/>
          <a:srcRect l="-97" r="-140" b="5756"/>
          <a:stretch>
            <a:fillRect/>
          </a:stretch>
        </p:blipFill>
        <p:spPr>
          <a:xfrm>
            <a:off x="9671" y="12793"/>
            <a:ext cx="12181676" cy="6504349"/>
          </a:xfrm>
          <a:prstGeom prst="rect">
            <a:avLst/>
          </a:prstGeom>
        </p:spPr>
      </p:pic>
    </p:spTree>
    <p:extLst>
      <p:ext uri="{BB962C8B-B14F-4D97-AF65-F5344CB8AC3E}">
        <p14:creationId xmlns:p14="http://schemas.microsoft.com/office/powerpoint/2010/main" val="3496178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and blue graph&#10;&#10;AI-generated content may be incorrect.">
            <a:extLst>
              <a:ext uri="{FF2B5EF4-FFF2-40B4-BE49-F238E27FC236}">
                <a16:creationId xmlns:a16="http://schemas.microsoft.com/office/drawing/2014/main" id="{3219E50B-DA8C-EE37-783E-245A1B0B1F29}"/>
              </a:ext>
            </a:extLst>
          </p:cNvPr>
          <p:cNvPicPr>
            <a:picLocks noChangeAspect="1"/>
          </p:cNvPicPr>
          <p:nvPr/>
        </p:nvPicPr>
        <p:blipFill>
          <a:blip r:embed="rId2"/>
          <a:stretch>
            <a:fillRect/>
          </a:stretch>
        </p:blipFill>
        <p:spPr>
          <a:xfrm>
            <a:off x="405208" y="1610663"/>
            <a:ext cx="5689146" cy="3427638"/>
          </a:xfrm>
          <a:prstGeom prst="rect">
            <a:avLst/>
          </a:prstGeom>
        </p:spPr>
      </p:pic>
      <p:sp>
        <p:nvSpPr>
          <p:cNvPr id="4" name="TextBox 3">
            <a:extLst>
              <a:ext uri="{FF2B5EF4-FFF2-40B4-BE49-F238E27FC236}">
                <a16:creationId xmlns:a16="http://schemas.microsoft.com/office/drawing/2014/main" id="{E1AF9A69-76D4-BF6F-903C-6D0B43CB2350}"/>
              </a:ext>
            </a:extLst>
          </p:cNvPr>
          <p:cNvSpPr txBox="1"/>
          <p:nvPr/>
        </p:nvSpPr>
        <p:spPr>
          <a:xfrm>
            <a:off x="6096000" y="303696"/>
            <a:ext cx="6096000"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 Slide 4: Visualizing joint effects of engagement and social connectivity</a:t>
            </a:r>
            <a:endParaRPr lang="en-US" sz="1400">
              <a:ea typeface="Calibri"/>
              <a:cs typeface="Calibri"/>
            </a:endParaRPr>
          </a:p>
          <a:p>
            <a:endParaRPr lang="en-US" sz="1400">
              <a:ea typeface="Calibri"/>
              <a:cs typeface="Calibri"/>
            </a:endParaRPr>
          </a:p>
          <a:p>
            <a:r>
              <a:rPr lang="en-US" sz="1400">
                <a:ea typeface="+mn-lt"/>
                <a:cs typeface="+mn-lt"/>
              </a:rPr>
              <a:t>par(</a:t>
            </a:r>
            <a:r>
              <a:rPr lang="en-US" sz="1400" err="1">
                <a:ea typeface="+mn-lt"/>
                <a:cs typeface="+mn-lt"/>
              </a:rPr>
              <a:t>mfrow</a:t>
            </a:r>
            <a:r>
              <a:rPr lang="en-US" sz="1400">
                <a:ea typeface="+mn-lt"/>
                <a:cs typeface="+mn-lt"/>
              </a:rPr>
              <a:t> = c(1, 1))</a:t>
            </a:r>
          </a:p>
          <a:p>
            <a:endParaRPr lang="en-US" sz="1400">
              <a:ea typeface="Calibri"/>
              <a:cs typeface="Calibri"/>
            </a:endParaRPr>
          </a:p>
          <a:p>
            <a:r>
              <a:rPr lang="en-US" sz="1400">
                <a:ea typeface="+mn-lt"/>
                <a:cs typeface="+mn-lt"/>
              </a:rPr>
              <a:t># Log-odds of adoption</a:t>
            </a:r>
            <a:endParaRPr lang="en-US" sz="1400">
              <a:ea typeface="Calibri"/>
              <a:cs typeface="Calibri"/>
            </a:endParaRPr>
          </a:p>
          <a:p>
            <a:r>
              <a:rPr lang="en-US" sz="1400">
                <a:ea typeface="+mn-lt"/>
                <a:cs typeface="+mn-lt"/>
              </a:rPr>
              <a:t>visreg2d(</a:t>
            </a:r>
          </a:p>
          <a:p>
            <a:r>
              <a:rPr lang="en-US" sz="1400">
                <a:ea typeface="+mn-lt"/>
                <a:cs typeface="+mn-lt"/>
              </a:rPr>
              <a:t>  </a:t>
            </a:r>
            <a:r>
              <a:rPr lang="en-US" sz="1400" err="1">
                <a:ea typeface="+mn-lt"/>
                <a:cs typeface="+mn-lt"/>
              </a:rPr>
              <a:t>lrmdl</a:t>
            </a:r>
            <a:r>
              <a:rPr lang="en-US" sz="1400">
                <a:ea typeface="+mn-lt"/>
                <a:cs typeface="+mn-lt"/>
              </a:rPr>
              <a:t>,</a:t>
            </a:r>
            <a:endParaRPr lang="en-US" sz="1400">
              <a:ea typeface="Calibri"/>
              <a:cs typeface="Calibri"/>
            </a:endParaRPr>
          </a:p>
          <a:p>
            <a:r>
              <a:rPr lang="en-US" sz="1400">
                <a:ea typeface="+mn-lt"/>
                <a:cs typeface="+mn-lt"/>
              </a:rPr>
              <a:t>  "playlists",</a:t>
            </a:r>
            <a:endParaRPr lang="en-US" sz="1400">
              <a:ea typeface="Calibri"/>
              <a:cs typeface="Calibri"/>
            </a:endParaRPr>
          </a:p>
          <a:p>
            <a:r>
              <a:rPr lang="en-US" sz="1400">
                <a:ea typeface="+mn-lt"/>
                <a:cs typeface="+mn-lt"/>
              </a:rPr>
              <a:t>  "</a:t>
            </a:r>
            <a:r>
              <a:rPr lang="en-US" sz="1400" err="1">
                <a:ea typeface="+mn-lt"/>
                <a:cs typeface="+mn-lt"/>
              </a:rPr>
              <a:t>subscriber_friend_cnt</a:t>
            </a:r>
            <a:r>
              <a:rPr lang="en-US" sz="1400">
                <a:ea typeface="+mn-lt"/>
                <a:cs typeface="+mn-lt"/>
              </a:rPr>
              <a:t>",</a:t>
            </a:r>
          </a:p>
          <a:p>
            <a:r>
              <a:rPr lang="en-US" sz="1400">
                <a:ea typeface="+mn-lt"/>
                <a:cs typeface="+mn-lt"/>
              </a:rPr>
              <a:t>  data = </a:t>
            </a:r>
            <a:r>
              <a:rPr lang="en-US" sz="1400" err="1">
                <a:ea typeface="+mn-lt"/>
                <a:cs typeface="+mn-lt"/>
              </a:rPr>
              <a:t>lrmdl$data</a:t>
            </a:r>
            <a:r>
              <a:rPr lang="en-US" sz="1400">
                <a:ea typeface="+mn-lt"/>
                <a:cs typeface="+mn-lt"/>
              </a:rPr>
              <a:t>,</a:t>
            </a:r>
          </a:p>
          <a:p>
            <a:r>
              <a:rPr lang="en-US" sz="1400">
                <a:ea typeface="+mn-lt"/>
                <a:cs typeface="+mn-lt"/>
              </a:rPr>
              <a:t>  </a:t>
            </a:r>
            <a:r>
              <a:rPr lang="en-US" sz="1400" err="1">
                <a:ea typeface="+mn-lt"/>
                <a:cs typeface="+mn-lt"/>
              </a:rPr>
              <a:t>plot.type</a:t>
            </a:r>
            <a:r>
              <a:rPr lang="en-US" sz="1400">
                <a:ea typeface="+mn-lt"/>
                <a:cs typeface="+mn-lt"/>
              </a:rPr>
              <a:t> = "image",</a:t>
            </a:r>
          </a:p>
          <a:p>
            <a:r>
              <a:rPr lang="en-US" sz="1400">
                <a:ea typeface="+mn-lt"/>
                <a:cs typeface="+mn-lt"/>
              </a:rPr>
              <a:t>  main = "Log-Odds of Adoption",</a:t>
            </a:r>
            <a:endParaRPr lang="en-US" sz="1400">
              <a:ea typeface="Calibri"/>
              <a:cs typeface="Calibri"/>
            </a:endParaRPr>
          </a:p>
          <a:p>
            <a:r>
              <a:rPr lang="en-US" sz="1400">
                <a:ea typeface="+mn-lt"/>
                <a:cs typeface="+mn-lt"/>
              </a:rPr>
              <a:t>  </a:t>
            </a:r>
            <a:r>
              <a:rPr lang="en-US" sz="1400" err="1">
                <a:ea typeface="+mn-lt"/>
                <a:cs typeface="+mn-lt"/>
              </a:rPr>
              <a:t>xlim</a:t>
            </a:r>
            <a:r>
              <a:rPr lang="en-US" sz="1400">
                <a:ea typeface="+mn-lt"/>
                <a:cs typeface="+mn-lt"/>
              </a:rPr>
              <a:t> = c(0, 100),</a:t>
            </a:r>
          </a:p>
          <a:p>
            <a:r>
              <a:rPr lang="en-US" sz="1400">
                <a:ea typeface="+mn-lt"/>
                <a:cs typeface="+mn-lt"/>
              </a:rPr>
              <a:t>  </a:t>
            </a:r>
            <a:r>
              <a:rPr lang="en-US" sz="1400" err="1">
                <a:ea typeface="+mn-lt"/>
                <a:cs typeface="+mn-lt"/>
              </a:rPr>
              <a:t>ylim</a:t>
            </a:r>
            <a:r>
              <a:rPr lang="en-US" sz="1400">
                <a:ea typeface="+mn-lt"/>
                <a:cs typeface="+mn-lt"/>
              </a:rPr>
              <a:t> = c(0, 100)</a:t>
            </a:r>
            <a:endParaRPr lang="en-US" sz="1400">
              <a:ea typeface="Calibri"/>
              <a:cs typeface="Calibri"/>
            </a:endParaRPr>
          </a:p>
          <a:p>
            <a:r>
              <a:rPr lang="en-US" sz="1400">
                <a:ea typeface="+mn-lt"/>
                <a:cs typeface="+mn-lt"/>
              </a:rPr>
              <a:t>)</a:t>
            </a:r>
            <a:endParaRPr lang="en-US" sz="1400">
              <a:ea typeface="Calibri"/>
              <a:cs typeface="Calibri"/>
            </a:endParaRPr>
          </a:p>
          <a:p>
            <a:endParaRPr lang="en-US" sz="1400">
              <a:ea typeface="Calibri"/>
              <a:cs typeface="Calibri"/>
            </a:endParaRPr>
          </a:p>
          <a:p>
            <a:r>
              <a:rPr lang="en-US" sz="1400">
                <a:ea typeface="+mn-lt"/>
                <a:cs typeface="+mn-lt"/>
              </a:rPr>
              <a:t># Predicted probability of adoption</a:t>
            </a:r>
            <a:endParaRPr lang="en-US" sz="1400">
              <a:ea typeface="Calibri"/>
              <a:cs typeface="Calibri"/>
            </a:endParaRPr>
          </a:p>
          <a:p>
            <a:r>
              <a:rPr lang="en-US" sz="1400">
                <a:ea typeface="+mn-lt"/>
                <a:cs typeface="+mn-lt"/>
              </a:rPr>
              <a:t>visreg2d(</a:t>
            </a:r>
          </a:p>
          <a:p>
            <a:r>
              <a:rPr lang="en-US" sz="1400">
                <a:ea typeface="+mn-lt"/>
                <a:cs typeface="+mn-lt"/>
              </a:rPr>
              <a:t>  </a:t>
            </a:r>
            <a:r>
              <a:rPr lang="en-US" sz="1400" err="1">
                <a:ea typeface="+mn-lt"/>
                <a:cs typeface="+mn-lt"/>
              </a:rPr>
              <a:t>lrmdl</a:t>
            </a:r>
            <a:r>
              <a:rPr lang="en-US" sz="1400">
                <a:ea typeface="+mn-lt"/>
                <a:cs typeface="+mn-lt"/>
              </a:rPr>
              <a:t>,</a:t>
            </a:r>
            <a:endParaRPr lang="en-US" sz="1400">
              <a:ea typeface="Calibri"/>
              <a:cs typeface="Calibri"/>
            </a:endParaRPr>
          </a:p>
          <a:p>
            <a:r>
              <a:rPr lang="en-US" sz="1400">
                <a:ea typeface="+mn-lt"/>
                <a:cs typeface="+mn-lt"/>
              </a:rPr>
              <a:t>  "playlists",</a:t>
            </a:r>
            <a:endParaRPr lang="en-US" sz="1400">
              <a:ea typeface="Calibri"/>
              <a:cs typeface="Calibri"/>
            </a:endParaRPr>
          </a:p>
          <a:p>
            <a:r>
              <a:rPr lang="en-US" sz="1400">
                <a:ea typeface="+mn-lt"/>
                <a:cs typeface="+mn-lt"/>
              </a:rPr>
              <a:t>  "</a:t>
            </a:r>
            <a:r>
              <a:rPr lang="en-US" sz="1400" err="1">
                <a:ea typeface="+mn-lt"/>
                <a:cs typeface="+mn-lt"/>
              </a:rPr>
              <a:t>subscriber_friend_cnt</a:t>
            </a:r>
            <a:r>
              <a:rPr lang="en-US" sz="1400">
                <a:ea typeface="+mn-lt"/>
                <a:cs typeface="+mn-lt"/>
              </a:rPr>
              <a:t>",</a:t>
            </a:r>
          </a:p>
          <a:p>
            <a:r>
              <a:rPr lang="en-US" sz="1400">
                <a:ea typeface="+mn-lt"/>
                <a:cs typeface="+mn-lt"/>
              </a:rPr>
              <a:t>  data = </a:t>
            </a:r>
            <a:r>
              <a:rPr lang="en-US" sz="1400" err="1">
                <a:ea typeface="+mn-lt"/>
                <a:cs typeface="+mn-lt"/>
              </a:rPr>
              <a:t>lrmdl$data</a:t>
            </a:r>
            <a:r>
              <a:rPr lang="en-US" sz="1400">
                <a:ea typeface="+mn-lt"/>
                <a:cs typeface="+mn-lt"/>
              </a:rPr>
              <a:t>,</a:t>
            </a:r>
          </a:p>
          <a:p>
            <a:r>
              <a:rPr lang="en-US" sz="1400">
                <a:ea typeface="+mn-lt"/>
                <a:cs typeface="+mn-lt"/>
              </a:rPr>
              <a:t>  scale = "response",</a:t>
            </a:r>
          </a:p>
          <a:p>
            <a:r>
              <a:rPr lang="en-US" sz="1400">
                <a:ea typeface="+mn-lt"/>
                <a:cs typeface="+mn-lt"/>
              </a:rPr>
              <a:t>  </a:t>
            </a:r>
            <a:r>
              <a:rPr lang="en-US" sz="1400" err="1">
                <a:ea typeface="+mn-lt"/>
                <a:cs typeface="+mn-lt"/>
              </a:rPr>
              <a:t>plot.type</a:t>
            </a:r>
            <a:r>
              <a:rPr lang="en-US" sz="1400">
                <a:ea typeface="+mn-lt"/>
                <a:cs typeface="+mn-lt"/>
              </a:rPr>
              <a:t> = "image",</a:t>
            </a:r>
          </a:p>
          <a:p>
            <a:r>
              <a:rPr lang="en-US" sz="1400">
                <a:ea typeface="+mn-lt"/>
                <a:cs typeface="+mn-lt"/>
              </a:rPr>
              <a:t>  main = "Predicted Probability of Adoption (</a:t>
            </a:r>
            <a:r>
              <a:rPr lang="en-US" sz="1400" err="1">
                <a:ea typeface="+mn-lt"/>
                <a:cs typeface="+mn-lt"/>
              </a:rPr>
              <a:t>Pr</a:t>
            </a:r>
            <a:r>
              <a:rPr lang="en-US" sz="1400">
                <a:ea typeface="+mn-lt"/>
                <a:cs typeface="+mn-lt"/>
              </a:rPr>
              <a:t>(Adopt))",</a:t>
            </a:r>
            <a:endParaRPr lang="en-US" sz="1400">
              <a:ea typeface="Calibri"/>
              <a:cs typeface="Calibri"/>
            </a:endParaRPr>
          </a:p>
          <a:p>
            <a:r>
              <a:rPr lang="en-US" sz="1400">
                <a:ea typeface="+mn-lt"/>
                <a:cs typeface="+mn-lt"/>
              </a:rPr>
              <a:t>  </a:t>
            </a:r>
            <a:r>
              <a:rPr lang="en-US" sz="1400" err="1">
                <a:ea typeface="+mn-lt"/>
                <a:cs typeface="+mn-lt"/>
              </a:rPr>
              <a:t>xlim</a:t>
            </a:r>
            <a:r>
              <a:rPr lang="en-US" sz="1400">
                <a:ea typeface="+mn-lt"/>
                <a:cs typeface="+mn-lt"/>
              </a:rPr>
              <a:t> = c(0, 100),</a:t>
            </a:r>
          </a:p>
          <a:p>
            <a:r>
              <a:rPr lang="en-US" sz="1400">
                <a:ea typeface="+mn-lt"/>
                <a:cs typeface="+mn-lt"/>
              </a:rPr>
              <a:t>  </a:t>
            </a:r>
            <a:r>
              <a:rPr lang="en-US" sz="1400" err="1">
                <a:ea typeface="+mn-lt"/>
                <a:cs typeface="+mn-lt"/>
              </a:rPr>
              <a:t>ylim</a:t>
            </a:r>
            <a:r>
              <a:rPr lang="en-US" sz="1400">
                <a:ea typeface="+mn-lt"/>
                <a:cs typeface="+mn-lt"/>
              </a:rPr>
              <a:t> = c(0, 100)</a:t>
            </a:r>
            <a:endParaRPr lang="en-US" sz="1400">
              <a:ea typeface="Calibri"/>
              <a:cs typeface="Calibri"/>
            </a:endParaRPr>
          </a:p>
          <a:p>
            <a:r>
              <a:rPr lang="en-US" sz="1400">
                <a:ea typeface="+mn-lt"/>
                <a:cs typeface="+mn-lt"/>
              </a:rPr>
              <a:t>)</a:t>
            </a:r>
            <a:endParaRPr lang="en-US" sz="1400">
              <a:ea typeface="Calibri"/>
              <a:cs typeface="Calibri"/>
            </a:endParaRPr>
          </a:p>
          <a:p>
            <a:endParaRPr lang="en-US" sz="1400">
              <a:ea typeface="Calibri"/>
              <a:cs typeface="Calibri"/>
            </a:endParaRPr>
          </a:p>
          <a:p>
            <a:pPr algn="ctr"/>
            <a:endParaRPr lang="en-US" sz="1400">
              <a:ea typeface="Calibri"/>
              <a:cs typeface="Calibri"/>
            </a:endParaRPr>
          </a:p>
        </p:txBody>
      </p:sp>
    </p:spTree>
    <p:extLst>
      <p:ext uri="{BB962C8B-B14F-4D97-AF65-F5344CB8AC3E}">
        <p14:creationId xmlns:p14="http://schemas.microsoft.com/office/powerpoint/2010/main" val="2018705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CD9B679-5CD6-C653-9DD0-3C945DAF7ACE}"/>
              </a:ext>
            </a:extLst>
          </p:cNvPr>
          <p:cNvGraphicFramePr>
            <a:graphicFrameLocks noGrp="1"/>
          </p:cNvGraphicFramePr>
          <p:nvPr>
            <p:extLst>
              <p:ext uri="{D42A27DB-BD31-4B8C-83A1-F6EECF244321}">
                <p14:modId xmlns:p14="http://schemas.microsoft.com/office/powerpoint/2010/main" val="1542504966"/>
              </p:ext>
            </p:extLst>
          </p:nvPr>
        </p:nvGraphicFramePr>
        <p:xfrm>
          <a:off x="183322" y="2271183"/>
          <a:ext cx="6221898" cy="2632432"/>
        </p:xfrm>
        <a:graphic>
          <a:graphicData uri="http://schemas.openxmlformats.org/drawingml/2006/table">
            <a:tbl>
              <a:tblPr firstRow="1" bandRow="1">
                <a:tableStyleId>{5C22544A-7EE6-4342-B048-85BDC9FD1C3A}</a:tableStyleId>
              </a:tblPr>
              <a:tblGrid>
                <a:gridCol w="921825">
                  <a:extLst>
                    <a:ext uri="{9D8B030D-6E8A-4147-A177-3AD203B41FA5}">
                      <a16:colId xmlns:a16="http://schemas.microsoft.com/office/drawing/2014/main" val="2540937422"/>
                    </a:ext>
                  </a:extLst>
                </a:gridCol>
                <a:gridCol w="1183037">
                  <a:extLst>
                    <a:ext uri="{9D8B030D-6E8A-4147-A177-3AD203B41FA5}">
                      <a16:colId xmlns:a16="http://schemas.microsoft.com/office/drawing/2014/main" val="3431924912"/>
                    </a:ext>
                  </a:extLst>
                </a:gridCol>
                <a:gridCol w="713277">
                  <a:extLst>
                    <a:ext uri="{9D8B030D-6E8A-4147-A177-3AD203B41FA5}">
                      <a16:colId xmlns:a16="http://schemas.microsoft.com/office/drawing/2014/main" val="2785464035"/>
                    </a:ext>
                  </a:extLst>
                </a:gridCol>
                <a:gridCol w="720650">
                  <a:extLst>
                    <a:ext uri="{9D8B030D-6E8A-4147-A177-3AD203B41FA5}">
                      <a16:colId xmlns:a16="http://schemas.microsoft.com/office/drawing/2014/main" val="2238431638"/>
                    </a:ext>
                  </a:extLst>
                </a:gridCol>
                <a:gridCol w="969223">
                  <a:extLst>
                    <a:ext uri="{9D8B030D-6E8A-4147-A177-3AD203B41FA5}">
                      <a16:colId xmlns:a16="http://schemas.microsoft.com/office/drawing/2014/main" val="3817693954"/>
                    </a:ext>
                  </a:extLst>
                </a:gridCol>
                <a:gridCol w="1713886">
                  <a:extLst>
                    <a:ext uri="{9D8B030D-6E8A-4147-A177-3AD203B41FA5}">
                      <a16:colId xmlns:a16="http://schemas.microsoft.com/office/drawing/2014/main" val="1524860557"/>
                    </a:ext>
                  </a:extLst>
                </a:gridCol>
              </a:tblGrid>
              <a:tr h="432095">
                <a:tc>
                  <a:txBody>
                    <a:bodyPr/>
                    <a:lstStyle/>
                    <a:p>
                      <a:pPr algn="ctr" rtl="0" fontAlgn="t">
                        <a:spcBef>
                          <a:spcPts val="1200"/>
                        </a:spcBef>
                        <a:spcAft>
                          <a:spcPts val="1200"/>
                        </a:spcAft>
                        <a:buNone/>
                      </a:pPr>
                      <a:r>
                        <a:rPr lang="en-US" sz="1100">
                          <a:solidFill>
                            <a:schemeClr val="bg1"/>
                          </a:solidFill>
                          <a:effectLst/>
                          <a:latin typeface="Hedvig Letters Sans"/>
                        </a:rPr>
                        <a:t>Decile Group</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Adoption Rate</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Songs Listened</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Loved Tracks</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Avg Subscriber Friends</a:t>
                      </a:r>
                      <a:endParaRPr lang="en-US" sz="1200">
                        <a:solidFill>
                          <a:schemeClr val="bg1"/>
                        </a:solidFill>
                        <a:latin typeface="Hedvig Letters Sans"/>
                      </a:endParaRPr>
                    </a:p>
                  </a:txBody>
                  <a:tcPr marL="42131" marR="42131" marT="42131" marB="42131">
                    <a:solidFill>
                      <a:schemeClr val="accent5"/>
                    </a:solidFill>
                  </a:tcPr>
                </a:tc>
                <a:tc>
                  <a:txBody>
                    <a:bodyPr/>
                    <a:lstStyle/>
                    <a:p>
                      <a:pPr algn="ctr" rtl="0" fontAlgn="t">
                        <a:spcBef>
                          <a:spcPts val="1200"/>
                        </a:spcBef>
                        <a:spcAft>
                          <a:spcPts val="1200"/>
                        </a:spcAft>
                        <a:buNone/>
                      </a:pPr>
                      <a:r>
                        <a:rPr lang="en-US" sz="1100">
                          <a:solidFill>
                            <a:schemeClr val="bg1"/>
                          </a:solidFill>
                          <a:effectLst/>
                          <a:latin typeface="Hedvig Letters Sans"/>
                        </a:rPr>
                        <a:t>Key Interpretation</a:t>
                      </a:r>
                      <a:endParaRPr lang="en-US" sz="1200">
                        <a:solidFill>
                          <a:schemeClr val="bg1"/>
                        </a:solidFill>
                        <a:latin typeface="Hedvig Letters Sans"/>
                      </a:endParaRPr>
                    </a:p>
                  </a:txBody>
                  <a:tcPr marL="42131" marR="42131" marT="42131" marB="42131">
                    <a:solidFill>
                      <a:schemeClr val="accent5"/>
                    </a:solidFill>
                  </a:tcPr>
                </a:tc>
                <a:extLst>
                  <a:ext uri="{0D108BD9-81ED-4DB2-BD59-A6C34878D82A}">
                    <a16:rowId xmlns:a16="http://schemas.microsoft.com/office/drawing/2014/main" val="683718732"/>
                  </a:ext>
                </a:extLst>
              </a:tr>
              <a:tr h="593878">
                <a:tc>
                  <a:txBody>
                    <a:bodyPr/>
                    <a:lstStyle/>
                    <a:p>
                      <a:pPr algn="ctr" rtl="0" fontAlgn="t">
                        <a:spcBef>
                          <a:spcPts val="1200"/>
                        </a:spcBef>
                        <a:spcAft>
                          <a:spcPts val="1200"/>
                        </a:spcAft>
                        <a:buNone/>
                      </a:pPr>
                      <a:r>
                        <a:rPr lang="en-US" sz="1100">
                          <a:effectLst/>
                          <a:latin typeface="Hedvig Letters Sans"/>
                        </a:rPr>
                        <a:t>Deciles 1–5 (Bottom 50%)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~4.8k–7.7k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~26–50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~0.06–0.36</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Very low engagement, weak social network → unlikely to convert</a:t>
                      </a:r>
                      <a:endParaRPr lang="en-US" sz="1200">
                        <a:latin typeface="Hedvig Letters Sans"/>
                      </a:endParaRPr>
                    </a:p>
                  </a:txBody>
                  <a:tcPr marL="42131" marR="42131" marT="42131" marB="42131"/>
                </a:tc>
                <a:extLst>
                  <a:ext uri="{0D108BD9-81ED-4DB2-BD59-A6C34878D82A}">
                    <a16:rowId xmlns:a16="http://schemas.microsoft.com/office/drawing/2014/main" val="3449637985"/>
                  </a:ext>
                </a:extLst>
              </a:tr>
              <a:tr h="432095">
                <a:tc>
                  <a:txBody>
                    <a:bodyPr/>
                    <a:lstStyle/>
                    <a:p>
                      <a:pPr algn="ctr" rtl="0" fontAlgn="t">
                        <a:spcBef>
                          <a:spcPts val="1200"/>
                        </a:spcBef>
                        <a:spcAft>
                          <a:spcPts val="1200"/>
                        </a:spcAft>
                        <a:buNone/>
                      </a:pPr>
                      <a:r>
                        <a:rPr lang="en-US" sz="1100">
                          <a:effectLst/>
                          <a:latin typeface="Hedvig Letters Sans"/>
                        </a:rPr>
                        <a:t>Deciles 7–8 (High)</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9–10%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~10k–14k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~78–87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~0.31–0.47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Strong usage + growing social exposure</a:t>
                      </a:r>
                      <a:endParaRPr lang="en-US" sz="1200">
                        <a:latin typeface="Hedvig Letters Sans"/>
                      </a:endParaRPr>
                    </a:p>
                  </a:txBody>
                  <a:tcPr marL="42131" marR="42131" marT="42131" marB="42131"/>
                </a:tc>
                <a:extLst>
                  <a:ext uri="{0D108BD9-81ED-4DB2-BD59-A6C34878D82A}">
                    <a16:rowId xmlns:a16="http://schemas.microsoft.com/office/drawing/2014/main" val="17752482"/>
                  </a:ext>
                </a:extLst>
              </a:tr>
              <a:tr h="432095">
                <a:tc>
                  <a:txBody>
                    <a:bodyPr/>
                    <a:lstStyle/>
                    <a:p>
                      <a:pPr algn="ctr" rtl="0" fontAlgn="t">
                        <a:spcBef>
                          <a:spcPts val="1200"/>
                        </a:spcBef>
                        <a:spcAft>
                          <a:spcPts val="1200"/>
                        </a:spcAft>
                        <a:buNone/>
                      </a:pPr>
                      <a:r>
                        <a:rPr lang="en-US" sz="1100">
                          <a:effectLst/>
                          <a:latin typeface="Hedvig Letters Sans"/>
                        </a:rPr>
                        <a:t>Decile 9</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12.2%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~24.6k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~122</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~0.65</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Heavy users, socially embedded</a:t>
                      </a:r>
                      <a:endParaRPr lang="en-US" sz="1200">
                        <a:latin typeface="Hedvig Letters Sans"/>
                      </a:endParaRPr>
                    </a:p>
                  </a:txBody>
                  <a:tcPr marL="42131" marR="42131" marT="42131" marB="42131"/>
                </a:tc>
                <a:extLst>
                  <a:ext uri="{0D108BD9-81ED-4DB2-BD59-A6C34878D82A}">
                    <a16:rowId xmlns:a16="http://schemas.microsoft.com/office/drawing/2014/main" val="1418098806"/>
                  </a:ext>
                </a:extLst>
              </a:tr>
              <a:tr h="432095">
                <a:tc>
                  <a:txBody>
                    <a:bodyPr/>
                    <a:lstStyle/>
                    <a:p>
                      <a:pPr algn="ctr" rtl="0" fontAlgn="t">
                        <a:spcBef>
                          <a:spcPts val="1200"/>
                        </a:spcBef>
                        <a:spcAft>
                          <a:spcPts val="1200"/>
                        </a:spcAft>
                        <a:buNone/>
                      </a:pPr>
                      <a:r>
                        <a:rPr lang="en-US" sz="1100">
                          <a:effectLst/>
                          <a:latin typeface="Hedvig Letters Sans"/>
                        </a:rPr>
                        <a:t>Decile 10 (Top 10%)</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19.3%</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44.6k</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277</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1.16</a:t>
                      </a:r>
                      <a:endParaRPr lang="en-US" sz="1200">
                        <a:latin typeface="Hedvig Letters Sans"/>
                      </a:endParaRPr>
                    </a:p>
                  </a:txBody>
                  <a:tcPr marL="42131" marR="42131" marT="42131" marB="42131"/>
                </a:tc>
                <a:tc>
                  <a:txBody>
                    <a:bodyPr/>
                    <a:lstStyle/>
                    <a:p>
                      <a:pPr algn="ctr" rtl="0" fontAlgn="t">
                        <a:spcBef>
                          <a:spcPts val="1200"/>
                        </a:spcBef>
                        <a:spcAft>
                          <a:spcPts val="1200"/>
                        </a:spcAft>
                        <a:buNone/>
                      </a:pPr>
                      <a:r>
                        <a:rPr lang="en-US" sz="1100">
                          <a:effectLst/>
                          <a:latin typeface="Hedvig Letters Sans"/>
                        </a:rPr>
                        <a:t>Power users with strong social proof → ideal targets</a:t>
                      </a:r>
                      <a:endParaRPr lang="en-US" sz="1200">
                        <a:latin typeface="Hedvig Letters Sans"/>
                      </a:endParaRPr>
                    </a:p>
                  </a:txBody>
                  <a:tcPr marL="42131" marR="42131" marT="42131" marB="42131"/>
                </a:tc>
                <a:extLst>
                  <a:ext uri="{0D108BD9-81ED-4DB2-BD59-A6C34878D82A}">
                    <a16:rowId xmlns:a16="http://schemas.microsoft.com/office/drawing/2014/main" val="3730462942"/>
                  </a:ext>
                </a:extLst>
              </a:tr>
            </a:tbl>
          </a:graphicData>
        </a:graphic>
      </p:graphicFrame>
      <p:sp>
        <p:nvSpPr>
          <p:cNvPr id="4" name="TextBox 3">
            <a:extLst>
              <a:ext uri="{FF2B5EF4-FFF2-40B4-BE49-F238E27FC236}">
                <a16:creationId xmlns:a16="http://schemas.microsoft.com/office/drawing/2014/main" id="{C18A052A-D129-AEA7-ED3A-81F15FB08FF9}"/>
              </a:ext>
            </a:extLst>
          </p:cNvPr>
          <p:cNvSpPr txBox="1"/>
          <p:nvPr/>
        </p:nvSpPr>
        <p:spPr>
          <a:xfrm>
            <a:off x="6405217" y="82826"/>
            <a:ext cx="6096000" cy="69865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ea typeface="+mn-lt"/>
                <a:cs typeface="+mn-lt"/>
              </a:rPr>
              <a:t># Slide 5: Decile Profiling</a:t>
            </a:r>
          </a:p>
          <a:p>
            <a:r>
              <a:rPr lang="en-US" sz="800">
                <a:ea typeface="+mn-lt"/>
                <a:cs typeface="+mn-lt"/>
              </a:rPr>
              <a:t># "What type of customers are in each decile?"</a:t>
            </a:r>
          </a:p>
          <a:p>
            <a:r>
              <a:rPr lang="en-US" sz="800">
                <a:ea typeface="+mn-lt"/>
                <a:cs typeface="+mn-lt"/>
              </a:rPr>
              <a:t>library(</a:t>
            </a:r>
            <a:r>
              <a:rPr lang="en-US" sz="800" err="1">
                <a:ea typeface="+mn-lt"/>
                <a:cs typeface="+mn-lt"/>
              </a:rPr>
              <a:t>dplyr</a:t>
            </a:r>
            <a:r>
              <a:rPr lang="en-US" sz="800">
                <a:ea typeface="+mn-lt"/>
                <a:cs typeface="+mn-lt"/>
              </a:rPr>
              <a:t>)</a:t>
            </a:r>
          </a:p>
          <a:p>
            <a:r>
              <a:rPr lang="en-US" sz="800">
                <a:ea typeface="+mn-lt"/>
                <a:cs typeface="+mn-lt"/>
              </a:rPr>
              <a:t># Predicted probabilities from Logistic Regression (Level model)</a:t>
            </a:r>
          </a:p>
          <a:p>
            <a:r>
              <a:rPr lang="en-US" sz="800" err="1">
                <a:ea typeface="+mn-lt"/>
                <a:cs typeface="+mn-lt"/>
              </a:rPr>
              <a:t>p_hat</a:t>
            </a:r>
            <a:r>
              <a:rPr lang="en-US" sz="800">
                <a:ea typeface="+mn-lt"/>
                <a:cs typeface="+mn-lt"/>
              </a:rPr>
              <a:t> &lt;- predict(</a:t>
            </a:r>
          </a:p>
          <a:p>
            <a:r>
              <a:rPr lang="en-US" sz="800">
                <a:ea typeface="+mn-lt"/>
                <a:cs typeface="+mn-lt"/>
              </a:rPr>
              <a:t>  </a:t>
            </a:r>
            <a:r>
              <a:rPr lang="en-US" sz="800" err="1">
                <a:ea typeface="+mn-lt"/>
                <a:cs typeface="+mn-lt"/>
              </a:rPr>
              <a:t>lrmdl</a:t>
            </a:r>
            <a:r>
              <a:rPr lang="en-US" sz="800">
                <a:ea typeface="+mn-lt"/>
                <a:cs typeface="+mn-lt"/>
              </a:rPr>
              <a:t>,</a:t>
            </a:r>
          </a:p>
          <a:p>
            <a:r>
              <a:rPr lang="en-US" sz="800">
                <a:ea typeface="+mn-lt"/>
                <a:cs typeface="+mn-lt"/>
              </a:rPr>
              <a:t>  </a:t>
            </a:r>
            <a:r>
              <a:rPr lang="en-US" sz="800" err="1">
                <a:ea typeface="+mn-lt"/>
                <a:cs typeface="+mn-lt"/>
              </a:rPr>
              <a:t>newdata</a:t>
            </a:r>
            <a:r>
              <a:rPr lang="en-US" sz="800">
                <a:ea typeface="+mn-lt"/>
                <a:cs typeface="+mn-lt"/>
              </a:rPr>
              <a:t> = freemium[</a:t>
            </a:r>
            <a:r>
              <a:rPr lang="en-US" sz="800" err="1">
                <a:ea typeface="+mn-lt"/>
                <a:cs typeface="+mn-lt"/>
              </a:rPr>
              <a:t>validsample</a:t>
            </a:r>
            <a:r>
              <a:rPr lang="en-US" sz="800">
                <a:ea typeface="+mn-lt"/>
                <a:cs typeface="+mn-lt"/>
              </a:rPr>
              <a:t>, ],</a:t>
            </a:r>
          </a:p>
          <a:p>
            <a:r>
              <a:rPr lang="en-US" sz="800">
                <a:ea typeface="+mn-lt"/>
                <a:cs typeface="+mn-lt"/>
              </a:rPr>
              <a:t>  type = "response"</a:t>
            </a:r>
          </a:p>
          <a:p>
            <a:r>
              <a:rPr lang="en-US" sz="800">
                <a:ea typeface="+mn-lt"/>
                <a:cs typeface="+mn-lt"/>
              </a:rPr>
              <a:t>)</a:t>
            </a:r>
          </a:p>
          <a:p>
            <a:endParaRPr lang="en-US" sz="800">
              <a:ea typeface="Calibri"/>
              <a:cs typeface="Calibri"/>
            </a:endParaRPr>
          </a:p>
          <a:p>
            <a:r>
              <a:rPr lang="en-US" sz="800">
                <a:ea typeface="+mn-lt"/>
                <a:cs typeface="+mn-lt"/>
              </a:rPr>
              <a:t># Attach predictions to validation data</a:t>
            </a:r>
          </a:p>
          <a:p>
            <a:r>
              <a:rPr lang="en-US" sz="800" err="1">
                <a:ea typeface="+mn-lt"/>
                <a:cs typeface="+mn-lt"/>
              </a:rPr>
              <a:t>valid_scored</a:t>
            </a:r>
            <a:r>
              <a:rPr lang="en-US" sz="800">
                <a:ea typeface="+mn-lt"/>
                <a:cs typeface="+mn-lt"/>
              </a:rPr>
              <a:t> &lt;- freemium[</a:t>
            </a:r>
            <a:r>
              <a:rPr lang="en-US" sz="800" err="1">
                <a:ea typeface="+mn-lt"/>
                <a:cs typeface="+mn-lt"/>
              </a:rPr>
              <a:t>validsample</a:t>
            </a:r>
            <a:r>
              <a:rPr lang="en-US" sz="800">
                <a:ea typeface="+mn-lt"/>
                <a:cs typeface="+mn-lt"/>
              </a:rPr>
              <a:t>, ] %&gt;%</a:t>
            </a:r>
          </a:p>
          <a:p>
            <a:r>
              <a:rPr lang="en-US" sz="800">
                <a:ea typeface="+mn-lt"/>
                <a:cs typeface="+mn-lt"/>
              </a:rPr>
              <a:t>  mutate(</a:t>
            </a:r>
          </a:p>
          <a:p>
            <a:r>
              <a:rPr lang="en-US" sz="800">
                <a:ea typeface="+mn-lt"/>
                <a:cs typeface="+mn-lt"/>
              </a:rPr>
              <a:t>    </a:t>
            </a:r>
            <a:r>
              <a:rPr lang="en-US" sz="800" err="1">
                <a:ea typeface="+mn-lt"/>
                <a:cs typeface="+mn-lt"/>
              </a:rPr>
              <a:t>p_hat</a:t>
            </a:r>
            <a:r>
              <a:rPr lang="en-US" sz="800">
                <a:ea typeface="+mn-lt"/>
                <a:cs typeface="+mn-lt"/>
              </a:rPr>
              <a:t> = </a:t>
            </a:r>
            <a:r>
              <a:rPr lang="en-US" sz="800" err="1">
                <a:ea typeface="+mn-lt"/>
                <a:cs typeface="+mn-lt"/>
              </a:rPr>
              <a:t>p_hat</a:t>
            </a:r>
            <a:r>
              <a:rPr lang="en-US" sz="800">
                <a:ea typeface="+mn-lt"/>
                <a:cs typeface="+mn-lt"/>
              </a:rPr>
              <a:t>,</a:t>
            </a:r>
          </a:p>
          <a:p>
            <a:r>
              <a:rPr lang="en-US" sz="800">
                <a:ea typeface="+mn-lt"/>
                <a:cs typeface="+mn-lt"/>
              </a:rPr>
              <a:t>    adopter = adopter</a:t>
            </a:r>
          </a:p>
          <a:p>
            <a:r>
              <a:rPr lang="en-US" sz="800">
                <a:ea typeface="+mn-lt"/>
                <a:cs typeface="+mn-lt"/>
              </a:rPr>
              <a:t>  )</a:t>
            </a:r>
          </a:p>
          <a:p>
            <a:endParaRPr lang="en-US" sz="800">
              <a:ea typeface="Calibri"/>
              <a:cs typeface="Calibri"/>
            </a:endParaRPr>
          </a:p>
          <a:p>
            <a:r>
              <a:rPr lang="en-US" sz="800">
                <a:ea typeface="+mn-lt"/>
                <a:cs typeface="+mn-lt"/>
              </a:rPr>
              <a:t># Create deciles (1 = lowest predicted adoption, 10 = highest)</a:t>
            </a:r>
          </a:p>
          <a:p>
            <a:r>
              <a:rPr lang="en-US" sz="800" err="1">
                <a:ea typeface="+mn-lt"/>
                <a:cs typeface="+mn-lt"/>
              </a:rPr>
              <a:t>valid_scored</a:t>
            </a:r>
            <a:r>
              <a:rPr lang="en-US" sz="800">
                <a:ea typeface="+mn-lt"/>
                <a:cs typeface="+mn-lt"/>
              </a:rPr>
              <a:t> &lt;- </a:t>
            </a:r>
            <a:r>
              <a:rPr lang="en-US" sz="800" err="1">
                <a:ea typeface="+mn-lt"/>
                <a:cs typeface="+mn-lt"/>
              </a:rPr>
              <a:t>valid_scored</a:t>
            </a:r>
            <a:r>
              <a:rPr lang="en-US" sz="800">
                <a:ea typeface="+mn-lt"/>
                <a:cs typeface="+mn-lt"/>
              </a:rPr>
              <a:t> %&gt;%</a:t>
            </a:r>
          </a:p>
          <a:p>
            <a:r>
              <a:rPr lang="en-US" sz="800">
                <a:ea typeface="+mn-lt"/>
                <a:cs typeface="+mn-lt"/>
              </a:rPr>
              <a:t>  mutate(</a:t>
            </a:r>
          </a:p>
          <a:p>
            <a:r>
              <a:rPr lang="en-US" sz="800">
                <a:ea typeface="+mn-lt"/>
                <a:cs typeface="+mn-lt"/>
              </a:rPr>
              <a:t>    decile = </a:t>
            </a:r>
            <a:r>
              <a:rPr lang="en-US" sz="800" err="1">
                <a:ea typeface="+mn-lt"/>
                <a:cs typeface="+mn-lt"/>
              </a:rPr>
              <a:t>ntile</a:t>
            </a:r>
            <a:r>
              <a:rPr lang="en-US" sz="800">
                <a:ea typeface="+mn-lt"/>
                <a:cs typeface="+mn-lt"/>
              </a:rPr>
              <a:t>(</a:t>
            </a:r>
            <a:r>
              <a:rPr lang="en-US" sz="800" err="1">
                <a:ea typeface="+mn-lt"/>
                <a:cs typeface="+mn-lt"/>
              </a:rPr>
              <a:t>p_hat</a:t>
            </a:r>
            <a:r>
              <a:rPr lang="en-US" sz="800">
                <a:ea typeface="+mn-lt"/>
                <a:cs typeface="+mn-lt"/>
              </a:rPr>
              <a:t>, 10)</a:t>
            </a:r>
          </a:p>
          <a:p>
            <a:r>
              <a:rPr lang="en-US" sz="800">
                <a:ea typeface="+mn-lt"/>
                <a:cs typeface="+mn-lt"/>
              </a:rPr>
              <a:t>  )</a:t>
            </a:r>
          </a:p>
          <a:p>
            <a:endParaRPr lang="en-US" sz="800">
              <a:ea typeface="Calibri"/>
              <a:cs typeface="Calibri"/>
            </a:endParaRPr>
          </a:p>
          <a:p>
            <a:r>
              <a:rPr lang="en-US" sz="800">
                <a:ea typeface="+mn-lt"/>
                <a:cs typeface="+mn-lt"/>
              </a:rPr>
              <a:t># Aggregate profiles by decile</a:t>
            </a:r>
          </a:p>
          <a:p>
            <a:r>
              <a:rPr lang="en-US" sz="800" err="1">
                <a:ea typeface="+mn-lt"/>
                <a:cs typeface="+mn-lt"/>
              </a:rPr>
              <a:t>decile_profile</a:t>
            </a:r>
            <a:r>
              <a:rPr lang="en-US" sz="800">
                <a:ea typeface="+mn-lt"/>
                <a:cs typeface="+mn-lt"/>
              </a:rPr>
              <a:t> &lt;- </a:t>
            </a:r>
            <a:r>
              <a:rPr lang="en-US" sz="800" err="1">
                <a:ea typeface="+mn-lt"/>
                <a:cs typeface="+mn-lt"/>
              </a:rPr>
              <a:t>valid_scored</a:t>
            </a:r>
            <a:r>
              <a:rPr lang="en-US" sz="800">
                <a:ea typeface="+mn-lt"/>
                <a:cs typeface="+mn-lt"/>
              </a:rPr>
              <a:t> %&gt;%</a:t>
            </a:r>
          </a:p>
          <a:p>
            <a:r>
              <a:rPr lang="en-US" sz="800">
                <a:ea typeface="+mn-lt"/>
                <a:cs typeface="+mn-lt"/>
              </a:rPr>
              <a:t>  </a:t>
            </a:r>
            <a:r>
              <a:rPr lang="en-US" sz="800" err="1">
                <a:ea typeface="+mn-lt"/>
                <a:cs typeface="+mn-lt"/>
              </a:rPr>
              <a:t>group_by</a:t>
            </a:r>
            <a:r>
              <a:rPr lang="en-US" sz="800">
                <a:ea typeface="+mn-lt"/>
                <a:cs typeface="+mn-lt"/>
              </a:rPr>
              <a:t>(decile) %&gt;%</a:t>
            </a:r>
          </a:p>
          <a:p>
            <a:r>
              <a:rPr lang="en-US" sz="800">
                <a:ea typeface="+mn-lt"/>
                <a:cs typeface="+mn-lt"/>
              </a:rPr>
              <a:t>  </a:t>
            </a:r>
            <a:r>
              <a:rPr lang="en-US" sz="800" err="1">
                <a:ea typeface="+mn-lt"/>
                <a:cs typeface="+mn-lt"/>
              </a:rPr>
              <a:t>summarise</a:t>
            </a:r>
            <a:r>
              <a:rPr lang="en-US" sz="800">
                <a:ea typeface="+mn-lt"/>
                <a:cs typeface="+mn-lt"/>
              </a:rPr>
              <a:t>(</a:t>
            </a:r>
          </a:p>
          <a:p>
            <a:r>
              <a:rPr lang="en-US" sz="800">
                <a:ea typeface="+mn-lt"/>
                <a:cs typeface="+mn-lt"/>
              </a:rPr>
              <a:t>    n = n(),</a:t>
            </a:r>
          </a:p>
          <a:p>
            <a:r>
              <a:rPr lang="en-US" sz="800">
                <a:ea typeface="+mn-lt"/>
                <a:cs typeface="+mn-lt"/>
              </a:rPr>
              <a:t>    </a:t>
            </a:r>
            <a:r>
              <a:rPr lang="en-US" sz="800" err="1">
                <a:ea typeface="+mn-lt"/>
                <a:cs typeface="+mn-lt"/>
              </a:rPr>
              <a:t>adoption_rate</a:t>
            </a:r>
            <a:r>
              <a:rPr lang="en-US" sz="800">
                <a:ea typeface="+mn-lt"/>
                <a:cs typeface="+mn-lt"/>
              </a:rPr>
              <a:t> = mean(adopter, na.rm = TRUE),</a:t>
            </a:r>
          </a:p>
          <a:p>
            <a:r>
              <a:rPr lang="en-US" sz="800">
                <a:ea typeface="+mn-lt"/>
                <a:cs typeface="+mn-lt"/>
              </a:rPr>
              <a:t>    </a:t>
            </a:r>
            <a:r>
              <a:rPr lang="en-US" sz="800" err="1">
                <a:ea typeface="+mn-lt"/>
                <a:cs typeface="+mn-lt"/>
              </a:rPr>
              <a:t>avg_p_hat</a:t>
            </a:r>
            <a:r>
              <a:rPr lang="en-US" sz="800">
                <a:ea typeface="+mn-lt"/>
                <a:cs typeface="+mn-lt"/>
              </a:rPr>
              <a:t> = mean(</a:t>
            </a:r>
            <a:r>
              <a:rPr lang="en-US" sz="800" err="1">
                <a:ea typeface="+mn-lt"/>
                <a:cs typeface="+mn-lt"/>
              </a:rPr>
              <a:t>p_hat</a:t>
            </a:r>
            <a:r>
              <a:rPr lang="en-US" sz="800">
                <a:ea typeface="+mn-lt"/>
                <a:cs typeface="+mn-lt"/>
              </a:rPr>
              <a:t>, na.rm = TRUE),</a:t>
            </a:r>
          </a:p>
          <a:p>
            <a:r>
              <a:rPr lang="en-US" sz="800">
                <a:ea typeface="+mn-lt"/>
                <a:cs typeface="+mn-lt"/>
              </a:rPr>
              <a:t>    </a:t>
            </a:r>
            <a:r>
              <a:rPr lang="en-US" sz="800" err="1">
                <a:ea typeface="+mn-lt"/>
                <a:cs typeface="+mn-lt"/>
              </a:rPr>
              <a:t>avg_songsListened</a:t>
            </a:r>
            <a:r>
              <a:rPr lang="en-US" sz="800">
                <a:ea typeface="+mn-lt"/>
                <a:cs typeface="+mn-lt"/>
              </a:rPr>
              <a:t> = mean(</a:t>
            </a:r>
            <a:r>
              <a:rPr lang="en-US" sz="800" err="1">
                <a:ea typeface="+mn-lt"/>
                <a:cs typeface="+mn-lt"/>
              </a:rPr>
              <a:t>songsListened</a:t>
            </a:r>
            <a:r>
              <a:rPr lang="en-US" sz="800">
                <a:ea typeface="+mn-lt"/>
                <a:cs typeface="+mn-lt"/>
              </a:rPr>
              <a:t>, na.rm = TRUE),</a:t>
            </a:r>
          </a:p>
          <a:p>
            <a:r>
              <a:rPr lang="en-US" sz="800">
                <a:ea typeface="+mn-lt"/>
                <a:cs typeface="+mn-lt"/>
              </a:rPr>
              <a:t>    </a:t>
            </a:r>
            <a:r>
              <a:rPr lang="en-US" sz="800" err="1">
                <a:ea typeface="+mn-lt"/>
                <a:cs typeface="+mn-lt"/>
              </a:rPr>
              <a:t>avg_lovedTracks</a:t>
            </a:r>
            <a:r>
              <a:rPr lang="en-US" sz="800">
                <a:ea typeface="+mn-lt"/>
                <a:cs typeface="+mn-lt"/>
              </a:rPr>
              <a:t> = mean(</a:t>
            </a:r>
            <a:r>
              <a:rPr lang="en-US" sz="800" err="1">
                <a:ea typeface="+mn-lt"/>
                <a:cs typeface="+mn-lt"/>
              </a:rPr>
              <a:t>lovedTracks</a:t>
            </a:r>
            <a:r>
              <a:rPr lang="en-US" sz="800">
                <a:ea typeface="+mn-lt"/>
                <a:cs typeface="+mn-lt"/>
              </a:rPr>
              <a:t>, na.rm = TRUE),</a:t>
            </a:r>
          </a:p>
          <a:p>
            <a:r>
              <a:rPr lang="en-US" sz="800">
                <a:ea typeface="+mn-lt"/>
                <a:cs typeface="+mn-lt"/>
              </a:rPr>
              <a:t>    </a:t>
            </a:r>
            <a:r>
              <a:rPr lang="en-US" sz="800" err="1">
                <a:ea typeface="+mn-lt"/>
                <a:cs typeface="+mn-lt"/>
              </a:rPr>
              <a:t>avg_subscriber_friend_cnt</a:t>
            </a:r>
            <a:r>
              <a:rPr lang="en-US" sz="800">
                <a:ea typeface="+mn-lt"/>
                <a:cs typeface="+mn-lt"/>
              </a:rPr>
              <a:t> = mean(</a:t>
            </a:r>
            <a:r>
              <a:rPr lang="en-US" sz="800" err="1">
                <a:ea typeface="+mn-lt"/>
                <a:cs typeface="+mn-lt"/>
              </a:rPr>
              <a:t>subscriber_friend_cnt</a:t>
            </a:r>
            <a:r>
              <a:rPr lang="en-US" sz="800">
                <a:ea typeface="+mn-lt"/>
                <a:cs typeface="+mn-lt"/>
              </a:rPr>
              <a:t>, na.rm = TRUE),</a:t>
            </a:r>
          </a:p>
          <a:p>
            <a:r>
              <a:rPr lang="en-US" sz="800">
                <a:ea typeface="+mn-lt"/>
                <a:cs typeface="+mn-lt"/>
              </a:rPr>
              <a:t>    </a:t>
            </a:r>
            <a:r>
              <a:rPr lang="en-US" sz="800" err="1">
                <a:ea typeface="+mn-lt"/>
                <a:cs typeface="+mn-lt"/>
              </a:rPr>
              <a:t>avg_playlists</a:t>
            </a:r>
            <a:r>
              <a:rPr lang="en-US" sz="800">
                <a:ea typeface="+mn-lt"/>
                <a:cs typeface="+mn-lt"/>
              </a:rPr>
              <a:t> = mean(playlists, na.rm = TRUE),</a:t>
            </a:r>
          </a:p>
          <a:p>
            <a:r>
              <a:rPr lang="en-US" sz="800">
                <a:ea typeface="+mn-lt"/>
                <a:cs typeface="+mn-lt"/>
              </a:rPr>
              <a:t>    .groups = "drop"</a:t>
            </a:r>
          </a:p>
          <a:p>
            <a:r>
              <a:rPr lang="en-US" sz="800">
                <a:ea typeface="+mn-lt"/>
                <a:cs typeface="+mn-lt"/>
              </a:rPr>
              <a:t>  ) %&gt;%</a:t>
            </a:r>
          </a:p>
          <a:p>
            <a:r>
              <a:rPr lang="en-US" sz="800">
                <a:ea typeface="+mn-lt"/>
                <a:cs typeface="+mn-lt"/>
              </a:rPr>
              <a:t>  arrange(decile)</a:t>
            </a:r>
          </a:p>
          <a:p>
            <a:endParaRPr lang="en-US" sz="800">
              <a:ea typeface="Calibri"/>
              <a:cs typeface="Calibri"/>
            </a:endParaRPr>
          </a:p>
          <a:p>
            <a:r>
              <a:rPr lang="en-US" sz="800">
                <a:ea typeface="+mn-lt"/>
                <a:cs typeface="+mn-lt"/>
              </a:rPr>
              <a:t>print(</a:t>
            </a:r>
            <a:r>
              <a:rPr lang="en-US" sz="800" err="1">
                <a:ea typeface="+mn-lt"/>
                <a:cs typeface="+mn-lt"/>
              </a:rPr>
              <a:t>decile_profile</a:t>
            </a:r>
            <a:r>
              <a:rPr lang="en-US" sz="800">
                <a:ea typeface="+mn-lt"/>
                <a:cs typeface="+mn-lt"/>
              </a:rPr>
              <a:t>)</a:t>
            </a:r>
          </a:p>
          <a:p>
            <a:endParaRPr lang="en-US" sz="800">
              <a:ea typeface="Calibri"/>
              <a:cs typeface="Calibri"/>
            </a:endParaRPr>
          </a:p>
          <a:p>
            <a:r>
              <a:rPr lang="en-US" sz="800">
                <a:ea typeface="+mn-lt"/>
                <a:cs typeface="+mn-lt"/>
              </a:rPr>
              <a:t># Add qualitative customer segment labels</a:t>
            </a:r>
          </a:p>
          <a:p>
            <a:r>
              <a:rPr lang="en-US" sz="800" err="1">
                <a:ea typeface="+mn-lt"/>
                <a:cs typeface="+mn-lt"/>
              </a:rPr>
              <a:t>decile_profile</a:t>
            </a:r>
            <a:r>
              <a:rPr lang="en-US" sz="800">
                <a:ea typeface="+mn-lt"/>
                <a:cs typeface="+mn-lt"/>
              </a:rPr>
              <a:t> &lt;- </a:t>
            </a:r>
            <a:r>
              <a:rPr lang="en-US" sz="800" err="1">
                <a:ea typeface="+mn-lt"/>
                <a:cs typeface="+mn-lt"/>
              </a:rPr>
              <a:t>decile_profile</a:t>
            </a:r>
            <a:r>
              <a:rPr lang="en-US" sz="800">
                <a:ea typeface="+mn-lt"/>
                <a:cs typeface="+mn-lt"/>
              </a:rPr>
              <a:t> %&gt;%</a:t>
            </a:r>
          </a:p>
          <a:p>
            <a:r>
              <a:rPr lang="en-US" sz="800">
                <a:ea typeface="+mn-lt"/>
                <a:cs typeface="+mn-lt"/>
              </a:rPr>
              <a:t>  mutate(</a:t>
            </a:r>
          </a:p>
          <a:p>
            <a:r>
              <a:rPr lang="en-US" sz="800">
                <a:ea typeface="+mn-lt"/>
                <a:cs typeface="+mn-lt"/>
              </a:rPr>
              <a:t>    </a:t>
            </a:r>
            <a:r>
              <a:rPr lang="en-US" sz="800" err="1">
                <a:ea typeface="+mn-lt"/>
                <a:cs typeface="+mn-lt"/>
              </a:rPr>
              <a:t>customer_type</a:t>
            </a:r>
            <a:r>
              <a:rPr lang="en-US" sz="800">
                <a:ea typeface="+mn-lt"/>
                <a:cs typeface="+mn-lt"/>
              </a:rPr>
              <a:t> = </a:t>
            </a:r>
            <a:r>
              <a:rPr lang="en-US" sz="800" err="1">
                <a:ea typeface="+mn-lt"/>
                <a:cs typeface="+mn-lt"/>
              </a:rPr>
              <a:t>case_when</a:t>
            </a:r>
            <a:r>
              <a:rPr lang="en-US" sz="800">
                <a:ea typeface="+mn-lt"/>
                <a:cs typeface="+mn-lt"/>
              </a:rPr>
              <a:t>(</a:t>
            </a:r>
          </a:p>
          <a:p>
            <a:r>
              <a:rPr lang="en-US" sz="800">
                <a:ea typeface="+mn-lt"/>
                <a:cs typeface="+mn-lt"/>
              </a:rPr>
              <a:t>      decile %in% 1:2  ~ "Low engagement, weak social network",</a:t>
            </a:r>
          </a:p>
          <a:p>
            <a:r>
              <a:rPr lang="en-US" sz="800">
                <a:ea typeface="+mn-lt"/>
                <a:cs typeface="+mn-lt"/>
              </a:rPr>
              <a:t>      decile %in% 3:5  ~ "Moderate engagement",</a:t>
            </a:r>
          </a:p>
          <a:p>
            <a:r>
              <a:rPr lang="en-US" sz="800">
                <a:ea typeface="+mn-lt"/>
                <a:cs typeface="+mn-lt"/>
              </a:rPr>
              <a:t>      decile %in% 6:8  ~ "High engagement, growing social exposure",</a:t>
            </a:r>
          </a:p>
          <a:p>
            <a:r>
              <a:rPr lang="en-US" sz="800">
                <a:ea typeface="+mn-lt"/>
                <a:cs typeface="+mn-lt"/>
              </a:rPr>
              <a:t>      decile %in% 9:10 ~ "Power users, strong social influence",</a:t>
            </a:r>
          </a:p>
          <a:p>
            <a:r>
              <a:rPr lang="en-US" sz="800">
                <a:ea typeface="+mn-lt"/>
                <a:cs typeface="+mn-lt"/>
              </a:rPr>
              <a:t>      TRUE ~ "Other"</a:t>
            </a:r>
          </a:p>
          <a:p>
            <a:r>
              <a:rPr lang="en-US" sz="800">
                <a:ea typeface="+mn-lt"/>
                <a:cs typeface="+mn-lt"/>
              </a:rPr>
              <a:t>    )</a:t>
            </a:r>
          </a:p>
          <a:p>
            <a:r>
              <a:rPr lang="en-US" sz="800">
                <a:ea typeface="+mn-lt"/>
                <a:cs typeface="+mn-lt"/>
              </a:rPr>
              <a:t>  )</a:t>
            </a:r>
          </a:p>
          <a:p>
            <a:endParaRPr lang="en-US" sz="800">
              <a:ea typeface="Calibri"/>
              <a:cs typeface="Calibri"/>
            </a:endParaRPr>
          </a:p>
          <a:p>
            <a:r>
              <a:rPr lang="en-US" sz="800">
                <a:ea typeface="+mn-lt"/>
                <a:cs typeface="+mn-lt"/>
              </a:rPr>
              <a:t>print(</a:t>
            </a:r>
            <a:r>
              <a:rPr lang="en-US" sz="800" err="1">
                <a:ea typeface="+mn-lt"/>
                <a:cs typeface="+mn-lt"/>
              </a:rPr>
              <a:t>decile_profile</a:t>
            </a:r>
            <a:r>
              <a:rPr lang="en-US" sz="800">
                <a:ea typeface="+mn-lt"/>
                <a:cs typeface="+mn-lt"/>
              </a:rPr>
              <a:t>)</a:t>
            </a:r>
          </a:p>
          <a:p>
            <a:endParaRPr lang="en-US" sz="800">
              <a:ea typeface="Calibri"/>
              <a:cs typeface="Calibri"/>
            </a:endParaRPr>
          </a:p>
        </p:txBody>
      </p:sp>
    </p:spTree>
    <p:extLst>
      <p:ext uri="{BB962C8B-B14F-4D97-AF65-F5344CB8AC3E}">
        <p14:creationId xmlns:p14="http://schemas.microsoft.com/office/powerpoint/2010/main" val="500626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4AB9B9-CD65-2072-8935-10A2CE0A1CE5}"/>
              </a:ext>
            </a:extLst>
          </p:cNvPr>
          <p:cNvSpPr txBox="1"/>
          <p:nvPr/>
        </p:nvSpPr>
        <p:spPr>
          <a:xfrm>
            <a:off x="6896100" y="368300"/>
            <a:ext cx="6096000" cy="6370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a:ea typeface="Calibri"/>
                <a:cs typeface="Calibri"/>
              </a:rPr>
              <a:t># Slide 13: Profit Sensitivity Analysis (Level vs Delta Logistic)</a:t>
            </a:r>
            <a:endParaRPr lang="en-US"/>
          </a:p>
          <a:p>
            <a:endParaRPr lang="en-US" sz="600">
              <a:ea typeface="Calibri"/>
              <a:cs typeface="Calibri"/>
            </a:endParaRPr>
          </a:p>
          <a:p>
            <a:r>
              <a:rPr lang="en-US" sz="600">
                <a:ea typeface="Calibri"/>
                <a:cs typeface="Calibri"/>
              </a:rPr>
              <a:t>library(ggplot2)</a:t>
            </a:r>
            <a:endParaRPr lang="en-US"/>
          </a:p>
          <a:p>
            <a:r>
              <a:rPr lang="en-US" sz="600">
                <a:ea typeface="Calibri"/>
                <a:cs typeface="Calibri"/>
              </a:rPr>
              <a:t>library(scales)</a:t>
            </a:r>
            <a:endParaRPr lang="en-US"/>
          </a:p>
          <a:p>
            <a:endParaRPr lang="en-US" sz="600">
              <a:ea typeface="Calibri"/>
              <a:cs typeface="Calibri"/>
            </a:endParaRPr>
          </a:p>
          <a:p>
            <a:r>
              <a:rPr lang="en-US" sz="600">
                <a:ea typeface="Calibri"/>
                <a:cs typeface="Calibri"/>
              </a:rPr>
              <a:t># Revenue assumptions (12 months)</a:t>
            </a:r>
            <a:endParaRPr lang="en-US"/>
          </a:p>
          <a:p>
            <a:r>
              <a:rPr lang="en-US" sz="600">
                <a:ea typeface="Calibri"/>
                <a:cs typeface="Calibri"/>
              </a:rPr>
              <a:t>rev_paid_12mo &lt;- 12 * 3.00</a:t>
            </a:r>
            <a:endParaRPr lang="en-US"/>
          </a:p>
          <a:p>
            <a:r>
              <a:rPr lang="en-US" sz="600">
                <a:ea typeface="Calibri"/>
                <a:cs typeface="Calibri"/>
              </a:rPr>
              <a:t>rev_free_12mo &lt;- 12 * 0.125</a:t>
            </a:r>
            <a:endParaRPr lang="en-US"/>
          </a:p>
          <a:p>
            <a:endParaRPr lang="en-US" sz="600">
              <a:ea typeface="Calibri"/>
              <a:cs typeface="Calibri"/>
            </a:endParaRPr>
          </a:p>
          <a:p>
            <a:r>
              <a:rPr lang="en-US" sz="600">
                <a:ea typeface="Calibri"/>
                <a:cs typeface="Calibri"/>
              </a:rPr>
              <a:t># Promotion assumptions</a:t>
            </a:r>
            <a:endParaRPr lang="en-US"/>
          </a:p>
          <a:p>
            <a:r>
              <a:rPr lang="en-US" sz="600" err="1">
                <a:ea typeface="Calibri"/>
                <a:cs typeface="Calibri"/>
              </a:rPr>
              <a:t>promo_cost_if_convert</a:t>
            </a:r>
            <a:r>
              <a:rPr lang="en-US" sz="600">
                <a:ea typeface="Calibri"/>
                <a:cs typeface="Calibri"/>
              </a:rPr>
              <a:t> &lt;- 3 * 3.00</a:t>
            </a:r>
            <a:endParaRPr lang="en-US"/>
          </a:p>
          <a:p>
            <a:r>
              <a:rPr lang="en-US" sz="600">
                <a:ea typeface="Calibri"/>
                <a:cs typeface="Calibri"/>
              </a:rPr>
              <a:t>lost_ads_3mo &lt;- 3 * 0.125</a:t>
            </a:r>
            <a:endParaRPr lang="en-US"/>
          </a:p>
          <a:p>
            <a:endParaRPr lang="en-US" sz="600">
              <a:ea typeface="Calibri"/>
              <a:cs typeface="Calibri"/>
            </a:endParaRPr>
          </a:p>
          <a:p>
            <a:r>
              <a:rPr lang="en-US" sz="600">
                <a:ea typeface="Calibri"/>
                <a:cs typeface="Calibri"/>
              </a:rPr>
              <a:t># Value calculations</a:t>
            </a:r>
            <a:endParaRPr lang="en-US"/>
          </a:p>
          <a:p>
            <a:r>
              <a:rPr lang="en-US" sz="600" err="1">
                <a:ea typeface="Calibri"/>
                <a:cs typeface="Calibri"/>
              </a:rPr>
              <a:t>value_if_convert</a:t>
            </a:r>
            <a:r>
              <a:rPr lang="en-US" sz="600">
                <a:ea typeface="Calibri"/>
                <a:cs typeface="Calibri"/>
              </a:rPr>
              <a:t> &lt;- rev_paid_12mo - </a:t>
            </a:r>
            <a:r>
              <a:rPr lang="en-US" sz="600" err="1">
                <a:ea typeface="Calibri"/>
                <a:cs typeface="Calibri"/>
              </a:rPr>
              <a:t>promo_cost_if_convert</a:t>
            </a:r>
            <a:r>
              <a:rPr lang="en-US" sz="600">
                <a:ea typeface="Calibri"/>
                <a:cs typeface="Calibri"/>
              </a:rPr>
              <a:t> - lost_ads_3mo</a:t>
            </a:r>
            <a:endParaRPr lang="en-US"/>
          </a:p>
          <a:p>
            <a:r>
              <a:rPr lang="en-US" sz="600" err="1">
                <a:ea typeface="Calibri"/>
                <a:cs typeface="Calibri"/>
              </a:rPr>
              <a:t>value_if_no_convert</a:t>
            </a:r>
            <a:r>
              <a:rPr lang="en-US" sz="600">
                <a:ea typeface="Calibri"/>
                <a:cs typeface="Calibri"/>
              </a:rPr>
              <a:t> &lt;- rev_free_12mo - lost_ads_3mo</a:t>
            </a:r>
            <a:endParaRPr lang="en-US"/>
          </a:p>
          <a:p>
            <a:endParaRPr lang="en-US" sz="600">
              <a:ea typeface="Calibri"/>
              <a:cs typeface="Calibri"/>
            </a:endParaRPr>
          </a:p>
          <a:p>
            <a:r>
              <a:rPr lang="en-US" sz="600">
                <a:ea typeface="Calibri"/>
                <a:cs typeface="Calibri"/>
              </a:rPr>
              <a:t># Expected value functions</a:t>
            </a:r>
            <a:endParaRPr lang="en-US"/>
          </a:p>
          <a:p>
            <a:r>
              <a:rPr lang="en-US" sz="600" err="1">
                <a:ea typeface="Calibri"/>
                <a:cs typeface="Calibri"/>
              </a:rPr>
              <a:t>expected_value_no_offer</a:t>
            </a:r>
            <a:r>
              <a:rPr lang="en-US" sz="600">
                <a:ea typeface="Calibri"/>
                <a:cs typeface="Calibri"/>
              </a:rPr>
              <a:t> &lt;- function(p) {</a:t>
            </a:r>
            <a:endParaRPr lang="en-US"/>
          </a:p>
          <a:p>
            <a:r>
              <a:rPr lang="en-US" sz="600">
                <a:ea typeface="Calibri"/>
                <a:cs typeface="Calibri"/>
              </a:rPr>
              <a:t>  p * rev_paid_12mo + (1 - p) * rev_free_12mo</a:t>
            </a:r>
            <a:endParaRPr lang="en-US"/>
          </a:p>
          <a:p>
            <a:r>
              <a:rPr lang="en-US" sz="600">
                <a:ea typeface="Calibri"/>
                <a:cs typeface="Calibri"/>
              </a:rPr>
              <a:t>}</a:t>
            </a:r>
            <a:endParaRPr lang="en-US"/>
          </a:p>
          <a:p>
            <a:endParaRPr lang="en-US" sz="600">
              <a:ea typeface="Calibri"/>
              <a:cs typeface="Calibri"/>
            </a:endParaRPr>
          </a:p>
          <a:p>
            <a:r>
              <a:rPr lang="en-US" sz="600" err="1">
                <a:ea typeface="Calibri"/>
                <a:cs typeface="Calibri"/>
              </a:rPr>
              <a:t>expected_value_with_offer</a:t>
            </a:r>
            <a:r>
              <a:rPr lang="en-US" sz="600">
                <a:ea typeface="Calibri"/>
                <a:cs typeface="Calibri"/>
              </a:rPr>
              <a:t> &lt;- function(</a:t>
            </a:r>
            <a:r>
              <a:rPr lang="en-US" sz="600" err="1">
                <a:ea typeface="Calibri"/>
                <a:cs typeface="Calibri"/>
              </a:rPr>
              <a:t>p_uplift</a:t>
            </a:r>
            <a:r>
              <a:rPr lang="en-US" sz="600">
                <a:ea typeface="Calibri"/>
                <a:cs typeface="Calibri"/>
              </a:rPr>
              <a:t>) {</a:t>
            </a:r>
            <a:endParaRPr lang="en-US"/>
          </a:p>
          <a:p>
            <a:r>
              <a:rPr lang="en-US" sz="600">
                <a:ea typeface="Calibri"/>
                <a:cs typeface="Calibri"/>
              </a:rPr>
              <a:t>  </a:t>
            </a:r>
            <a:r>
              <a:rPr lang="en-US" sz="600" err="1">
                <a:ea typeface="Calibri"/>
                <a:cs typeface="Calibri"/>
              </a:rPr>
              <a:t>p_uplift</a:t>
            </a:r>
            <a:r>
              <a:rPr lang="en-US" sz="600">
                <a:ea typeface="Calibri"/>
                <a:cs typeface="Calibri"/>
              </a:rPr>
              <a:t> * </a:t>
            </a:r>
            <a:r>
              <a:rPr lang="en-US" sz="600" err="1">
                <a:ea typeface="Calibri"/>
                <a:cs typeface="Calibri"/>
              </a:rPr>
              <a:t>value_if_convert</a:t>
            </a:r>
            <a:r>
              <a:rPr lang="en-US" sz="600">
                <a:ea typeface="Calibri"/>
                <a:cs typeface="Calibri"/>
              </a:rPr>
              <a:t> + (1 - </a:t>
            </a:r>
            <a:r>
              <a:rPr lang="en-US" sz="600" err="1">
                <a:ea typeface="Calibri"/>
                <a:cs typeface="Calibri"/>
              </a:rPr>
              <a:t>p_uplift</a:t>
            </a:r>
            <a:r>
              <a:rPr lang="en-US" sz="600">
                <a:ea typeface="Calibri"/>
                <a:cs typeface="Calibri"/>
              </a:rPr>
              <a:t>) * </a:t>
            </a:r>
            <a:r>
              <a:rPr lang="en-US" sz="600" err="1">
                <a:ea typeface="Calibri"/>
                <a:cs typeface="Calibri"/>
              </a:rPr>
              <a:t>value_if_no_convert</a:t>
            </a:r>
            <a:endParaRPr lang="en-US" sz="600">
              <a:ea typeface="Calibri"/>
              <a:cs typeface="Calibri"/>
            </a:endParaRPr>
          </a:p>
          <a:p>
            <a:r>
              <a:rPr lang="en-US" sz="600">
                <a:ea typeface="Calibri"/>
                <a:cs typeface="Calibri"/>
              </a:rPr>
              <a:t>}</a:t>
            </a:r>
            <a:endParaRPr lang="en-US"/>
          </a:p>
          <a:p>
            <a:endParaRPr lang="en-US" sz="600">
              <a:ea typeface="Calibri"/>
              <a:cs typeface="Calibri"/>
            </a:endParaRPr>
          </a:p>
          <a:p>
            <a:r>
              <a:rPr lang="en-US" sz="600">
                <a:ea typeface="Calibri"/>
                <a:cs typeface="Calibri"/>
              </a:rPr>
              <a:t># Profit curve function</a:t>
            </a:r>
            <a:endParaRPr lang="en-US"/>
          </a:p>
          <a:p>
            <a:r>
              <a:rPr lang="en-US" sz="600" err="1">
                <a:ea typeface="Calibri"/>
                <a:cs typeface="Calibri"/>
              </a:rPr>
              <a:t>profit_curve</a:t>
            </a:r>
            <a:r>
              <a:rPr lang="en-US" sz="600">
                <a:ea typeface="Calibri"/>
                <a:cs typeface="Calibri"/>
              </a:rPr>
              <a:t> &lt;- function(</a:t>
            </a:r>
            <a:endParaRPr lang="en-US"/>
          </a:p>
          <a:p>
            <a:r>
              <a:rPr lang="en-US" sz="600">
                <a:ea typeface="Calibri"/>
                <a:cs typeface="Calibri"/>
              </a:rPr>
              <a:t>  p,</a:t>
            </a:r>
            <a:endParaRPr lang="en-US"/>
          </a:p>
          <a:p>
            <a:r>
              <a:rPr lang="en-US" sz="600">
                <a:ea typeface="Calibri"/>
                <a:cs typeface="Calibri"/>
              </a:rPr>
              <a:t>  y,</a:t>
            </a:r>
            <a:endParaRPr lang="en-US"/>
          </a:p>
          <a:p>
            <a:r>
              <a:rPr lang="en-US" sz="600">
                <a:ea typeface="Calibri"/>
                <a:cs typeface="Calibri"/>
              </a:rPr>
              <a:t>  </a:t>
            </a:r>
            <a:r>
              <a:rPr lang="en-US" sz="600" err="1">
                <a:ea typeface="Calibri"/>
                <a:cs typeface="Calibri"/>
              </a:rPr>
              <a:t>model_name</a:t>
            </a:r>
            <a:r>
              <a:rPr lang="en-US" sz="600">
                <a:ea typeface="Calibri"/>
                <a:cs typeface="Calibri"/>
              </a:rPr>
              <a:t>,</a:t>
            </a:r>
            <a:endParaRPr lang="en-US"/>
          </a:p>
          <a:p>
            <a:r>
              <a:rPr lang="en-US" sz="600">
                <a:ea typeface="Calibri"/>
                <a:cs typeface="Calibri"/>
              </a:rPr>
              <a:t>  uplifts = c(0.02, 0.05, 0.10),</a:t>
            </a:r>
            <a:endParaRPr lang="en-US"/>
          </a:p>
          <a:p>
            <a:r>
              <a:rPr lang="en-US" sz="600">
                <a:ea typeface="Calibri"/>
                <a:cs typeface="Calibri"/>
              </a:rPr>
              <a:t>  </a:t>
            </a:r>
            <a:r>
              <a:rPr lang="en-US" sz="600" err="1">
                <a:ea typeface="Calibri"/>
                <a:cs typeface="Calibri"/>
              </a:rPr>
              <a:t>target_grid</a:t>
            </a:r>
            <a:r>
              <a:rPr lang="en-US" sz="600">
                <a:ea typeface="Calibri"/>
                <a:cs typeface="Calibri"/>
              </a:rPr>
              <a:t> = seq(0.05, 0.50, by = 0.05)</a:t>
            </a:r>
            <a:endParaRPr lang="en-US"/>
          </a:p>
          <a:p>
            <a:r>
              <a:rPr lang="en-US" sz="600">
                <a:ea typeface="Calibri"/>
                <a:cs typeface="Calibri"/>
              </a:rPr>
              <a:t>) {</a:t>
            </a:r>
            <a:endParaRPr lang="en-US"/>
          </a:p>
          <a:p>
            <a:r>
              <a:rPr lang="en-US" sz="600">
                <a:ea typeface="Calibri"/>
                <a:cs typeface="Calibri"/>
              </a:rPr>
              <a:t>  </a:t>
            </a:r>
            <a:r>
              <a:rPr lang="en-US" sz="600" err="1">
                <a:ea typeface="Calibri"/>
                <a:cs typeface="Calibri"/>
              </a:rPr>
              <a:t>df</a:t>
            </a:r>
            <a:r>
              <a:rPr lang="en-US" sz="600">
                <a:ea typeface="Calibri"/>
                <a:cs typeface="Calibri"/>
              </a:rPr>
              <a:t> &lt;- </a:t>
            </a:r>
            <a:r>
              <a:rPr lang="en-US" sz="600" err="1">
                <a:ea typeface="Calibri"/>
                <a:cs typeface="Calibri"/>
              </a:rPr>
              <a:t>data.frame</a:t>
            </a:r>
            <a:r>
              <a:rPr lang="en-US" sz="600">
                <a:ea typeface="Calibri"/>
                <a:cs typeface="Calibri"/>
              </a:rPr>
              <a:t>(p = </a:t>
            </a:r>
            <a:r>
              <a:rPr lang="en-US" sz="600" err="1">
                <a:ea typeface="Calibri"/>
                <a:cs typeface="Calibri"/>
              </a:rPr>
              <a:t>as.numeric</a:t>
            </a:r>
            <a:r>
              <a:rPr lang="en-US" sz="600">
                <a:ea typeface="Calibri"/>
                <a:cs typeface="Calibri"/>
              </a:rPr>
              <a:t>(p), y = </a:t>
            </a:r>
            <a:r>
              <a:rPr lang="en-US" sz="600" err="1">
                <a:ea typeface="Calibri"/>
                <a:cs typeface="Calibri"/>
              </a:rPr>
              <a:t>as.numeric</a:t>
            </a:r>
            <a:r>
              <a:rPr lang="en-US" sz="600">
                <a:ea typeface="Calibri"/>
                <a:cs typeface="Calibri"/>
              </a:rPr>
              <a:t>(y))</a:t>
            </a:r>
            <a:endParaRPr lang="en-US"/>
          </a:p>
          <a:p>
            <a:r>
              <a:rPr lang="en-US" sz="600">
                <a:ea typeface="Calibri"/>
                <a:cs typeface="Calibri"/>
              </a:rPr>
              <a:t>  </a:t>
            </a:r>
            <a:r>
              <a:rPr lang="en-US" sz="600" err="1">
                <a:ea typeface="Calibri"/>
                <a:cs typeface="Calibri"/>
              </a:rPr>
              <a:t>df</a:t>
            </a:r>
            <a:r>
              <a:rPr lang="en-US" sz="600">
                <a:ea typeface="Calibri"/>
                <a:cs typeface="Calibri"/>
              </a:rPr>
              <a:t> &lt;- </a:t>
            </a:r>
            <a:r>
              <a:rPr lang="en-US" sz="600" err="1">
                <a:ea typeface="Calibri"/>
                <a:cs typeface="Calibri"/>
              </a:rPr>
              <a:t>df</a:t>
            </a:r>
            <a:r>
              <a:rPr lang="en-US" sz="600">
                <a:ea typeface="Calibri"/>
                <a:cs typeface="Calibri"/>
              </a:rPr>
              <a:t>[</a:t>
            </a:r>
            <a:r>
              <a:rPr lang="en-US" sz="600" err="1">
                <a:ea typeface="Calibri"/>
                <a:cs typeface="Calibri"/>
              </a:rPr>
              <a:t>is.finite</a:t>
            </a:r>
            <a:r>
              <a:rPr lang="en-US" sz="600">
                <a:ea typeface="Calibri"/>
                <a:cs typeface="Calibri"/>
              </a:rPr>
              <a:t>(</a:t>
            </a:r>
            <a:r>
              <a:rPr lang="en-US" sz="600" err="1">
                <a:ea typeface="Calibri"/>
                <a:cs typeface="Calibri"/>
              </a:rPr>
              <a:t>df$p</a:t>
            </a:r>
            <a:r>
              <a:rPr lang="en-US" sz="600">
                <a:ea typeface="Calibri"/>
                <a:cs typeface="Calibri"/>
              </a:rPr>
              <a:t>) &amp; !is.na(</a:t>
            </a:r>
            <a:r>
              <a:rPr lang="en-US" sz="600" err="1">
                <a:ea typeface="Calibri"/>
                <a:cs typeface="Calibri"/>
              </a:rPr>
              <a:t>df$y</a:t>
            </a:r>
            <a:r>
              <a:rPr lang="en-US" sz="600">
                <a:ea typeface="Calibri"/>
                <a:cs typeface="Calibri"/>
              </a:rPr>
              <a:t>), ]</a:t>
            </a:r>
            <a:endParaRPr lang="en-US"/>
          </a:p>
          <a:p>
            <a:r>
              <a:rPr lang="en-US" sz="600">
                <a:ea typeface="Calibri"/>
                <a:cs typeface="Calibri"/>
              </a:rPr>
              <a:t>  </a:t>
            </a:r>
            <a:r>
              <a:rPr lang="en-US" sz="600" err="1">
                <a:ea typeface="Calibri"/>
                <a:cs typeface="Calibri"/>
              </a:rPr>
              <a:t>df</a:t>
            </a:r>
            <a:r>
              <a:rPr lang="en-US" sz="600">
                <a:ea typeface="Calibri"/>
                <a:cs typeface="Calibri"/>
              </a:rPr>
              <a:t> &lt;- </a:t>
            </a:r>
            <a:r>
              <a:rPr lang="en-US" sz="600" err="1">
                <a:ea typeface="Calibri"/>
                <a:cs typeface="Calibri"/>
              </a:rPr>
              <a:t>df</a:t>
            </a:r>
            <a:r>
              <a:rPr lang="en-US" sz="600">
                <a:ea typeface="Calibri"/>
                <a:cs typeface="Calibri"/>
              </a:rPr>
              <a:t>[order(</a:t>
            </a:r>
            <a:r>
              <a:rPr lang="en-US" sz="600" err="1">
                <a:ea typeface="Calibri"/>
                <a:cs typeface="Calibri"/>
              </a:rPr>
              <a:t>df$p</a:t>
            </a:r>
            <a:r>
              <a:rPr lang="en-US" sz="600">
                <a:ea typeface="Calibri"/>
                <a:cs typeface="Calibri"/>
              </a:rPr>
              <a:t>, decreasing = TRUE), ]</a:t>
            </a:r>
            <a:endParaRPr lang="en-US"/>
          </a:p>
          <a:p>
            <a:r>
              <a:rPr lang="en-US" sz="600">
                <a:ea typeface="Calibri"/>
                <a:cs typeface="Calibri"/>
              </a:rPr>
              <a:t>  </a:t>
            </a:r>
          </a:p>
          <a:p>
            <a:r>
              <a:rPr lang="en-US" sz="600">
                <a:ea typeface="Calibri"/>
                <a:cs typeface="Calibri"/>
              </a:rPr>
              <a:t>  res &lt;- </a:t>
            </a:r>
            <a:r>
              <a:rPr lang="en-US" sz="600" err="1">
                <a:ea typeface="Calibri"/>
                <a:cs typeface="Calibri"/>
              </a:rPr>
              <a:t>data.frame</a:t>
            </a:r>
            <a:r>
              <a:rPr lang="en-US" sz="600">
                <a:ea typeface="Calibri"/>
                <a:cs typeface="Calibri"/>
              </a:rPr>
              <a:t>()</a:t>
            </a:r>
            <a:endParaRPr lang="en-US"/>
          </a:p>
          <a:p>
            <a:r>
              <a:rPr lang="en-US" sz="600">
                <a:ea typeface="Calibri"/>
                <a:cs typeface="Calibri"/>
              </a:rPr>
              <a:t>  n &lt;- </a:t>
            </a:r>
            <a:r>
              <a:rPr lang="en-US" sz="600" err="1">
                <a:ea typeface="Calibri"/>
                <a:cs typeface="Calibri"/>
              </a:rPr>
              <a:t>nrow</a:t>
            </a:r>
            <a:r>
              <a:rPr lang="en-US" sz="600">
                <a:ea typeface="Calibri"/>
                <a:cs typeface="Calibri"/>
              </a:rPr>
              <a:t>(</a:t>
            </a:r>
            <a:r>
              <a:rPr lang="en-US" sz="600" err="1">
                <a:ea typeface="Calibri"/>
                <a:cs typeface="Calibri"/>
              </a:rPr>
              <a:t>df</a:t>
            </a:r>
            <a:r>
              <a:rPr lang="en-US" sz="600">
                <a:ea typeface="Calibri"/>
                <a:cs typeface="Calibri"/>
              </a:rPr>
              <a:t>)</a:t>
            </a:r>
            <a:endParaRPr lang="en-US"/>
          </a:p>
          <a:p>
            <a:r>
              <a:rPr lang="en-US" sz="600">
                <a:ea typeface="Calibri"/>
                <a:cs typeface="Calibri"/>
              </a:rPr>
              <a:t>  </a:t>
            </a:r>
          </a:p>
          <a:p>
            <a:r>
              <a:rPr lang="en-US" sz="600">
                <a:ea typeface="Calibri"/>
                <a:cs typeface="Calibri"/>
              </a:rPr>
              <a:t>  for (u in uplifts) {</a:t>
            </a:r>
            <a:endParaRPr lang="en-US"/>
          </a:p>
          <a:p>
            <a:r>
              <a:rPr lang="en-US" sz="600">
                <a:ea typeface="Calibri"/>
                <a:cs typeface="Calibri"/>
              </a:rPr>
              <a:t>    for (t in </a:t>
            </a:r>
            <a:r>
              <a:rPr lang="en-US" sz="600" err="1">
                <a:ea typeface="Calibri"/>
                <a:cs typeface="Calibri"/>
              </a:rPr>
              <a:t>target_grid</a:t>
            </a:r>
            <a:r>
              <a:rPr lang="en-US" sz="600">
                <a:ea typeface="Calibri"/>
                <a:cs typeface="Calibri"/>
              </a:rPr>
              <a:t>) {</a:t>
            </a:r>
            <a:endParaRPr lang="en-US"/>
          </a:p>
          <a:p>
            <a:r>
              <a:rPr lang="en-US" sz="600">
                <a:ea typeface="Calibri"/>
                <a:cs typeface="Calibri"/>
              </a:rPr>
              <a:t>      k &lt;- ceiling(t * n)</a:t>
            </a:r>
            <a:endParaRPr lang="en-US"/>
          </a:p>
          <a:p>
            <a:r>
              <a:rPr lang="en-US" sz="600">
                <a:ea typeface="Calibri"/>
                <a:cs typeface="Calibri"/>
              </a:rPr>
              <a:t>      </a:t>
            </a:r>
            <a:r>
              <a:rPr lang="en-US" sz="600" err="1">
                <a:ea typeface="Calibri"/>
                <a:cs typeface="Calibri"/>
              </a:rPr>
              <a:t>idx</a:t>
            </a:r>
            <a:r>
              <a:rPr lang="en-US" sz="600">
                <a:ea typeface="Calibri"/>
                <a:cs typeface="Calibri"/>
              </a:rPr>
              <a:t> &lt;- 1:k</a:t>
            </a:r>
            <a:endParaRPr lang="en-US"/>
          </a:p>
          <a:p>
            <a:r>
              <a:rPr lang="en-US" sz="600">
                <a:ea typeface="Calibri"/>
                <a:cs typeface="Calibri"/>
              </a:rPr>
              <a:t>      </a:t>
            </a:r>
          </a:p>
          <a:p>
            <a:r>
              <a:rPr lang="en-US" sz="600">
                <a:ea typeface="Calibri"/>
                <a:cs typeface="Calibri"/>
              </a:rPr>
              <a:t>      </a:t>
            </a:r>
            <a:r>
              <a:rPr lang="en-US" sz="600" err="1">
                <a:ea typeface="Calibri"/>
                <a:cs typeface="Calibri"/>
              </a:rPr>
              <a:t>p_uplift</a:t>
            </a:r>
            <a:r>
              <a:rPr lang="en-US" sz="600">
                <a:ea typeface="Calibri"/>
                <a:cs typeface="Calibri"/>
              </a:rPr>
              <a:t> &lt;- </a:t>
            </a:r>
            <a:r>
              <a:rPr lang="en-US" sz="600" err="1">
                <a:ea typeface="Calibri"/>
                <a:cs typeface="Calibri"/>
              </a:rPr>
              <a:t>df$p</a:t>
            </a:r>
            <a:endParaRPr lang="en-US" sz="600">
              <a:ea typeface="Calibri"/>
              <a:cs typeface="Calibri"/>
            </a:endParaRPr>
          </a:p>
          <a:p>
            <a:r>
              <a:rPr lang="en-US" sz="600">
                <a:ea typeface="Calibri"/>
                <a:cs typeface="Calibri"/>
              </a:rPr>
              <a:t>      </a:t>
            </a:r>
            <a:r>
              <a:rPr lang="en-US" sz="600" err="1">
                <a:ea typeface="Calibri"/>
                <a:cs typeface="Calibri"/>
              </a:rPr>
              <a:t>p_uplift</a:t>
            </a:r>
            <a:r>
              <a:rPr lang="en-US" sz="600">
                <a:ea typeface="Calibri"/>
                <a:cs typeface="Calibri"/>
              </a:rPr>
              <a:t>[</a:t>
            </a:r>
            <a:r>
              <a:rPr lang="en-US" sz="600" err="1">
                <a:ea typeface="Calibri"/>
                <a:cs typeface="Calibri"/>
              </a:rPr>
              <a:t>idx</a:t>
            </a:r>
            <a:r>
              <a:rPr lang="en-US" sz="600">
                <a:ea typeface="Calibri"/>
                <a:cs typeface="Calibri"/>
              </a:rPr>
              <a:t>] &lt;- </a:t>
            </a:r>
            <a:r>
              <a:rPr lang="en-US" sz="600" err="1">
                <a:ea typeface="Calibri"/>
                <a:cs typeface="Calibri"/>
              </a:rPr>
              <a:t>pmin</a:t>
            </a:r>
            <a:r>
              <a:rPr lang="en-US" sz="600">
                <a:ea typeface="Calibri"/>
                <a:cs typeface="Calibri"/>
              </a:rPr>
              <a:t>(1, </a:t>
            </a:r>
            <a:r>
              <a:rPr lang="en-US" sz="600" err="1">
                <a:ea typeface="Calibri"/>
                <a:cs typeface="Calibri"/>
              </a:rPr>
              <a:t>p_uplift</a:t>
            </a:r>
            <a:r>
              <a:rPr lang="en-US" sz="600">
                <a:ea typeface="Calibri"/>
                <a:cs typeface="Calibri"/>
              </a:rPr>
              <a:t>[</a:t>
            </a:r>
            <a:r>
              <a:rPr lang="en-US" sz="600" err="1">
                <a:ea typeface="Calibri"/>
                <a:cs typeface="Calibri"/>
              </a:rPr>
              <a:t>idx</a:t>
            </a:r>
            <a:r>
              <a:rPr lang="en-US" sz="600">
                <a:ea typeface="Calibri"/>
                <a:cs typeface="Calibri"/>
              </a:rPr>
              <a:t>] + u)</a:t>
            </a:r>
            <a:endParaRPr lang="en-US"/>
          </a:p>
          <a:p>
            <a:r>
              <a:rPr lang="en-US" sz="600">
                <a:ea typeface="Calibri"/>
                <a:cs typeface="Calibri"/>
              </a:rPr>
              <a:t>      </a:t>
            </a:r>
          </a:p>
          <a:p>
            <a:r>
              <a:rPr lang="en-US" sz="600">
                <a:ea typeface="Calibri"/>
                <a:cs typeface="Calibri"/>
              </a:rPr>
              <a:t>      </a:t>
            </a:r>
            <a:r>
              <a:rPr lang="en-US" sz="600" err="1">
                <a:ea typeface="Calibri"/>
                <a:cs typeface="Calibri"/>
              </a:rPr>
              <a:t>EV_base</a:t>
            </a:r>
            <a:r>
              <a:rPr lang="en-US" sz="600">
                <a:ea typeface="Calibri"/>
                <a:cs typeface="Calibri"/>
              </a:rPr>
              <a:t> &lt;- </a:t>
            </a:r>
            <a:r>
              <a:rPr lang="en-US" sz="600" err="1">
                <a:ea typeface="Calibri"/>
                <a:cs typeface="Calibri"/>
              </a:rPr>
              <a:t>expected_value_no_offer</a:t>
            </a:r>
            <a:r>
              <a:rPr lang="en-US" sz="600">
                <a:ea typeface="Calibri"/>
                <a:cs typeface="Calibri"/>
              </a:rPr>
              <a:t>(</a:t>
            </a:r>
            <a:r>
              <a:rPr lang="en-US" sz="600" err="1">
                <a:ea typeface="Calibri"/>
                <a:cs typeface="Calibri"/>
              </a:rPr>
              <a:t>df$p</a:t>
            </a:r>
            <a:r>
              <a:rPr lang="en-US" sz="600">
                <a:ea typeface="Calibri"/>
                <a:cs typeface="Calibri"/>
              </a:rPr>
              <a:t>)</a:t>
            </a:r>
            <a:endParaRPr lang="en-US"/>
          </a:p>
          <a:p>
            <a:r>
              <a:rPr lang="en-US" sz="600">
                <a:ea typeface="Calibri"/>
                <a:cs typeface="Calibri"/>
              </a:rPr>
              <a:t>      </a:t>
            </a:r>
            <a:r>
              <a:rPr lang="en-US" sz="600" err="1">
                <a:ea typeface="Calibri"/>
                <a:cs typeface="Calibri"/>
              </a:rPr>
              <a:t>EV_offer</a:t>
            </a:r>
            <a:r>
              <a:rPr lang="en-US" sz="600">
                <a:ea typeface="Calibri"/>
                <a:cs typeface="Calibri"/>
              </a:rPr>
              <a:t> &lt;- </a:t>
            </a:r>
            <a:r>
              <a:rPr lang="en-US" sz="600" err="1">
                <a:ea typeface="Calibri"/>
                <a:cs typeface="Calibri"/>
              </a:rPr>
              <a:t>EV_base</a:t>
            </a:r>
            <a:endParaRPr lang="en-US" sz="600">
              <a:ea typeface="Calibri"/>
              <a:cs typeface="Calibri"/>
            </a:endParaRPr>
          </a:p>
          <a:p>
            <a:r>
              <a:rPr lang="en-US" sz="600">
                <a:ea typeface="Calibri"/>
                <a:cs typeface="Calibri"/>
              </a:rPr>
              <a:t>      </a:t>
            </a:r>
            <a:r>
              <a:rPr lang="en-US" sz="600" err="1">
                <a:ea typeface="Calibri"/>
                <a:cs typeface="Calibri"/>
              </a:rPr>
              <a:t>EV_offer</a:t>
            </a:r>
            <a:r>
              <a:rPr lang="en-US" sz="600">
                <a:ea typeface="Calibri"/>
                <a:cs typeface="Calibri"/>
              </a:rPr>
              <a:t>[</a:t>
            </a:r>
            <a:r>
              <a:rPr lang="en-US" sz="600" err="1">
                <a:ea typeface="Calibri"/>
                <a:cs typeface="Calibri"/>
              </a:rPr>
              <a:t>idx</a:t>
            </a:r>
            <a:r>
              <a:rPr lang="en-US" sz="600">
                <a:ea typeface="Calibri"/>
                <a:cs typeface="Calibri"/>
              </a:rPr>
              <a:t>] &lt;- </a:t>
            </a:r>
            <a:r>
              <a:rPr lang="en-US" sz="600" err="1">
                <a:ea typeface="Calibri"/>
                <a:cs typeface="Calibri"/>
              </a:rPr>
              <a:t>expected_value_with_offer</a:t>
            </a:r>
            <a:r>
              <a:rPr lang="en-US" sz="600">
                <a:ea typeface="Calibri"/>
                <a:cs typeface="Calibri"/>
              </a:rPr>
              <a:t>(</a:t>
            </a:r>
            <a:r>
              <a:rPr lang="en-US" sz="600" err="1">
                <a:ea typeface="Calibri"/>
                <a:cs typeface="Calibri"/>
              </a:rPr>
              <a:t>p_uplift</a:t>
            </a:r>
            <a:r>
              <a:rPr lang="en-US" sz="600">
                <a:ea typeface="Calibri"/>
                <a:cs typeface="Calibri"/>
              </a:rPr>
              <a:t>[</a:t>
            </a:r>
            <a:r>
              <a:rPr lang="en-US" sz="600" err="1">
                <a:ea typeface="Calibri"/>
                <a:cs typeface="Calibri"/>
              </a:rPr>
              <a:t>idx</a:t>
            </a:r>
            <a:r>
              <a:rPr lang="en-US" sz="600">
                <a:ea typeface="Calibri"/>
                <a:cs typeface="Calibri"/>
              </a:rPr>
              <a:t>])</a:t>
            </a:r>
            <a:endParaRPr lang="en-US"/>
          </a:p>
          <a:p>
            <a:r>
              <a:rPr lang="en-US" sz="600">
                <a:ea typeface="Calibri"/>
                <a:cs typeface="Calibri"/>
              </a:rPr>
              <a:t>      </a:t>
            </a:r>
          </a:p>
          <a:p>
            <a:r>
              <a:rPr lang="en-US" sz="600">
                <a:ea typeface="Calibri"/>
                <a:cs typeface="Calibri"/>
              </a:rPr>
              <a:t>      </a:t>
            </a:r>
            <a:r>
              <a:rPr lang="en-US" sz="600" err="1">
                <a:ea typeface="Calibri"/>
                <a:cs typeface="Calibri"/>
              </a:rPr>
              <a:t>delta_EV</a:t>
            </a:r>
            <a:r>
              <a:rPr lang="en-US" sz="600">
                <a:ea typeface="Calibri"/>
                <a:cs typeface="Calibri"/>
              </a:rPr>
              <a:t> &lt;- sum(</a:t>
            </a:r>
            <a:r>
              <a:rPr lang="en-US" sz="600" err="1">
                <a:ea typeface="Calibri"/>
                <a:cs typeface="Calibri"/>
              </a:rPr>
              <a:t>EV_offer</a:t>
            </a:r>
            <a:r>
              <a:rPr lang="en-US" sz="600">
                <a:ea typeface="Calibri"/>
                <a:cs typeface="Calibri"/>
              </a:rPr>
              <a:t> - </a:t>
            </a:r>
            <a:r>
              <a:rPr lang="en-US" sz="600" err="1">
                <a:ea typeface="Calibri"/>
                <a:cs typeface="Calibri"/>
              </a:rPr>
              <a:t>EV_base</a:t>
            </a:r>
            <a:r>
              <a:rPr lang="en-US" sz="600">
                <a:ea typeface="Calibri"/>
                <a:cs typeface="Calibri"/>
              </a:rPr>
              <a:t>)</a:t>
            </a:r>
            <a:endParaRPr lang="en-US"/>
          </a:p>
          <a:p>
            <a:r>
              <a:rPr lang="en-US" sz="600">
                <a:ea typeface="Calibri"/>
                <a:cs typeface="Calibri"/>
              </a:rPr>
              <a:t>      </a:t>
            </a:r>
          </a:p>
          <a:p>
            <a:r>
              <a:rPr lang="en-US" sz="600">
                <a:ea typeface="Calibri"/>
                <a:cs typeface="Calibri"/>
              </a:rPr>
              <a:t>      res &lt;- </a:t>
            </a:r>
            <a:r>
              <a:rPr lang="en-US" sz="600" err="1">
                <a:ea typeface="Calibri"/>
                <a:cs typeface="Calibri"/>
              </a:rPr>
              <a:t>rbind</a:t>
            </a:r>
            <a:r>
              <a:rPr lang="en-US" sz="600">
                <a:ea typeface="Calibri"/>
                <a:cs typeface="Calibri"/>
              </a:rPr>
              <a:t>(</a:t>
            </a:r>
            <a:endParaRPr lang="en-US"/>
          </a:p>
          <a:p>
            <a:r>
              <a:rPr lang="en-US" sz="600">
                <a:ea typeface="Calibri"/>
                <a:cs typeface="Calibri"/>
              </a:rPr>
              <a:t>        res,</a:t>
            </a:r>
            <a:endParaRPr lang="en-US"/>
          </a:p>
          <a:p>
            <a:r>
              <a:rPr lang="en-US" sz="600">
                <a:ea typeface="Calibri"/>
                <a:cs typeface="Calibri"/>
              </a:rPr>
              <a:t>        </a:t>
            </a:r>
            <a:r>
              <a:rPr lang="en-US" sz="600" err="1">
                <a:ea typeface="Calibri"/>
                <a:cs typeface="Calibri"/>
              </a:rPr>
              <a:t>data.frame</a:t>
            </a:r>
            <a:r>
              <a:rPr lang="en-US" sz="600">
                <a:ea typeface="Calibri"/>
                <a:cs typeface="Calibri"/>
              </a:rPr>
              <a:t>(</a:t>
            </a:r>
            <a:endParaRPr lang="en-US"/>
          </a:p>
          <a:p>
            <a:r>
              <a:rPr lang="en-US" sz="600">
                <a:ea typeface="Calibri"/>
                <a:cs typeface="Calibri"/>
              </a:rPr>
              <a:t>          model = </a:t>
            </a:r>
            <a:r>
              <a:rPr lang="en-US" sz="600" err="1">
                <a:ea typeface="Calibri"/>
                <a:cs typeface="Calibri"/>
              </a:rPr>
              <a:t>model_name</a:t>
            </a:r>
            <a:r>
              <a:rPr lang="en-US" sz="600">
                <a:ea typeface="Calibri"/>
                <a:cs typeface="Calibri"/>
              </a:rPr>
              <a:t>,</a:t>
            </a:r>
            <a:endParaRPr lang="en-US"/>
          </a:p>
          <a:p>
            <a:r>
              <a:rPr lang="en-US" sz="600">
                <a:ea typeface="Calibri"/>
                <a:cs typeface="Calibri"/>
              </a:rPr>
              <a:t>          uplift = paste0("+", round(u * 100), "% uplift"),</a:t>
            </a:r>
            <a:endParaRPr lang="en-US"/>
          </a:p>
          <a:p>
            <a:r>
              <a:rPr lang="en-US" sz="600">
                <a:ea typeface="Calibri"/>
                <a:cs typeface="Calibri"/>
              </a:rPr>
              <a:t>          </a:t>
            </a:r>
            <a:r>
              <a:rPr lang="en-US" sz="600" err="1">
                <a:ea typeface="Calibri"/>
                <a:cs typeface="Calibri"/>
              </a:rPr>
              <a:t>target_top_pct</a:t>
            </a:r>
            <a:r>
              <a:rPr lang="en-US" sz="600">
                <a:ea typeface="Calibri"/>
                <a:cs typeface="Calibri"/>
              </a:rPr>
              <a:t> = t,</a:t>
            </a:r>
            <a:endParaRPr lang="en-US"/>
          </a:p>
          <a:p>
            <a:r>
              <a:rPr lang="en-US" sz="600">
                <a:ea typeface="Calibri"/>
                <a:cs typeface="Calibri"/>
              </a:rPr>
              <a:t>          </a:t>
            </a:r>
            <a:r>
              <a:rPr lang="en-US" sz="600" err="1">
                <a:ea typeface="Calibri"/>
                <a:cs typeface="Calibri"/>
              </a:rPr>
              <a:t>total_delta_EV</a:t>
            </a:r>
            <a:r>
              <a:rPr lang="en-US" sz="600">
                <a:ea typeface="Calibri"/>
                <a:cs typeface="Calibri"/>
              </a:rPr>
              <a:t> = </a:t>
            </a:r>
            <a:r>
              <a:rPr lang="en-US" sz="600" err="1">
                <a:ea typeface="Calibri"/>
                <a:cs typeface="Calibri"/>
              </a:rPr>
              <a:t>delta_EV</a:t>
            </a:r>
            <a:endParaRPr lang="en-US" sz="600">
              <a:ea typeface="Calibri"/>
              <a:cs typeface="Calibri"/>
            </a:endParaRPr>
          </a:p>
          <a:p>
            <a:r>
              <a:rPr lang="en-US" sz="600">
                <a:ea typeface="Calibri"/>
                <a:cs typeface="Calibri"/>
              </a:rPr>
              <a:t>        )</a:t>
            </a:r>
            <a:endParaRPr lang="en-US"/>
          </a:p>
          <a:p>
            <a:r>
              <a:rPr lang="en-US" sz="600">
                <a:ea typeface="Calibri"/>
                <a:cs typeface="Calibri"/>
              </a:rPr>
              <a:t>      )</a:t>
            </a:r>
            <a:endParaRPr lang="en-US"/>
          </a:p>
          <a:p>
            <a:r>
              <a:rPr lang="en-US" sz="600">
                <a:ea typeface="Calibri"/>
                <a:cs typeface="Calibri"/>
              </a:rPr>
              <a:t>    }</a:t>
            </a:r>
            <a:endParaRPr lang="en-US"/>
          </a:p>
          <a:p>
            <a:r>
              <a:rPr lang="en-US" sz="600">
                <a:ea typeface="Calibri"/>
                <a:cs typeface="Calibri"/>
              </a:rPr>
              <a:t>  }</a:t>
            </a:r>
            <a:endParaRPr lang="en-US"/>
          </a:p>
          <a:p>
            <a:endParaRPr lang="en-US" sz="600">
              <a:ea typeface="Calibri"/>
              <a:cs typeface="Calibri"/>
            </a:endParaRPr>
          </a:p>
          <a:p>
            <a:endParaRPr lang="en-US" sz="600">
              <a:ea typeface="Calibri"/>
              <a:cs typeface="Calibri"/>
            </a:endParaRPr>
          </a:p>
        </p:txBody>
      </p:sp>
      <p:sp>
        <p:nvSpPr>
          <p:cNvPr id="5" name="TextBox 4">
            <a:extLst>
              <a:ext uri="{FF2B5EF4-FFF2-40B4-BE49-F238E27FC236}">
                <a16:creationId xmlns:a16="http://schemas.microsoft.com/office/drawing/2014/main" id="{D618514B-8EB1-5DD5-1EC5-AC321067F873}"/>
              </a:ext>
            </a:extLst>
          </p:cNvPr>
          <p:cNvSpPr txBox="1"/>
          <p:nvPr/>
        </p:nvSpPr>
        <p:spPr>
          <a:xfrm>
            <a:off x="8940800" y="241300"/>
            <a:ext cx="6096000"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a:ea typeface="+mn-lt"/>
                <a:cs typeface="+mn-lt"/>
              </a:rPr>
              <a:t>  res</a:t>
            </a:r>
          </a:p>
          <a:p>
            <a:r>
              <a:rPr lang="en-US" sz="600">
                <a:ea typeface="+mn-lt"/>
                <a:cs typeface="+mn-lt"/>
              </a:rPr>
              <a:t>}</a:t>
            </a:r>
          </a:p>
          <a:p>
            <a:endParaRPr lang="en-US" sz="600">
              <a:ea typeface="Calibri"/>
              <a:cs typeface="Calibri"/>
            </a:endParaRPr>
          </a:p>
          <a:p>
            <a:r>
              <a:rPr lang="en-US" sz="600">
                <a:ea typeface="+mn-lt"/>
                <a:cs typeface="+mn-lt"/>
              </a:rPr>
              <a:t># Compute profit curves</a:t>
            </a:r>
          </a:p>
          <a:p>
            <a:r>
              <a:rPr lang="en-US" sz="600" err="1">
                <a:ea typeface="+mn-lt"/>
                <a:cs typeface="+mn-lt"/>
              </a:rPr>
              <a:t>profit_level</a:t>
            </a:r>
            <a:r>
              <a:rPr lang="en-US" sz="600">
                <a:ea typeface="+mn-lt"/>
                <a:cs typeface="+mn-lt"/>
              </a:rPr>
              <a:t> &lt;- </a:t>
            </a:r>
            <a:r>
              <a:rPr lang="en-US" sz="600" err="1">
                <a:ea typeface="+mn-lt"/>
                <a:cs typeface="+mn-lt"/>
              </a:rPr>
              <a:t>profit_curve</a:t>
            </a:r>
            <a:r>
              <a:rPr lang="en-US" sz="600">
                <a:ea typeface="+mn-lt"/>
                <a:cs typeface="+mn-lt"/>
              </a:rPr>
              <a:t>(</a:t>
            </a:r>
          </a:p>
          <a:p>
            <a:r>
              <a:rPr lang="en-US" sz="600">
                <a:ea typeface="+mn-lt"/>
                <a:cs typeface="+mn-lt"/>
              </a:rPr>
              <a:t>  </a:t>
            </a:r>
            <a:r>
              <a:rPr lang="en-US" sz="600" err="1">
                <a:ea typeface="+mn-lt"/>
                <a:cs typeface="+mn-lt"/>
              </a:rPr>
              <a:t>p_level</a:t>
            </a:r>
            <a:r>
              <a:rPr lang="en-US" sz="600">
                <a:ea typeface="+mn-lt"/>
                <a:cs typeface="+mn-lt"/>
              </a:rPr>
              <a:t>,</a:t>
            </a:r>
          </a:p>
          <a:p>
            <a:r>
              <a:rPr lang="en-US" sz="600">
                <a:ea typeface="+mn-lt"/>
                <a:cs typeface="+mn-lt"/>
              </a:rPr>
              <a:t>  </a:t>
            </a:r>
            <a:r>
              <a:rPr lang="en-US" sz="600" err="1">
                <a:ea typeface="+mn-lt"/>
                <a:cs typeface="+mn-lt"/>
              </a:rPr>
              <a:t>y_valid</a:t>
            </a:r>
            <a:r>
              <a:rPr lang="en-US" sz="600">
                <a:ea typeface="+mn-lt"/>
                <a:cs typeface="+mn-lt"/>
              </a:rPr>
              <a:t>,</a:t>
            </a:r>
          </a:p>
          <a:p>
            <a:r>
              <a:rPr lang="en-US" sz="600">
                <a:ea typeface="+mn-lt"/>
                <a:cs typeface="+mn-lt"/>
              </a:rPr>
              <a:t>  "Level Logistic Regression"</a:t>
            </a:r>
          </a:p>
          <a:p>
            <a:r>
              <a:rPr lang="en-US" sz="600">
                <a:ea typeface="+mn-lt"/>
                <a:cs typeface="+mn-lt"/>
              </a:rPr>
              <a:t>)</a:t>
            </a:r>
          </a:p>
          <a:p>
            <a:endParaRPr lang="en-US" sz="600">
              <a:ea typeface="Calibri"/>
              <a:cs typeface="Calibri"/>
            </a:endParaRPr>
          </a:p>
          <a:p>
            <a:r>
              <a:rPr lang="en-US" sz="600" err="1">
                <a:ea typeface="+mn-lt"/>
                <a:cs typeface="+mn-lt"/>
              </a:rPr>
              <a:t>profit_delta</a:t>
            </a:r>
            <a:r>
              <a:rPr lang="en-US" sz="600">
                <a:ea typeface="+mn-lt"/>
                <a:cs typeface="+mn-lt"/>
              </a:rPr>
              <a:t> &lt;- </a:t>
            </a:r>
            <a:r>
              <a:rPr lang="en-US" sz="600" err="1">
                <a:ea typeface="+mn-lt"/>
                <a:cs typeface="+mn-lt"/>
              </a:rPr>
              <a:t>profit_curve</a:t>
            </a:r>
            <a:r>
              <a:rPr lang="en-US" sz="600">
                <a:ea typeface="+mn-lt"/>
                <a:cs typeface="+mn-lt"/>
              </a:rPr>
              <a:t>(</a:t>
            </a:r>
          </a:p>
          <a:p>
            <a:r>
              <a:rPr lang="en-US" sz="600">
                <a:ea typeface="+mn-lt"/>
                <a:cs typeface="+mn-lt"/>
              </a:rPr>
              <a:t>  </a:t>
            </a:r>
            <a:r>
              <a:rPr lang="en-US" sz="600" err="1">
                <a:ea typeface="+mn-lt"/>
                <a:cs typeface="+mn-lt"/>
              </a:rPr>
              <a:t>p_delta</a:t>
            </a:r>
            <a:r>
              <a:rPr lang="en-US" sz="600">
                <a:ea typeface="+mn-lt"/>
                <a:cs typeface="+mn-lt"/>
              </a:rPr>
              <a:t>,</a:t>
            </a:r>
          </a:p>
          <a:p>
            <a:r>
              <a:rPr lang="en-US" sz="600">
                <a:ea typeface="+mn-lt"/>
                <a:cs typeface="+mn-lt"/>
              </a:rPr>
              <a:t>  </a:t>
            </a:r>
            <a:r>
              <a:rPr lang="en-US" sz="600" err="1">
                <a:ea typeface="+mn-lt"/>
                <a:cs typeface="+mn-lt"/>
              </a:rPr>
              <a:t>y_valid</a:t>
            </a:r>
            <a:r>
              <a:rPr lang="en-US" sz="600">
                <a:ea typeface="+mn-lt"/>
                <a:cs typeface="+mn-lt"/>
              </a:rPr>
              <a:t>,</a:t>
            </a:r>
          </a:p>
          <a:p>
            <a:r>
              <a:rPr lang="en-US" sz="600">
                <a:ea typeface="+mn-lt"/>
                <a:cs typeface="+mn-lt"/>
              </a:rPr>
              <a:t>  "Delta Logistic Regression"</a:t>
            </a:r>
          </a:p>
          <a:p>
            <a:r>
              <a:rPr lang="en-US" sz="600">
                <a:ea typeface="+mn-lt"/>
                <a:cs typeface="+mn-lt"/>
              </a:rPr>
              <a:t>)</a:t>
            </a:r>
          </a:p>
          <a:p>
            <a:endParaRPr lang="en-US" sz="600">
              <a:ea typeface="Calibri"/>
              <a:cs typeface="Calibri"/>
            </a:endParaRPr>
          </a:p>
          <a:p>
            <a:r>
              <a:rPr lang="en-US" sz="600" err="1">
                <a:ea typeface="+mn-lt"/>
                <a:cs typeface="+mn-lt"/>
              </a:rPr>
              <a:t>profit_ld</a:t>
            </a:r>
            <a:r>
              <a:rPr lang="en-US" sz="600">
                <a:ea typeface="+mn-lt"/>
                <a:cs typeface="+mn-lt"/>
              </a:rPr>
              <a:t> &lt;- </a:t>
            </a:r>
            <a:r>
              <a:rPr lang="en-US" sz="600" err="1">
                <a:ea typeface="+mn-lt"/>
                <a:cs typeface="+mn-lt"/>
              </a:rPr>
              <a:t>rbind</a:t>
            </a:r>
            <a:r>
              <a:rPr lang="en-US" sz="600">
                <a:ea typeface="+mn-lt"/>
                <a:cs typeface="+mn-lt"/>
              </a:rPr>
              <a:t>(</a:t>
            </a:r>
            <a:r>
              <a:rPr lang="en-US" sz="600" err="1">
                <a:ea typeface="+mn-lt"/>
                <a:cs typeface="+mn-lt"/>
              </a:rPr>
              <a:t>profit_level</a:t>
            </a:r>
            <a:r>
              <a:rPr lang="en-US" sz="600">
                <a:ea typeface="+mn-lt"/>
                <a:cs typeface="+mn-lt"/>
              </a:rPr>
              <a:t>, </a:t>
            </a:r>
            <a:r>
              <a:rPr lang="en-US" sz="600" err="1">
                <a:ea typeface="+mn-lt"/>
                <a:cs typeface="+mn-lt"/>
              </a:rPr>
              <a:t>profit_delta</a:t>
            </a:r>
            <a:r>
              <a:rPr lang="en-US" sz="600">
                <a:ea typeface="+mn-lt"/>
                <a:cs typeface="+mn-lt"/>
              </a:rPr>
              <a:t>)</a:t>
            </a:r>
          </a:p>
          <a:p>
            <a:endParaRPr lang="en-US" sz="600">
              <a:ea typeface="Calibri"/>
              <a:cs typeface="Calibri"/>
            </a:endParaRPr>
          </a:p>
          <a:p>
            <a:r>
              <a:rPr lang="en-US" sz="600">
                <a:ea typeface="+mn-lt"/>
                <a:cs typeface="+mn-lt"/>
              </a:rPr>
              <a:t># Plot profit sensitivity</a:t>
            </a:r>
          </a:p>
          <a:p>
            <a:r>
              <a:rPr lang="en-US" sz="600" err="1">
                <a:ea typeface="+mn-lt"/>
                <a:cs typeface="+mn-lt"/>
              </a:rPr>
              <a:t>ggplot</a:t>
            </a:r>
            <a:r>
              <a:rPr lang="en-US" sz="600">
                <a:ea typeface="+mn-lt"/>
                <a:cs typeface="+mn-lt"/>
              </a:rPr>
              <a:t>(</a:t>
            </a:r>
          </a:p>
          <a:p>
            <a:r>
              <a:rPr lang="en-US" sz="600">
                <a:ea typeface="+mn-lt"/>
                <a:cs typeface="+mn-lt"/>
              </a:rPr>
              <a:t>  </a:t>
            </a:r>
            <a:r>
              <a:rPr lang="en-US" sz="600" err="1">
                <a:ea typeface="+mn-lt"/>
                <a:cs typeface="+mn-lt"/>
              </a:rPr>
              <a:t>profit_ld</a:t>
            </a:r>
            <a:r>
              <a:rPr lang="en-US" sz="600">
                <a:ea typeface="+mn-lt"/>
                <a:cs typeface="+mn-lt"/>
              </a:rPr>
              <a:t>,</a:t>
            </a:r>
          </a:p>
          <a:p>
            <a:r>
              <a:rPr lang="en-US" sz="600">
                <a:ea typeface="+mn-lt"/>
                <a:cs typeface="+mn-lt"/>
              </a:rPr>
              <a:t>  </a:t>
            </a:r>
            <a:r>
              <a:rPr lang="en-US" sz="600" err="1">
                <a:ea typeface="+mn-lt"/>
                <a:cs typeface="+mn-lt"/>
              </a:rPr>
              <a:t>aes</a:t>
            </a:r>
            <a:r>
              <a:rPr lang="en-US" sz="600">
                <a:ea typeface="+mn-lt"/>
                <a:cs typeface="+mn-lt"/>
              </a:rPr>
              <a:t>(</a:t>
            </a:r>
          </a:p>
          <a:p>
            <a:r>
              <a:rPr lang="en-US" sz="600">
                <a:ea typeface="+mn-lt"/>
                <a:cs typeface="+mn-lt"/>
              </a:rPr>
              <a:t>    x = </a:t>
            </a:r>
            <a:r>
              <a:rPr lang="en-US" sz="600" err="1">
                <a:ea typeface="+mn-lt"/>
                <a:cs typeface="+mn-lt"/>
              </a:rPr>
              <a:t>target_top_pct</a:t>
            </a:r>
            <a:r>
              <a:rPr lang="en-US" sz="600">
                <a:ea typeface="+mn-lt"/>
                <a:cs typeface="+mn-lt"/>
              </a:rPr>
              <a:t>,</a:t>
            </a:r>
          </a:p>
          <a:p>
            <a:r>
              <a:rPr lang="en-US" sz="600">
                <a:ea typeface="+mn-lt"/>
                <a:cs typeface="+mn-lt"/>
              </a:rPr>
              <a:t>    y = </a:t>
            </a:r>
            <a:r>
              <a:rPr lang="en-US" sz="600" err="1">
                <a:ea typeface="+mn-lt"/>
                <a:cs typeface="+mn-lt"/>
              </a:rPr>
              <a:t>total_delta_EV</a:t>
            </a:r>
            <a:r>
              <a:rPr lang="en-US" sz="600">
                <a:ea typeface="+mn-lt"/>
                <a:cs typeface="+mn-lt"/>
              </a:rPr>
              <a:t>,</a:t>
            </a:r>
          </a:p>
          <a:p>
            <a:r>
              <a:rPr lang="en-US" sz="600">
                <a:ea typeface="+mn-lt"/>
                <a:cs typeface="+mn-lt"/>
              </a:rPr>
              <a:t>    color = model,</a:t>
            </a:r>
          </a:p>
          <a:p>
            <a:r>
              <a:rPr lang="en-US" sz="600">
                <a:ea typeface="+mn-lt"/>
                <a:cs typeface="+mn-lt"/>
              </a:rPr>
              <a:t>    </a:t>
            </a:r>
            <a:r>
              <a:rPr lang="en-US" sz="600" err="1">
                <a:ea typeface="+mn-lt"/>
                <a:cs typeface="+mn-lt"/>
              </a:rPr>
              <a:t>linetype</a:t>
            </a:r>
            <a:r>
              <a:rPr lang="en-US" sz="600">
                <a:ea typeface="+mn-lt"/>
                <a:cs typeface="+mn-lt"/>
              </a:rPr>
              <a:t> = model,</a:t>
            </a:r>
          </a:p>
          <a:p>
            <a:r>
              <a:rPr lang="en-US" sz="600">
                <a:ea typeface="+mn-lt"/>
                <a:cs typeface="+mn-lt"/>
              </a:rPr>
              <a:t>    group = model</a:t>
            </a:r>
          </a:p>
          <a:p>
            <a:r>
              <a:rPr lang="en-US" sz="600">
                <a:ea typeface="+mn-lt"/>
                <a:cs typeface="+mn-lt"/>
              </a:rPr>
              <a:t>  )</a:t>
            </a:r>
          </a:p>
          <a:p>
            <a:r>
              <a:rPr lang="en-US" sz="600">
                <a:ea typeface="+mn-lt"/>
                <a:cs typeface="+mn-lt"/>
              </a:rPr>
              <a:t>) +</a:t>
            </a:r>
          </a:p>
          <a:p>
            <a:r>
              <a:rPr lang="en-US" sz="600">
                <a:ea typeface="+mn-lt"/>
                <a:cs typeface="+mn-lt"/>
              </a:rPr>
              <a:t>  </a:t>
            </a:r>
            <a:r>
              <a:rPr lang="en-US" sz="600" err="1">
                <a:ea typeface="+mn-lt"/>
                <a:cs typeface="+mn-lt"/>
              </a:rPr>
              <a:t>geom_line</a:t>
            </a:r>
            <a:r>
              <a:rPr lang="en-US" sz="600">
                <a:ea typeface="+mn-lt"/>
                <a:cs typeface="+mn-lt"/>
              </a:rPr>
              <a:t>(linewidth = 1) +</a:t>
            </a:r>
          </a:p>
          <a:p>
            <a:r>
              <a:rPr lang="en-US" sz="600">
                <a:ea typeface="+mn-lt"/>
                <a:cs typeface="+mn-lt"/>
              </a:rPr>
              <a:t>  </a:t>
            </a:r>
            <a:r>
              <a:rPr lang="en-US" sz="600" err="1">
                <a:ea typeface="+mn-lt"/>
                <a:cs typeface="+mn-lt"/>
              </a:rPr>
              <a:t>geom_point</a:t>
            </a:r>
            <a:r>
              <a:rPr lang="en-US" sz="600">
                <a:ea typeface="+mn-lt"/>
                <a:cs typeface="+mn-lt"/>
              </a:rPr>
              <a:t>(size = 2) +</a:t>
            </a:r>
          </a:p>
          <a:p>
            <a:r>
              <a:rPr lang="en-US" sz="600">
                <a:ea typeface="+mn-lt"/>
                <a:cs typeface="+mn-lt"/>
              </a:rPr>
              <a:t>  </a:t>
            </a:r>
            <a:r>
              <a:rPr lang="en-US" sz="600" err="1">
                <a:ea typeface="+mn-lt"/>
                <a:cs typeface="+mn-lt"/>
              </a:rPr>
              <a:t>facet_wrap</a:t>
            </a:r>
            <a:r>
              <a:rPr lang="en-US" sz="600">
                <a:ea typeface="+mn-lt"/>
                <a:cs typeface="+mn-lt"/>
              </a:rPr>
              <a:t>(~ uplift, scales = "</a:t>
            </a:r>
            <a:r>
              <a:rPr lang="en-US" sz="600" err="1">
                <a:ea typeface="+mn-lt"/>
                <a:cs typeface="+mn-lt"/>
              </a:rPr>
              <a:t>free_y</a:t>
            </a:r>
            <a:r>
              <a:rPr lang="en-US" sz="600">
                <a:ea typeface="+mn-lt"/>
                <a:cs typeface="+mn-lt"/>
              </a:rPr>
              <a:t>") +</a:t>
            </a:r>
          </a:p>
          <a:p>
            <a:r>
              <a:rPr lang="en-US" sz="600">
                <a:ea typeface="+mn-lt"/>
                <a:cs typeface="+mn-lt"/>
              </a:rPr>
              <a:t>  </a:t>
            </a:r>
            <a:r>
              <a:rPr lang="en-US" sz="600" err="1">
                <a:ea typeface="+mn-lt"/>
                <a:cs typeface="+mn-lt"/>
              </a:rPr>
              <a:t>scale_x_continuous</a:t>
            </a:r>
            <a:r>
              <a:rPr lang="en-US" sz="600">
                <a:ea typeface="+mn-lt"/>
                <a:cs typeface="+mn-lt"/>
              </a:rPr>
              <a:t>(labels = </a:t>
            </a:r>
            <a:r>
              <a:rPr lang="en-US" sz="600" err="1">
                <a:ea typeface="+mn-lt"/>
                <a:cs typeface="+mn-lt"/>
              </a:rPr>
              <a:t>percent_format</a:t>
            </a:r>
            <a:r>
              <a:rPr lang="en-US" sz="600">
                <a:ea typeface="+mn-lt"/>
                <a:cs typeface="+mn-lt"/>
              </a:rPr>
              <a:t>(accuracy = 1)) +</a:t>
            </a:r>
          </a:p>
          <a:p>
            <a:r>
              <a:rPr lang="en-US" sz="600">
                <a:ea typeface="+mn-lt"/>
                <a:cs typeface="+mn-lt"/>
              </a:rPr>
              <a:t>  labs(</a:t>
            </a:r>
          </a:p>
          <a:p>
            <a:r>
              <a:rPr lang="en-US" sz="600">
                <a:ea typeface="+mn-lt"/>
                <a:cs typeface="+mn-lt"/>
              </a:rPr>
              <a:t>    title = "Validation: Profit Sensitivity (Level vs Delta Logistic)",</a:t>
            </a:r>
          </a:p>
          <a:p>
            <a:r>
              <a:rPr lang="en-US" sz="600">
                <a:ea typeface="+mn-lt"/>
                <a:cs typeface="+mn-lt"/>
              </a:rPr>
              <a:t>    x = "Target Size (Top % by Predicted Adoption Probability)",</a:t>
            </a:r>
          </a:p>
          <a:p>
            <a:r>
              <a:rPr lang="en-US" sz="600">
                <a:ea typeface="+mn-lt"/>
                <a:cs typeface="+mn-lt"/>
              </a:rPr>
              <a:t>    y = "Total Incremental Expected Value ($)",</a:t>
            </a:r>
          </a:p>
          <a:p>
            <a:r>
              <a:rPr lang="en-US" sz="600">
                <a:ea typeface="+mn-lt"/>
                <a:cs typeface="+mn-lt"/>
              </a:rPr>
              <a:t>    color = "Model",</a:t>
            </a:r>
          </a:p>
          <a:p>
            <a:r>
              <a:rPr lang="en-US" sz="600">
                <a:ea typeface="+mn-lt"/>
                <a:cs typeface="+mn-lt"/>
              </a:rPr>
              <a:t>    </a:t>
            </a:r>
            <a:r>
              <a:rPr lang="en-US" sz="600" err="1">
                <a:ea typeface="+mn-lt"/>
                <a:cs typeface="+mn-lt"/>
              </a:rPr>
              <a:t>linetype</a:t>
            </a:r>
            <a:r>
              <a:rPr lang="en-US" sz="600">
                <a:ea typeface="+mn-lt"/>
                <a:cs typeface="+mn-lt"/>
              </a:rPr>
              <a:t> = "Model",</a:t>
            </a:r>
          </a:p>
          <a:p>
            <a:r>
              <a:rPr lang="en-US" sz="600">
                <a:ea typeface="+mn-lt"/>
                <a:cs typeface="+mn-lt"/>
              </a:rPr>
              <a:t>    caption = "Uplift is assumed since the causal impact of the offer is not observed in this dataset."</a:t>
            </a:r>
          </a:p>
          <a:p>
            <a:r>
              <a:rPr lang="en-US" sz="600">
                <a:ea typeface="+mn-lt"/>
                <a:cs typeface="+mn-lt"/>
              </a:rPr>
              <a:t>  ) +</a:t>
            </a:r>
          </a:p>
          <a:p>
            <a:r>
              <a:rPr lang="en-US" sz="600">
                <a:ea typeface="+mn-lt"/>
                <a:cs typeface="+mn-lt"/>
              </a:rPr>
              <a:t>  </a:t>
            </a:r>
            <a:r>
              <a:rPr lang="en-US" sz="600" err="1">
                <a:ea typeface="+mn-lt"/>
                <a:cs typeface="+mn-lt"/>
              </a:rPr>
              <a:t>theme_minimal</a:t>
            </a:r>
            <a:r>
              <a:rPr lang="en-US" sz="600">
                <a:ea typeface="+mn-lt"/>
                <a:cs typeface="+mn-lt"/>
              </a:rPr>
              <a:t>() +</a:t>
            </a:r>
          </a:p>
          <a:p>
            <a:r>
              <a:rPr lang="en-US" sz="600">
                <a:ea typeface="+mn-lt"/>
                <a:cs typeface="+mn-lt"/>
              </a:rPr>
              <a:t>  theme(</a:t>
            </a:r>
          </a:p>
          <a:p>
            <a:r>
              <a:rPr lang="en-US" sz="600">
                <a:ea typeface="+mn-lt"/>
                <a:cs typeface="+mn-lt"/>
              </a:rPr>
              <a:t>    </a:t>
            </a:r>
            <a:r>
              <a:rPr lang="en-US" sz="600" err="1">
                <a:ea typeface="+mn-lt"/>
                <a:cs typeface="+mn-lt"/>
              </a:rPr>
              <a:t>legend.position</a:t>
            </a:r>
            <a:r>
              <a:rPr lang="en-US" sz="600">
                <a:ea typeface="+mn-lt"/>
                <a:cs typeface="+mn-lt"/>
              </a:rPr>
              <a:t> = "bottom"</a:t>
            </a:r>
          </a:p>
          <a:p>
            <a:r>
              <a:rPr lang="en-US" sz="600">
                <a:ea typeface="+mn-lt"/>
                <a:cs typeface="+mn-lt"/>
              </a:rPr>
              <a:t>  )</a:t>
            </a:r>
          </a:p>
          <a:p>
            <a:pPr algn="ctr"/>
            <a:endParaRPr lang="en-US" sz="600">
              <a:ea typeface="Calibri"/>
              <a:cs typeface="Calibri"/>
            </a:endParaRPr>
          </a:p>
        </p:txBody>
      </p:sp>
      <p:pic>
        <p:nvPicPr>
          <p:cNvPr id="6" name="Picture 5" descr="A graph of a graph showing the difference between a logistic and a logistic&#10;&#10;AI-generated content may be incorrect.">
            <a:extLst>
              <a:ext uri="{FF2B5EF4-FFF2-40B4-BE49-F238E27FC236}">
                <a16:creationId xmlns:a16="http://schemas.microsoft.com/office/drawing/2014/main" id="{4F9718BC-7911-75E4-EF6B-E387B043783E}"/>
              </a:ext>
            </a:extLst>
          </p:cNvPr>
          <p:cNvPicPr>
            <a:picLocks noChangeAspect="1"/>
          </p:cNvPicPr>
          <p:nvPr/>
        </p:nvPicPr>
        <p:blipFill>
          <a:blip r:embed="rId2"/>
          <a:stretch>
            <a:fillRect/>
          </a:stretch>
        </p:blipFill>
        <p:spPr>
          <a:xfrm>
            <a:off x="56513" y="1480578"/>
            <a:ext cx="6829425" cy="4143375"/>
          </a:xfrm>
          <a:prstGeom prst="rect">
            <a:avLst/>
          </a:prstGeom>
        </p:spPr>
      </p:pic>
    </p:spTree>
    <p:extLst>
      <p:ext uri="{BB962C8B-B14F-4D97-AF65-F5344CB8AC3E}">
        <p14:creationId xmlns:p14="http://schemas.microsoft.com/office/powerpoint/2010/main" val="3358987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black and white lines&#10;&#10;AI-generated content may be incorrect.">
            <a:extLst>
              <a:ext uri="{FF2B5EF4-FFF2-40B4-BE49-F238E27FC236}">
                <a16:creationId xmlns:a16="http://schemas.microsoft.com/office/drawing/2014/main" id="{3610CBA4-C284-5340-A64F-85FD5EE0E346}"/>
              </a:ext>
            </a:extLst>
          </p:cNvPr>
          <p:cNvPicPr>
            <a:picLocks noChangeAspect="1"/>
          </p:cNvPicPr>
          <p:nvPr/>
        </p:nvPicPr>
        <p:blipFill>
          <a:blip r:embed="rId2"/>
          <a:stretch>
            <a:fillRect/>
          </a:stretch>
        </p:blipFill>
        <p:spPr>
          <a:xfrm>
            <a:off x="146541" y="1180858"/>
            <a:ext cx="6479719" cy="4727119"/>
          </a:xfrm>
          <a:prstGeom prst="rect">
            <a:avLst/>
          </a:prstGeom>
        </p:spPr>
      </p:pic>
      <p:sp>
        <p:nvSpPr>
          <p:cNvPr id="2" name="TextBox 1">
            <a:extLst>
              <a:ext uri="{FF2B5EF4-FFF2-40B4-BE49-F238E27FC236}">
                <a16:creationId xmlns:a16="http://schemas.microsoft.com/office/drawing/2014/main" id="{AB7CE15F-844F-66A6-7D9F-965CAC54FFAD}"/>
              </a:ext>
            </a:extLst>
          </p:cNvPr>
          <p:cNvSpPr txBox="1"/>
          <p:nvPr/>
        </p:nvSpPr>
        <p:spPr>
          <a:xfrm>
            <a:off x="6623538" y="76200"/>
            <a:ext cx="6096000" cy="6924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ea typeface="Calibri"/>
              <a:cs typeface="Calibri"/>
            </a:endParaRPr>
          </a:p>
          <a:p>
            <a:r>
              <a:rPr lang="en-US" sz="1200">
                <a:ea typeface="+mn-lt"/>
                <a:cs typeface="+mn-lt"/>
              </a:rPr>
              <a:t># Slide 6: Odds Ratio Table and Plot</a:t>
            </a:r>
            <a:endParaRPr lang="en-US" sz="1200">
              <a:ea typeface="Calibri" panose="020F0502020204030204"/>
              <a:cs typeface="Calibri" panose="020F0502020204030204"/>
            </a:endParaRPr>
          </a:p>
          <a:p>
            <a:endParaRPr lang="en-US" sz="1200">
              <a:ea typeface="Calibri" panose="020F0502020204030204"/>
              <a:cs typeface="Calibri" panose="020F0502020204030204"/>
            </a:endParaRPr>
          </a:p>
          <a:p>
            <a:r>
              <a:rPr lang="en-US" sz="1200">
                <a:ea typeface="+mn-lt"/>
                <a:cs typeface="+mn-lt"/>
              </a:rPr>
              <a:t>library(</a:t>
            </a:r>
            <a:r>
              <a:rPr lang="en-US" sz="1200" err="1">
                <a:ea typeface="+mn-lt"/>
                <a:cs typeface="+mn-lt"/>
              </a:rPr>
              <a:t>dplyr</a:t>
            </a:r>
            <a:r>
              <a:rPr lang="en-US" sz="1200">
                <a:ea typeface="+mn-lt"/>
                <a:cs typeface="+mn-lt"/>
              </a:rPr>
              <a:t>)</a:t>
            </a:r>
            <a:endParaRPr lang="en-US" sz="1200">
              <a:ea typeface="Calibri" panose="020F0502020204030204"/>
              <a:cs typeface="Calibri" panose="020F0502020204030204"/>
            </a:endParaRPr>
          </a:p>
          <a:p>
            <a:r>
              <a:rPr lang="en-US" sz="1200">
                <a:ea typeface="+mn-lt"/>
                <a:cs typeface="+mn-lt"/>
              </a:rPr>
              <a:t>library(broom)</a:t>
            </a:r>
            <a:endParaRPr lang="en-US" sz="1200">
              <a:ea typeface="Calibri" panose="020F0502020204030204"/>
              <a:cs typeface="Calibri" panose="020F0502020204030204"/>
            </a:endParaRPr>
          </a:p>
          <a:p>
            <a:r>
              <a:rPr lang="en-US" sz="1200">
                <a:ea typeface="+mn-lt"/>
                <a:cs typeface="+mn-lt"/>
              </a:rPr>
              <a:t>library(ggplot2)</a:t>
            </a:r>
            <a:endParaRPr lang="en-US" sz="1200">
              <a:ea typeface="Calibri" panose="020F0502020204030204"/>
              <a:cs typeface="Calibri" panose="020F0502020204030204"/>
            </a:endParaRPr>
          </a:p>
          <a:p>
            <a:endParaRPr lang="en-US" sz="1200">
              <a:ea typeface="Calibri" panose="020F0502020204030204"/>
              <a:cs typeface="Calibri" panose="020F0502020204030204"/>
            </a:endParaRPr>
          </a:p>
          <a:p>
            <a:r>
              <a:rPr lang="en-US" sz="1200">
                <a:ea typeface="+mn-lt"/>
                <a:cs typeface="+mn-lt"/>
              </a:rPr>
              <a:t># Create odds ratio table with confidence intervals</a:t>
            </a:r>
            <a:endParaRPr lang="en-US" sz="1200">
              <a:ea typeface="Calibri" panose="020F0502020204030204"/>
              <a:cs typeface="Calibri" panose="020F0502020204030204"/>
            </a:endParaRPr>
          </a:p>
          <a:p>
            <a:r>
              <a:rPr lang="en-US" sz="1200" err="1">
                <a:ea typeface="+mn-lt"/>
                <a:cs typeface="+mn-lt"/>
              </a:rPr>
              <a:t>or_tbl</a:t>
            </a:r>
            <a:r>
              <a:rPr lang="en-US" sz="1200">
                <a:ea typeface="+mn-lt"/>
                <a:cs typeface="+mn-lt"/>
              </a:rPr>
              <a:t> &lt;- broom::tidy(</a:t>
            </a:r>
            <a:r>
              <a:rPr lang="en-US" sz="1200" err="1">
                <a:ea typeface="+mn-lt"/>
                <a:cs typeface="+mn-lt"/>
              </a:rPr>
              <a:t>lrmdl</a:t>
            </a:r>
            <a:r>
              <a:rPr lang="en-US" sz="1200">
                <a:ea typeface="+mn-lt"/>
                <a:cs typeface="+mn-lt"/>
              </a:rPr>
              <a:t>, conf.int = TRUE) %&gt;%</a:t>
            </a:r>
            <a:endParaRPr lang="en-US" sz="1200">
              <a:ea typeface="Calibri" panose="020F0502020204030204"/>
              <a:cs typeface="Calibri" panose="020F0502020204030204"/>
            </a:endParaRPr>
          </a:p>
          <a:p>
            <a:r>
              <a:rPr lang="en-US" sz="1200">
                <a:ea typeface="+mn-lt"/>
                <a:cs typeface="+mn-lt"/>
              </a:rPr>
              <a:t>  filter(term != "(Intercept)") %&gt;%</a:t>
            </a:r>
            <a:endParaRPr lang="en-US" sz="1200">
              <a:ea typeface="Calibri" panose="020F0502020204030204"/>
              <a:cs typeface="Calibri" panose="020F0502020204030204"/>
            </a:endParaRPr>
          </a:p>
          <a:p>
            <a:r>
              <a:rPr lang="en-US" sz="1200">
                <a:ea typeface="+mn-lt"/>
                <a:cs typeface="+mn-lt"/>
              </a:rPr>
              <a:t>  mutate(</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odds_ratio</a:t>
            </a:r>
            <a:r>
              <a:rPr lang="en-US" sz="1200">
                <a:ea typeface="+mn-lt"/>
                <a:cs typeface="+mn-lt"/>
              </a:rPr>
              <a:t> = exp(estimate),</a:t>
            </a:r>
            <a:endParaRPr lang="en-US" sz="1200">
              <a:ea typeface="Calibri" panose="020F0502020204030204"/>
              <a:cs typeface="Calibri" panose="020F0502020204030204"/>
            </a:endParaRPr>
          </a:p>
          <a:p>
            <a:r>
              <a:rPr lang="en-US" sz="1200">
                <a:ea typeface="+mn-lt"/>
                <a:cs typeface="+mn-lt"/>
              </a:rPr>
              <a:t>    lo = exp(</a:t>
            </a:r>
            <a:r>
              <a:rPr lang="en-US" sz="1200" err="1">
                <a:ea typeface="+mn-lt"/>
                <a:cs typeface="+mn-lt"/>
              </a:rPr>
              <a:t>conf.low</a:t>
            </a:r>
            <a:r>
              <a:rPr lang="en-US" sz="1200">
                <a:ea typeface="+mn-lt"/>
                <a:cs typeface="+mn-lt"/>
              </a:rPr>
              <a:t>),</a:t>
            </a:r>
            <a:endParaRPr lang="en-US" sz="1200">
              <a:ea typeface="Calibri" panose="020F0502020204030204"/>
              <a:cs typeface="Calibri" panose="020F0502020204030204"/>
            </a:endParaRPr>
          </a:p>
          <a:p>
            <a:r>
              <a:rPr lang="en-US" sz="1200">
                <a:ea typeface="+mn-lt"/>
                <a:cs typeface="+mn-lt"/>
              </a:rPr>
              <a:t>    hi = exp(</a:t>
            </a:r>
            <a:r>
              <a:rPr lang="en-US" sz="1200" err="1">
                <a:ea typeface="+mn-lt"/>
                <a:cs typeface="+mn-lt"/>
              </a:rPr>
              <a:t>conf.high</a:t>
            </a:r>
            <a:r>
              <a:rPr lang="en-US" sz="1200">
                <a:ea typeface="+mn-lt"/>
                <a:cs typeface="+mn-lt"/>
              </a:rPr>
              <a:t>)</a:t>
            </a:r>
            <a:endParaRPr lang="en-US" sz="1200">
              <a:ea typeface="Calibri" panose="020F0502020204030204"/>
              <a:cs typeface="Calibri" panose="020F0502020204030204"/>
            </a:endParaRPr>
          </a:p>
          <a:p>
            <a:r>
              <a:rPr lang="en-US" sz="1200">
                <a:ea typeface="+mn-lt"/>
                <a:cs typeface="+mn-lt"/>
              </a:rPr>
              <a:t>  ) %&gt;%</a:t>
            </a:r>
            <a:endParaRPr lang="en-US" sz="1200">
              <a:ea typeface="Calibri" panose="020F0502020204030204"/>
              <a:cs typeface="Calibri" panose="020F0502020204030204"/>
            </a:endParaRPr>
          </a:p>
          <a:p>
            <a:r>
              <a:rPr lang="en-US" sz="1200">
                <a:ea typeface="+mn-lt"/>
                <a:cs typeface="+mn-lt"/>
              </a:rPr>
              <a:t>  arrange(desc(abs(estimate)))</a:t>
            </a:r>
            <a:endParaRPr lang="en-US" sz="1200">
              <a:ea typeface="Calibri" panose="020F0502020204030204"/>
              <a:cs typeface="Calibri" panose="020F0502020204030204"/>
            </a:endParaRPr>
          </a:p>
          <a:p>
            <a:endParaRPr lang="en-US" sz="1200">
              <a:ea typeface="Calibri" panose="020F0502020204030204"/>
              <a:cs typeface="Calibri" panose="020F0502020204030204"/>
            </a:endParaRPr>
          </a:p>
          <a:p>
            <a:r>
              <a:rPr lang="en-US" sz="1200">
                <a:ea typeface="+mn-lt"/>
                <a:cs typeface="+mn-lt"/>
              </a:rPr>
              <a:t>print(</a:t>
            </a:r>
            <a:r>
              <a:rPr lang="en-US" sz="1200" err="1">
                <a:ea typeface="+mn-lt"/>
                <a:cs typeface="+mn-lt"/>
              </a:rPr>
              <a:t>or_tbl</a:t>
            </a:r>
            <a:r>
              <a:rPr lang="en-US" sz="1200">
                <a:ea typeface="+mn-lt"/>
                <a:cs typeface="+mn-lt"/>
              </a:rPr>
              <a:t>)</a:t>
            </a:r>
            <a:endParaRPr lang="en-US" sz="1200">
              <a:ea typeface="Calibri" panose="020F0502020204030204"/>
              <a:cs typeface="Calibri" panose="020F0502020204030204"/>
            </a:endParaRPr>
          </a:p>
          <a:p>
            <a:endParaRPr lang="en-US" sz="1200">
              <a:ea typeface="Calibri" panose="020F0502020204030204"/>
              <a:cs typeface="Calibri" panose="020F0502020204030204"/>
            </a:endParaRPr>
          </a:p>
          <a:p>
            <a:r>
              <a:rPr lang="en-US" sz="1200">
                <a:ea typeface="+mn-lt"/>
                <a:cs typeface="+mn-lt"/>
              </a:rPr>
              <a:t># Odds ratio plot (log scale for symmetry around 1)</a:t>
            </a:r>
            <a:endParaRPr lang="en-US" sz="1200">
              <a:ea typeface="Calibri" panose="020F0502020204030204"/>
              <a:cs typeface="Calibri" panose="020F0502020204030204"/>
            </a:endParaRPr>
          </a:p>
          <a:p>
            <a:r>
              <a:rPr lang="en-US" sz="1200" err="1">
                <a:ea typeface="+mn-lt"/>
                <a:cs typeface="+mn-lt"/>
              </a:rPr>
              <a:t>or_plot</a:t>
            </a:r>
            <a:r>
              <a:rPr lang="en-US" sz="1200">
                <a:ea typeface="+mn-lt"/>
                <a:cs typeface="+mn-lt"/>
              </a:rPr>
              <a:t> &lt;- </a:t>
            </a:r>
            <a:r>
              <a:rPr lang="en-US" sz="1200" err="1">
                <a:ea typeface="+mn-lt"/>
                <a:cs typeface="+mn-lt"/>
              </a:rPr>
              <a:t>or_tbl</a:t>
            </a:r>
            <a:r>
              <a:rPr lang="en-US" sz="1200">
                <a:ea typeface="+mn-lt"/>
                <a:cs typeface="+mn-lt"/>
              </a:rPr>
              <a:t> %&gt;%</a:t>
            </a:r>
            <a:endParaRPr lang="en-US" sz="1200">
              <a:ea typeface="Calibri" panose="020F0502020204030204"/>
              <a:cs typeface="Calibri" panose="020F0502020204030204"/>
            </a:endParaRPr>
          </a:p>
          <a:p>
            <a:r>
              <a:rPr lang="en-US" sz="1200">
                <a:ea typeface="+mn-lt"/>
                <a:cs typeface="+mn-lt"/>
              </a:rPr>
              <a:t>  mutate(term = reorder(term, estimate)) %&gt;%</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ggplot</a:t>
            </a:r>
            <a:r>
              <a:rPr lang="en-US" sz="1200">
                <a:ea typeface="+mn-lt"/>
                <a:cs typeface="+mn-lt"/>
              </a:rPr>
              <a:t>(</a:t>
            </a:r>
            <a:r>
              <a:rPr lang="en-US" sz="1200" err="1">
                <a:ea typeface="+mn-lt"/>
                <a:cs typeface="+mn-lt"/>
              </a:rPr>
              <a:t>aes</a:t>
            </a:r>
            <a:r>
              <a:rPr lang="en-US" sz="1200">
                <a:ea typeface="+mn-lt"/>
                <a:cs typeface="+mn-lt"/>
              </a:rPr>
              <a:t>(x = term, y = </a:t>
            </a:r>
            <a:r>
              <a:rPr lang="en-US" sz="1200" err="1">
                <a:ea typeface="+mn-lt"/>
                <a:cs typeface="+mn-lt"/>
              </a:rPr>
              <a:t>odds_ratio</a:t>
            </a:r>
            <a:r>
              <a:rPr lang="en-US" sz="1200">
                <a:ea typeface="+mn-lt"/>
                <a:cs typeface="+mn-lt"/>
              </a:rPr>
              <a:t>)) +</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geom_hline</a:t>
            </a:r>
            <a:r>
              <a:rPr lang="en-US" sz="1200">
                <a:ea typeface="+mn-lt"/>
                <a:cs typeface="+mn-lt"/>
              </a:rPr>
              <a:t>(</a:t>
            </a:r>
            <a:r>
              <a:rPr lang="en-US" sz="1200" err="1">
                <a:ea typeface="+mn-lt"/>
                <a:cs typeface="+mn-lt"/>
              </a:rPr>
              <a:t>yintercept</a:t>
            </a:r>
            <a:r>
              <a:rPr lang="en-US" sz="1200">
                <a:ea typeface="+mn-lt"/>
                <a:cs typeface="+mn-lt"/>
              </a:rPr>
              <a:t> = 1, </a:t>
            </a:r>
            <a:r>
              <a:rPr lang="en-US" sz="1200" err="1">
                <a:ea typeface="+mn-lt"/>
                <a:cs typeface="+mn-lt"/>
              </a:rPr>
              <a:t>linetype</a:t>
            </a:r>
            <a:r>
              <a:rPr lang="en-US" sz="1200">
                <a:ea typeface="+mn-lt"/>
                <a:cs typeface="+mn-lt"/>
              </a:rPr>
              <a:t> = "dashed") +</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geom_point</a:t>
            </a:r>
            <a:r>
              <a:rPr lang="en-US" sz="1200">
                <a:ea typeface="+mn-lt"/>
                <a:cs typeface="+mn-lt"/>
              </a:rPr>
              <a:t>(size = 2) +</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geom_errorbar</a:t>
            </a:r>
            <a:r>
              <a:rPr lang="en-US" sz="1200">
                <a:ea typeface="+mn-lt"/>
                <a:cs typeface="+mn-lt"/>
              </a:rPr>
              <a:t>(</a:t>
            </a:r>
            <a:r>
              <a:rPr lang="en-US" sz="1200" err="1">
                <a:ea typeface="+mn-lt"/>
                <a:cs typeface="+mn-lt"/>
              </a:rPr>
              <a:t>aes</a:t>
            </a:r>
            <a:r>
              <a:rPr lang="en-US" sz="1200">
                <a:ea typeface="+mn-lt"/>
                <a:cs typeface="+mn-lt"/>
              </a:rPr>
              <a:t>(</a:t>
            </a:r>
            <a:r>
              <a:rPr lang="en-US" sz="1200" err="1">
                <a:ea typeface="+mn-lt"/>
                <a:cs typeface="+mn-lt"/>
              </a:rPr>
              <a:t>ymin</a:t>
            </a:r>
            <a:r>
              <a:rPr lang="en-US" sz="1200">
                <a:ea typeface="+mn-lt"/>
                <a:cs typeface="+mn-lt"/>
              </a:rPr>
              <a:t> = lo, </a:t>
            </a:r>
            <a:r>
              <a:rPr lang="en-US" sz="1200" err="1">
                <a:ea typeface="+mn-lt"/>
                <a:cs typeface="+mn-lt"/>
              </a:rPr>
              <a:t>ymax</a:t>
            </a:r>
            <a:r>
              <a:rPr lang="en-US" sz="1200">
                <a:ea typeface="+mn-lt"/>
                <a:cs typeface="+mn-lt"/>
              </a:rPr>
              <a:t> = hi), width = 0.2) +</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coord_flip</a:t>
            </a:r>
            <a:r>
              <a:rPr lang="en-US" sz="1200">
                <a:ea typeface="+mn-lt"/>
                <a:cs typeface="+mn-lt"/>
              </a:rPr>
              <a:t>() +</a:t>
            </a:r>
            <a:endParaRPr lang="en-US" sz="1200">
              <a:ea typeface="Calibri" panose="020F0502020204030204"/>
              <a:cs typeface="Calibri" panose="020F0502020204030204"/>
            </a:endParaRPr>
          </a:p>
          <a:p>
            <a:r>
              <a:rPr lang="en-US" sz="1200">
                <a:ea typeface="+mn-lt"/>
                <a:cs typeface="+mn-lt"/>
              </a:rPr>
              <a:t>  scale_y_log10() +</a:t>
            </a:r>
            <a:endParaRPr lang="en-US" sz="1200">
              <a:ea typeface="Calibri" panose="020F0502020204030204"/>
              <a:cs typeface="Calibri" panose="020F0502020204030204"/>
            </a:endParaRPr>
          </a:p>
          <a:p>
            <a:r>
              <a:rPr lang="en-US" sz="1200">
                <a:ea typeface="+mn-lt"/>
                <a:cs typeface="+mn-lt"/>
              </a:rPr>
              <a:t>  labs(</a:t>
            </a:r>
            <a:endParaRPr lang="en-US" sz="1200">
              <a:ea typeface="Calibri" panose="020F0502020204030204"/>
              <a:cs typeface="Calibri" panose="020F0502020204030204"/>
            </a:endParaRPr>
          </a:p>
          <a:p>
            <a:r>
              <a:rPr lang="en-US" sz="1200">
                <a:ea typeface="+mn-lt"/>
                <a:cs typeface="+mn-lt"/>
              </a:rPr>
              <a:t>    title = "Logistic Regression: Odds Ratios (95% CI)",</a:t>
            </a:r>
            <a:endParaRPr lang="en-US" sz="1200">
              <a:ea typeface="Calibri" panose="020F0502020204030204"/>
              <a:cs typeface="Calibri" panose="020F0502020204030204"/>
            </a:endParaRPr>
          </a:p>
          <a:p>
            <a:r>
              <a:rPr lang="en-US" sz="1200">
                <a:ea typeface="+mn-lt"/>
                <a:cs typeface="+mn-lt"/>
              </a:rPr>
              <a:t>    x = NULL,</a:t>
            </a:r>
            <a:endParaRPr lang="en-US" sz="1200">
              <a:ea typeface="Calibri" panose="020F0502020204030204"/>
              <a:cs typeface="Calibri" panose="020F0502020204030204"/>
            </a:endParaRPr>
          </a:p>
          <a:p>
            <a:r>
              <a:rPr lang="en-US" sz="1200">
                <a:ea typeface="+mn-lt"/>
                <a:cs typeface="+mn-lt"/>
              </a:rPr>
              <a:t>    y = "Odds Ratio (log scale)"</a:t>
            </a:r>
            <a:endParaRPr lang="en-US" sz="1200">
              <a:ea typeface="Calibri" panose="020F0502020204030204"/>
              <a:cs typeface="Calibri" panose="020F0502020204030204"/>
            </a:endParaRPr>
          </a:p>
          <a:p>
            <a:r>
              <a:rPr lang="en-US" sz="1200">
                <a:ea typeface="+mn-lt"/>
                <a:cs typeface="+mn-lt"/>
              </a:rPr>
              <a:t>  ) +</a:t>
            </a:r>
            <a:endParaRPr lang="en-US" sz="1200">
              <a:ea typeface="Calibri" panose="020F0502020204030204"/>
              <a:cs typeface="Calibri" panose="020F0502020204030204"/>
            </a:endParaRPr>
          </a:p>
          <a:p>
            <a:r>
              <a:rPr lang="en-US" sz="1200">
                <a:ea typeface="+mn-lt"/>
                <a:cs typeface="+mn-lt"/>
              </a:rPr>
              <a:t>  </a:t>
            </a:r>
            <a:r>
              <a:rPr lang="en-US" sz="1200" err="1">
                <a:ea typeface="+mn-lt"/>
                <a:cs typeface="+mn-lt"/>
              </a:rPr>
              <a:t>theme_minimal</a:t>
            </a:r>
            <a:r>
              <a:rPr lang="en-US" sz="1200">
                <a:ea typeface="+mn-lt"/>
                <a:cs typeface="+mn-lt"/>
              </a:rPr>
              <a:t>()</a:t>
            </a:r>
            <a:endParaRPr lang="en-US" sz="1200">
              <a:ea typeface="Calibri" panose="020F0502020204030204"/>
              <a:cs typeface="Calibri" panose="020F0502020204030204"/>
            </a:endParaRPr>
          </a:p>
          <a:p>
            <a:endParaRPr lang="en-US" sz="1200">
              <a:ea typeface="Calibri" panose="020F0502020204030204"/>
              <a:cs typeface="Calibri" panose="020F0502020204030204"/>
            </a:endParaRPr>
          </a:p>
          <a:p>
            <a:r>
              <a:rPr lang="en-US" sz="1200" err="1">
                <a:ea typeface="+mn-lt"/>
                <a:cs typeface="+mn-lt"/>
              </a:rPr>
              <a:t>or_plot</a:t>
            </a:r>
            <a:endParaRPr lang="en-US" sz="1200" err="1">
              <a:ea typeface="Calibri"/>
              <a:cs typeface="Calibri"/>
            </a:endParaRPr>
          </a:p>
          <a:p>
            <a:endParaRPr lang="en-US" sz="1200">
              <a:ea typeface="Calibri"/>
              <a:cs typeface="Calibri"/>
            </a:endParaRPr>
          </a:p>
        </p:txBody>
      </p:sp>
    </p:spTree>
    <p:extLst>
      <p:ext uri="{BB962C8B-B14F-4D97-AF65-F5344CB8AC3E}">
        <p14:creationId xmlns:p14="http://schemas.microsoft.com/office/powerpoint/2010/main" val="1002095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9C312A-A3B6-54BD-C90B-633C978A8D1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2608311-ED1F-5FDA-07D1-CAC30C67C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D48485E0-3F44-A9BD-3640-8E15D4840C39}"/>
              </a:ext>
            </a:extLst>
          </p:cNvPr>
          <p:cNvPicPr>
            <a:picLocks noChangeAspect="1"/>
          </p:cNvPicPr>
          <p:nvPr/>
        </p:nvPicPr>
        <p:blipFill>
          <a:blip r:embed="rId2"/>
          <a:srcRect l="-97" r="-140" b="5756"/>
          <a:stretch>
            <a:fillRect/>
          </a:stretch>
        </p:blipFill>
        <p:spPr>
          <a:xfrm>
            <a:off x="-3029" y="1714593"/>
            <a:ext cx="6377776" cy="3430949"/>
          </a:xfrm>
          <a:prstGeom prst="rect">
            <a:avLst/>
          </a:prstGeom>
        </p:spPr>
      </p:pic>
      <p:sp>
        <p:nvSpPr>
          <p:cNvPr id="2" name="TextBox 1">
            <a:extLst>
              <a:ext uri="{FF2B5EF4-FFF2-40B4-BE49-F238E27FC236}">
                <a16:creationId xmlns:a16="http://schemas.microsoft.com/office/drawing/2014/main" id="{0C0BD203-0F65-95D0-6184-DA3DF805577C}"/>
              </a:ext>
            </a:extLst>
          </p:cNvPr>
          <p:cNvSpPr txBox="1"/>
          <p:nvPr/>
        </p:nvSpPr>
        <p:spPr>
          <a:xfrm>
            <a:off x="6375400" y="-3908"/>
            <a:ext cx="5295900" cy="75405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ea typeface="+mn-lt"/>
                <a:cs typeface="+mn-lt"/>
              </a:rPr>
              <a:t># Slide 9: Adoption Rate by Decile (Targeting Curve)</a:t>
            </a:r>
          </a:p>
          <a:p>
            <a:endParaRPr lang="en-US" sz="1100">
              <a:ea typeface="Calibri"/>
              <a:cs typeface="Calibri"/>
            </a:endParaRPr>
          </a:p>
          <a:p>
            <a:r>
              <a:rPr lang="en-US" sz="1100" err="1">
                <a:ea typeface="+mn-lt"/>
                <a:cs typeface="+mn-lt"/>
              </a:rPr>
              <a:t>ggplot</a:t>
            </a:r>
            <a:r>
              <a:rPr lang="en-US" sz="1100">
                <a:ea typeface="+mn-lt"/>
                <a:cs typeface="+mn-lt"/>
              </a:rPr>
              <a:t>(</a:t>
            </a:r>
          </a:p>
          <a:p>
            <a:r>
              <a:rPr lang="en-US" sz="1100">
                <a:ea typeface="+mn-lt"/>
                <a:cs typeface="+mn-lt"/>
              </a:rPr>
              <a:t>  </a:t>
            </a:r>
            <a:r>
              <a:rPr lang="en-US" sz="1100" err="1">
                <a:ea typeface="+mn-lt"/>
                <a:cs typeface="+mn-lt"/>
              </a:rPr>
              <a:t>deciles_all</a:t>
            </a:r>
            <a:r>
              <a:rPr lang="en-US" sz="1100">
                <a:ea typeface="+mn-lt"/>
                <a:cs typeface="+mn-lt"/>
              </a:rPr>
              <a:t>,</a:t>
            </a:r>
          </a:p>
          <a:p>
            <a:r>
              <a:rPr lang="en-US" sz="1100">
                <a:ea typeface="+mn-lt"/>
                <a:cs typeface="+mn-lt"/>
              </a:rPr>
              <a:t>  </a:t>
            </a:r>
            <a:r>
              <a:rPr lang="en-US" sz="1100" err="1">
                <a:ea typeface="+mn-lt"/>
                <a:cs typeface="+mn-lt"/>
              </a:rPr>
              <a:t>aes</a:t>
            </a:r>
            <a:r>
              <a:rPr lang="en-US" sz="1100">
                <a:ea typeface="+mn-lt"/>
                <a:cs typeface="+mn-lt"/>
              </a:rPr>
              <a:t>(</a:t>
            </a:r>
          </a:p>
          <a:p>
            <a:r>
              <a:rPr lang="en-US" sz="1100">
                <a:ea typeface="+mn-lt"/>
                <a:cs typeface="+mn-lt"/>
              </a:rPr>
              <a:t>    x = decile,</a:t>
            </a:r>
          </a:p>
          <a:p>
            <a:r>
              <a:rPr lang="en-US" sz="1100">
                <a:ea typeface="+mn-lt"/>
                <a:cs typeface="+mn-lt"/>
              </a:rPr>
              <a:t>    y = </a:t>
            </a:r>
            <a:r>
              <a:rPr lang="en-US" sz="1100" err="1">
                <a:ea typeface="+mn-lt"/>
                <a:cs typeface="+mn-lt"/>
              </a:rPr>
              <a:t>adopt_rate</a:t>
            </a:r>
            <a:r>
              <a:rPr lang="en-US" sz="1100">
                <a:ea typeface="+mn-lt"/>
                <a:cs typeface="+mn-lt"/>
              </a:rPr>
              <a:t>,</a:t>
            </a:r>
          </a:p>
          <a:p>
            <a:r>
              <a:rPr lang="en-US" sz="1100">
                <a:ea typeface="+mn-lt"/>
                <a:cs typeface="+mn-lt"/>
              </a:rPr>
              <a:t>    color = model,</a:t>
            </a:r>
          </a:p>
          <a:p>
            <a:r>
              <a:rPr lang="en-US" sz="1100">
                <a:ea typeface="+mn-lt"/>
                <a:cs typeface="+mn-lt"/>
              </a:rPr>
              <a:t>    </a:t>
            </a:r>
            <a:r>
              <a:rPr lang="en-US" sz="1100" err="1">
                <a:ea typeface="+mn-lt"/>
                <a:cs typeface="+mn-lt"/>
              </a:rPr>
              <a:t>linetype</a:t>
            </a:r>
            <a:r>
              <a:rPr lang="en-US" sz="1100">
                <a:ea typeface="+mn-lt"/>
                <a:cs typeface="+mn-lt"/>
              </a:rPr>
              <a:t> = model</a:t>
            </a:r>
          </a:p>
          <a:p>
            <a:r>
              <a:rPr lang="en-US" sz="1100">
                <a:ea typeface="+mn-lt"/>
                <a:cs typeface="+mn-lt"/>
              </a:rPr>
              <a:t>  )</a:t>
            </a:r>
            <a:endParaRPr lang="en-US" sz="1100">
              <a:ea typeface="Calibri"/>
              <a:cs typeface="Calibri"/>
            </a:endParaRPr>
          </a:p>
          <a:p>
            <a:r>
              <a:rPr lang="en-US" sz="1100">
                <a:ea typeface="+mn-lt"/>
                <a:cs typeface="+mn-lt"/>
              </a:rPr>
              <a:t>) +</a:t>
            </a:r>
          </a:p>
          <a:p>
            <a:r>
              <a:rPr lang="en-US" sz="1100">
                <a:ea typeface="+mn-lt"/>
                <a:cs typeface="+mn-lt"/>
              </a:rPr>
              <a:t>  </a:t>
            </a:r>
            <a:r>
              <a:rPr lang="en-US" sz="1100" err="1">
                <a:ea typeface="+mn-lt"/>
                <a:cs typeface="+mn-lt"/>
              </a:rPr>
              <a:t>geom_line</a:t>
            </a:r>
            <a:r>
              <a:rPr lang="en-US" sz="1100">
                <a:ea typeface="+mn-lt"/>
                <a:cs typeface="+mn-lt"/>
              </a:rPr>
              <a:t>(linewidth = 1) +</a:t>
            </a:r>
          </a:p>
          <a:p>
            <a:r>
              <a:rPr lang="en-US" sz="1100">
                <a:ea typeface="+mn-lt"/>
                <a:cs typeface="+mn-lt"/>
              </a:rPr>
              <a:t>  </a:t>
            </a:r>
            <a:r>
              <a:rPr lang="en-US" sz="1100" err="1">
                <a:ea typeface="+mn-lt"/>
                <a:cs typeface="+mn-lt"/>
              </a:rPr>
              <a:t>geom_point</a:t>
            </a:r>
            <a:r>
              <a:rPr lang="en-US" sz="1100">
                <a:ea typeface="+mn-lt"/>
                <a:cs typeface="+mn-lt"/>
              </a:rPr>
              <a:t>(size = 2) +</a:t>
            </a:r>
          </a:p>
          <a:p>
            <a:r>
              <a:rPr lang="en-US" sz="1100">
                <a:ea typeface="+mn-lt"/>
                <a:cs typeface="+mn-lt"/>
              </a:rPr>
              <a:t>  </a:t>
            </a:r>
            <a:r>
              <a:rPr lang="en-US" sz="1100" err="1">
                <a:ea typeface="+mn-lt"/>
                <a:cs typeface="+mn-lt"/>
              </a:rPr>
              <a:t>scale_y_continuous</a:t>
            </a:r>
            <a:r>
              <a:rPr lang="en-US" sz="1100">
                <a:ea typeface="+mn-lt"/>
                <a:cs typeface="+mn-lt"/>
              </a:rPr>
              <a:t>(</a:t>
            </a:r>
          </a:p>
          <a:p>
            <a:r>
              <a:rPr lang="en-US" sz="1100">
                <a:ea typeface="+mn-lt"/>
                <a:cs typeface="+mn-lt"/>
              </a:rPr>
              <a:t>    labels = </a:t>
            </a:r>
            <a:r>
              <a:rPr lang="en-US" sz="1100" err="1">
                <a:ea typeface="+mn-lt"/>
                <a:cs typeface="+mn-lt"/>
              </a:rPr>
              <a:t>percent_format</a:t>
            </a:r>
            <a:r>
              <a:rPr lang="en-US" sz="1100">
                <a:ea typeface="+mn-lt"/>
                <a:cs typeface="+mn-lt"/>
              </a:rPr>
              <a:t>(accuracy = 1)</a:t>
            </a:r>
            <a:endParaRPr lang="en-US" sz="1100">
              <a:ea typeface="Calibri"/>
              <a:cs typeface="Calibri"/>
            </a:endParaRPr>
          </a:p>
          <a:p>
            <a:r>
              <a:rPr lang="en-US" sz="1100">
                <a:ea typeface="+mn-lt"/>
                <a:cs typeface="+mn-lt"/>
              </a:rPr>
              <a:t>  ) +</a:t>
            </a:r>
          </a:p>
          <a:p>
            <a:r>
              <a:rPr lang="en-US" sz="1100">
                <a:ea typeface="+mn-lt"/>
                <a:cs typeface="+mn-lt"/>
              </a:rPr>
              <a:t>  </a:t>
            </a:r>
            <a:r>
              <a:rPr lang="en-US" sz="1100" err="1">
                <a:ea typeface="+mn-lt"/>
                <a:cs typeface="+mn-lt"/>
              </a:rPr>
              <a:t>scale_color_manual</a:t>
            </a:r>
            <a:r>
              <a:rPr lang="en-US" sz="1100">
                <a:ea typeface="+mn-lt"/>
                <a:cs typeface="+mn-lt"/>
              </a:rPr>
              <a:t>(</a:t>
            </a:r>
          </a:p>
          <a:p>
            <a:r>
              <a:rPr lang="en-US" sz="1100">
                <a:ea typeface="+mn-lt"/>
                <a:cs typeface="+mn-lt"/>
              </a:rPr>
              <a:t>    values = c(</a:t>
            </a:r>
          </a:p>
          <a:p>
            <a:r>
              <a:rPr lang="en-US" sz="1100">
                <a:ea typeface="+mn-lt"/>
                <a:cs typeface="+mn-lt"/>
              </a:rPr>
              <a:t>      "Logistic Regression" = "#1f77b4",</a:t>
            </a:r>
          </a:p>
          <a:p>
            <a:r>
              <a:rPr lang="en-US" sz="1100">
                <a:ea typeface="+mn-lt"/>
                <a:cs typeface="+mn-lt"/>
              </a:rPr>
              <a:t>      "Decision Tree" = "#2ca02c"</a:t>
            </a:r>
          </a:p>
          <a:p>
            <a:r>
              <a:rPr lang="en-US" sz="1100">
                <a:ea typeface="+mn-lt"/>
                <a:cs typeface="+mn-lt"/>
              </a:rPr>
              <a:t>    )</a:t>
            </a:r>
          </a:p>
          <a:p>
            <a:r>
              <a:rPr lang="en-US" sz="1100">
                <a:ea typeface="+mn-lt"/>
                <a:cs typeface="+mn-lt"/>
              </a:rPr>
              <a:t>  ) +</a:t>
            </a:r>
          </a:p>
          <a:p>
            <a:r>
              <a:rPr lang="en-US" sz="1100">
                <a:ea typeface="+mn-lt"/>
                <a:cs typeface="+mn-lt"/>
              </a:rPr>
              <a:t>  </a:t>
            </a:r>
            <a:r>
              <a:rPr lang="en-US" sz="1100" err="1">
                <a:ea typeface="+mn-lt"/>
                <a:cs typeface="+mn-lt"/>
              </a:rPr>
              <a:t>scale_linetype_manual</a:t>
            </a:r>
            <a:r>
              <a:rPr lang="en-US" sz="1100">
                <a:ea typeface="+mn-lt"/>
                <a:cs typeface="+mn-lt"/>
              </a:rPr>
              <a:t>(</a:t>
            </a:r>
          </a:p>
          <a:p>
            <a:r>
              <a:rPr lang="en-US" sz="1100">
                <a:ea typeface="+mn-lt"/>
                <a:cs typeface="+mn-lt"/>
              </a:rPr>
              <a:t>    values = c(</a:t>
            </a:r>
          </a:p>
          <a:p>
            <a:r>
              <a:rPr lang="en-US" sz="1100">
                <a:ea typeface="+mn-lt"/>
                <a:cs typeface="+mn-lt"/>
              </a:rPr>
              <a:t>      "Logistic Regression" = "solid",</a:t>
            </a:r>
          </a:p>
          <a:p>
            <a:r>
              <a:rPr lang="en-US" sz="1100">
                <a:ea typeface="+mn-lt"/>
                <a:cs typeface="+mn-lt"/>
              </a:rPr>
              <a:t>      "Decision Tree" = "dashed"</a:t>
            </a:r>
          </a:p>
          <a:p>
            <a:r>
              <a:rPr lang="en-US" sz="1100">
                <a:ea typeface="+mn-lt"/>
                <a:cs typeface="+mn-lt"/>
              </a:rPr>
              <a:t>    )</a:t>
            </a:r>
          </a:p>
          <a:p>
            <a:r>
              <a:rPr lang="en-US" sz="1100">
                <a:ea typeface="+mn-lt"/>
                <a:cs typeface="+mn-lt"/>
              </a:rPr>
              <a:t>  ) +</a:t>
            </a:r>
          </a:p>
          <a:p>
            <a:r>
              <a:rPr lang="en-US" sz="1100">
                <a:ea typeface="+mn-lt"/>
                <a:cs typeface="+mn-lt"/>
              </a:rPr>
              <a:t>  labs(</a:t>
            </a:r>
          </a:p>
          <a:p>
            <a:r>
              <a:rPr lang="en-US" sz="1100">
                <a:ea typeface="+mn-lt"/>
                <a:cs typeface="+mn-lt"/>
              </a:rPr>
              <a:t>    title = "Validation: Adoption Rate by Score Decile (Targeting Curve)",</a:t>
            </a:r>
          </a:p>
          <a:p>
            <a:r>
              <a:rPr lang="en-US" sz="1100">
                <a:ea typeface="+mn-lt"/>
                <a:cs typeface="+mn-lt"/>
              </a:rPr>
              <a:t>    x = "Decile (10 = Highest Predicted Probability)",</a:t>
            </a:r>
          </a:p>
          <a:p>
            <a:r>
              <a:rPr lang="en-US" sz="1100">
                <a:ea typeface="+mn-lt"/>
                <a:cs typeface="+mn-lt"/>
              </a:rPr>
              <a:t>    y = "Observed Adoption Rate",</a:t>
            </a:r>
          </a:p>
          <a:p>
            <a:r>
              <a:rPr lang="en-US" sz="1100">
                <a:ea typeface="+mn-lt"/>
                <a:cs typeface="+mn-lt"/>
              </a:rPr>
              <a:t>    color = "Model",</a:t>
            </a:r>
          </a:p>
          <a:p>
            <a:r>
              <a:rPr lang="en-US" sz="1100">
                <a:ea typeface="+mn-lt"/>
                <a:cs typeface="+mn-lt"/>
              </a:rPr>
              <a:t>    </a:t>
            </a:r>
            <a:r>
              <a:rPr lang="en-US" sz="1100" err="1">
                <a:ea typeface="+mn-lt"/>
                <a:cs typeface="+mn-lt"/>
              </a:rPr>
              <a:t>linetype</a:t>
            </a:r>
            <a:r>
              <a:rPr lang="en-US" sz="1100">
                <a:ea typeface="+mn-lt"/>
                <a:cs typeface="+mn-lt"/>
              </a:rPr>
              <a:t> = "Model",</a:t>
            </a:r>
          </a:p>
          <a:p>
            <a:r>
              <a:rPr lang="en-US" sz="1100">
                <a:ea typeface="+mn-lt"/>
                <a:cs typeface="+mn-lt"/>
              </a:rPr>
              <a:t>    caption = "Greater separation indicates better targeting. Focus on top deciles for promotions."</a:t>
            </a:r>
          </a:p>
          <a:p>
            <a:r>
              <a:rPr lang="en-US" sz="1100">
                <a:ea typeface="+mn-lt"/>
                <a:cs typeface="+mn-lt"/>
              </a:rPr>
              <a:t>  ) +</a:t>
            </a:r>
          </a:p>
          <a:p>
            <a:r>
              <a:rPr lang="en-US" sz="1100">
                <a:ea typeface="+mn-lt"/>
                <a:cs typeface="+mn-lt"/>
              </a:rPr>
              <a:t>  </a:t>
            </a:r>
            <a:r>
              <a:rPr lang="en-US" sz="1100" err="1">
                <a:ea typeface="+mn-lt"/>
                <a:cs typeface="+mn-lt"/>
              </a:rPr>
              <a:t>theme_minimal</a:t>
            </a:r>
            <a:r>
              <a:rPr lang="en-US" sz="1100">
                <a:ea typeface="+mn-lt"/>
                <a:cs typeface="+mn-lt"/>
              </a:rPr>
              <a:t>() +</a:t>
            </a:r>
          </a:p>
          <a:p>
            <a:r>
              <a:rPr lang="en-US" sz="1100">
                <a:ea typeface="+mn-lt"/>
                <a:cs typeface="+mn-lt"/>
              </a:rPr>
              <a:t>  theme(</a:t>
            </a:r>
          </a:p>
          <a:p>
            <a:r>
              <a:rPr lang="en-US" sz="1100">
                <a:ea typeface="+mn-lt"/>
                <a:cs typeface="+mn-lt"/>
              </a:rPr>
              <a:t>    </a:t>
            </a:r>
            <a:r>
              <a:rPr lang="en-US" sz="1100" err="1">
                <a:ea typeface="+mn-lt"/>
                <a:cs typeface="+mn-lt"/>
              </a:rPr>
              <a:t>legend.position</a:t>
            </a:r>
            <a:r>
              <a:rPr lang="en-US" sz="1100">
                <a:ea typeface="+mn-lt"/>
                <a:cs typeface="+mn-lt"/>
              </a:rPr>
              <a:t> = "bottom",</a:t>
            </a:r>
          </a:p>
          <a:p>
            <a:r>
              <a:rPr lang="en-US" sz="1100">
                <a:ea typeface="+mn-lt"/>
                <a:cs typeface="+mn-lt"/>
              </a:rPr>
              <a:t>    </a:t>
            </a:r>
            <a:r>
              <a:rPr lang="en-US" sz="1100" err="1">
                <a:ea typeface="+mn-lt"/>
                <a:cs typeface="+mn-lt"/>
              </a:rPr>
              <a:t>legend.title</a:t>
            </a:r>
            <a:r>
              <a:rPr lang="en-US" sz="1100">
                <a:ea typeface="+mn-lt"/>
                <a:cs typeface="+mn-lt"/>
              </a:rPr>
              <a:t> = </a:t>
            </a:r>
            <a:r>
              <a:rPr lang="en-US" sz="1100" err="1">
                <a:ea typeface="+mn-lt"/>
                <a:cs typeface="+mn-lt"/>
              </a:rPr>
              <a:t>element_text</a:t>
            </a:r>
            <a:r>
              <a:rPr lang="en-US" sz="1100">
                <a:ea typeface="+mn-lt"/>
                <a:cs typeface="+mn-lt"/>
              </a:rPr>
              <a:t>(face = "bold")</a:t>
            </a:r>
          </a:p>
          <a:p>
            <a:r>
              <a:rPr lang="en-US" sz="1100">
                <a:ea typeface="+mn-lt"/>
                <a:cs typeface="+mn-lt"/>
              </a:rPr>
              <a:t>  )</a:t>
            </a:r>
          </a:p>
          <a:p>
            <a:endParaRPr lang="en-US" sz="1100">
              <a:ea typeface="Calibri"/>
              <a:cs typeface="Calibri"/>
            </a:endParaRPr>
          </a:p>
          <a:p>
            <a:pPr algn="ctr"/>
            <a:endParaRPr lang="en-US" sz="1100">
              <a:ea typeface="Calibri"/>
              <a:cs typeface="Calibri"/>
            </a:endParaRPr>
          </a:p>
        </p:txBody>
      </p:sp>
    </p:spTree>
    <p:extLst>
      <p:ext uri="{BB962C8B-B14F-4D97-AF65-F5344CB8AC3E}">
        <p14:creationId xmlns:p14="http://schemas.microsoft.com/office/powerpoint/2010/main" val="1489793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7E7A0-EAB3-1C68-F0FB-0F67BF5A51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AA3DBF-0F37-30C6-1A12-AC30144FB5BF}"/>
              </a:ext>
            </a:extLst>
          </p:cNvPr>
          <p:cNvSpPr txBox="1"/>
          <p:nvPr/>
        </p:nvSpPr>
        <p:spPr>
          <a:xfrm>
            <a:off x="108371" y="53335"/>
            <a:ext cx="78665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Hedvig Letters Sans"/>
                <a:ea typeface="+mn-lt"/>
                <a:cs typeface="+mn-lt"/>
              </a:rPr>
              <a:t>Key Drivers of Adoption</a:t>
            </a:r>
            <a:endParaRPr lang="en-US" b="1">
              <a:latin typeface="Hedvig Letters Sans"/>
              <a:ea typeface="+mn-lt"/>
              <a:cs typeface="+mn-lt"/>
            </a:endParaRPr>
          </a:p>
        </p:txBody>
      </p:sp>
      <p:pic>
        <p:nvPicPr>
          <p:cNvPr id="2" name="Picture 1" descr="A graph with a line&#10;&#10;AI-generated content may be incorrect.">
            <a:extLst>
              <a:ext uri="{FF2B5EF4-FFF2-40B4-BE49-F238E27FC236}">
                <a16:creationId xmlns:a16="http://schemas.microsoft.com/office/drawing/2014/main" id="{CC1155C9-E226-FDCF-C45C-6A2DAD4D4126}"/>
              </a:ext>
            </a:extLst>
          </p:cNvPr>
          <p:cNvPicPr>
            <a:picLocks noChangeAspect="1"/>
          </p:cNvPicPr>
          <p:nvPr/>
        </p:nvPicPr>
        <p:blipFill>
          <a:blip r:embed="rId2"/>
          <a:stretch>
            <a:fillRect/>
          </a:stretch>
        </p:blipFill>
        <p:spPr>
          <a:xfrm>
            <a:off x="302918" y="884020"/>
            <a:ext cx="3057353" cy="1989976"/>
          </a:xfrm>
          <a:prstGeom prst="rect">
            <a:avLst/>
          </a:prstGeom>
        </p:spPr>
      </p:pic>
      <p:pic>
        <p:nvPicPr>
          <p:cNvPr id="5" name="Picture 4" descr="A graph with a line&#10;&#10;AI-generated content may be incorrect.">
            <a:extLst>
              <a:ext uri="{FF2B5EF4-FFF2-40B4-BE49-F238E27FC236}">
                <a16:creationId xmlns:a16="http://schemas.microsoft.com/office/drawing/2014/main" id="{7009C5BE-9A43-C54D-4E89-22E7F5AB9570}"/>
              </a:ext>
            </a:extLst>
          </p:cNvPr>
          <p:cNvPicPr>
            <a:picLocks noChangeAspect="1"/>
          </p:cNvPicPr>
          <p:nvPr/>
        </p:nvPicPr>
        <p:blipFill>
          <a:blip r:embed="rId3"/>
          <a:stretch>
            <a:fillRect/>
          </a:stretch>
        </p:blipFill>
        <p:spPr>
          <a:xfrm>
            <a:off x="3509828" y="883826"/>
            <a:ext cx="3193651" cy="2005842"/>
          </a:xfrm>
          <a:prstGeom prst="rect">
            <a:avLst/>
          </a:prstGeom>
        </p:spPr>
      </p:pic>
      <p:pic>
        <p:nvPicPr>
          <p:cNvPr id="6" name="Picture 5">
            <a:extLst>
              <a:ext uri="{FF2B5EF4-FFF2-40B4-BE49-F238E27FC236}">
                <a16:creationId xmlns:a16="http://schemas.microsoft.com/office/drawing/2014/main" id="{D7CF3189-B926-9BEF-0BAB-1EC6728F8D4C}"/>
              </a:ext>
            </a:extLst>
          </p:cNvPr>
          <p:cNvPicPr>
            <a:picLocks noChangeAspect="1"/>
          </p:cNvPicPr>
          <p:nvPr/>
        </p:nvPicPr>
        <p:blipFill>
          <a:blip r:embed="rId4"/>
          <a:stretch>
            <a:fillRect/>
          </a:stretch>
        </p:blipFill>
        <p:spPr>
          <a:xfrm>
            <a:off x="3369097" y="3137346"/>
            <a:ext cx="3209389" cy="2147315"/>
          </a:xfrm>
          <a:prstGeom prst="rect">
            <a:avLst/>
          </a:prstGeom>
        </p:spPr>
      </p:pic>
      <p:pic>
        <p:nvPicPr>
          <p:cNvPr id="7" name="Picture 6" descr="A graph with a line&#10;&#10;AI-generated content may be incorrect.">
            <a:extLst>
              <a:ext uri="{FF2B5EF4-FFF2-40B4-BE49-F238E27FC236}">
                <a16:creationId xmlns:a16="http://schemas.microsoft.com/office/drawing/2014/main" id="{825AA839-32E8-79B3-4496-9B212DBCCE15}"/>
              </a:ext>
            </a:extLst>
          </p:cNvPr>
          <p:cNvPicPr>
            <a:picLocks noChangeAspect="1"/>
          </p:cNvPicPr>
          <p:nvPr/>
        </p:nvPicPr>
        <p:blipFill>
          <a:blip r:embed="rId5"/>
          <a:stretch>
            <a:fillRect/>
          </a:stretch>
        </p:blipFill>
        <p:spPr>
          <a:xfrm>
            <a:off x="299120" y="3132324"/>
            <a:ext cx="3030443" cy="2146048"/>
          </a:xfrm>
          <a:prstGeom prst="rect">
            <a:avLst/>
          </a:prstGeom>
        </p:spPr>
      </p:pic>
      <p:sp>
        <p:nvSpPr>
          <p:cNvPr id="3" name="TextBox 2">
            <a:extLst>
              <a:ext uri="{FF2B5EF4-FFF2-40B4-BE49-F238E27FC236}">
                <a16:creationId xmlns:a16="http://schemas.microsoft.com/office/drawing/2014/main" id="{F57B2B18-4673-99F4-DF41-CC837F53A8F9}"/>
              </a:ext>
            </a:extLst>
          </p:cNvPr>
          <p:cNvSpPr txBox="1"/>
          <p:nvPr/>
        </p:nvSpPr>
        <p:spPr>
          <a:xfrm>
            <a:off x="6578600" y="355600"/>
            <a:ext cx="499110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slide 22: # plot </a:t>
            </a:r>
          </a:p>
          <a:p>
            <a:r>
              <a:rPr lang="en-US" err="1"/>
              <a:t>ggplot</a:t>
            </a:r>
            <a:r>
              <a:rPr lang="en-US"/>
              <a:t>(</a:t>
            </a:r>
            <a:r>
              <a:rPr lang="en-US" err="1"/>
              <a:t>agg</a:t>
            </a:r>
            <a:r>
              <a:rPr lang="en-US"/>
              <a:t>, </a:t>
            </a:r>
            <a:r>
              <a:rPr lang="en-US" err="1"/>
              <a:t>aes</a:t>
            </a:r>
            <a:r>
              <a:rPr lang="en-US"/>
              <a:t>(x = bin, y = </a:t>
            </a:r>
            <a:r>
              <a:rPr lang="en-US" err="1"/>
              <a:t>adopt_rate</a:t>
            </a:r>
            <a:r>
              <a:rPr lang="en-US"/>
              <a:t>)) + </a:t>
            </a:r>
            <a:r>
              <a:rPr lang="en-US" err="1"/>
              <a:t>geom_line</a:t>
            </a:r>
            <a:r>
              <a:rPr lang="en-US"/>
              <a:t>(linewidth = 1) + </a:t>
            </a:r>
          </a:p>
          <a:p>
            <a:r>
              <a:rPr lang="en-US" err="1"/>
              <a:t>geom_point</a:t>
            </a:r>
            <a:r>
              <a:rPr lang="en-US"/>
              <a:t>(size = 2) + </a:t>
            </a:r>
            <a:endParaRPr lang="en-US">
              <a:ea typeface="Calibri"/>
              <a:cs typeface="Calibri"/>
            </a:endParaRPr>
          </a:p>
          <a:p>
            <a:r>
              <a:rPr lang="en-US" err="1"/>
              <a:t>scale_y_continuous</a:t>
            </a:r>
            <a:r>
              <a:rPr lang="en-US"/>
              <a:t>(labels = scales::</a:t>
            </a:r>
            <a:r>
              <a:rPr lang="en-US" err="1"/>
              <a:t>percent_format</a:t>
            </a:r>
            <a:r>
              <a:rPr lang="en-US"/>
              <a:t>(accuracy = 1)) + </a:t>
            </a:r>
          </a:p>
          <a:p>
            <a:r>
              <a:rPr lang="en-US"/>
              <a:t>labs( title = </a:t>
            </a:r>
            <a:r>
              <a:rPr lang="en-US" err="1"/>
              <a:t>ifelse</a:t>
            </a:r>
            <a:r>
              <a:rPr lang="en-US"/>
              <a:t>(</a:t>
            </a:r>
            <a:r>
              <a:rPr lang="en-US" err="1"/>
              <a:t>is.null</a:t>
            </a:r>
            <a:r>
              <a:rPr lang="en-US"/>
              <a:t>(title), paste("Adoption rate vs", var), title), x = paste0("Bin (", </a:t>
            </a:r>
            <a:r>
              <a:rPr lang="en-US" err="1"/>
              <a:t>nbins</a:t>
            </a:r>
            <a:r>
              <a:rPr lang="en-US"/>
              <a:t>, " = highest)"), y = "Observed adoption rate" ) + </a:t>
            </a:r>
            <a:r>
              <a:rPr lang="en-US" err="1"/>
              <a:t>theme_minimal</a:t>
            </a:r>
            <a:r>
              <a:rPr lang="en-US"/>
              <a:t>() } p1 &lt;- </a:t>
            </a:r>
            <a:r>
              <a:rPr lang="en-US" err="1"/>
              <a:t>plot_adopt_by_bins</a:t>
            </a:r>
            <a:r>
              <a:rPr lang="en-US"/>
              <a:t>(</a:t>
            </a:r>
            <a:r>
              <a:rPr lang="en-US" err="1"/>
              <a:t>train_df</a:t>
            </a:r>
            <a:r>
              <a:rPr lang="en-US"/>
              <a:t>, "</a:t>
            </a:r>
            <a:r>
              <a:rPr lang="en-US" err="1"/>
              <a:t>songsListened</a:t>
            </a:r>
            <a:r>
              <a:rPr lang="en-US"/>
              <a:t>", title="Higher listening → higher adoption") p2 &lt;- </a:t>
            </a:r>
            <a:r>
              <a:rPr lang="en-US" err="1"/>
              <a:t>plot_adopt_by_bins</a:t>
            </a:r>
            <a:r>
              <a:rPr lang="en-US"/>
              <a:t>(</a:t>
            </a:r>
            <a:r>
              <a:rPr lang="en-US" err="1"/>
              <a:t>train_df</a:t>
            </a:r>
            <a:r>
              <a:rPr lang="en-US"/>
              <a:t>, "</a:t>
            </a:r>
            <a:r>
              <a:rPr lang="en-US" err="1"/>
              <a:t>lovedTracks</a:t>
            </a:r>
            <a:r>
              <a:rPr lang="en-US"/>
              <a:t>", title="More loved tracks → higher adoption") p3 &lt;- </a:t>
            </a:r>
            <a:r>
              <a:rPr lang="en-US" err="1"/>
              <a:t>plot_adopt_by_bins</a:t>
            </a:r>
            <a:r>
              <a:rPr lang="en-US"/>
              <a:t>(</a:t>
            </a:r>
            <a:r>
              <a:rPr lang="en-US" err="1"/>
              <a:t>train_df</a:t>
            </a:r>
            <a:r>
              <a:rPr lang="en-US"/>
              <a:t>, "</a:t>
            </a:r>
            <a:r>
              <a:rPr lang="en-US" err="1"/>
              <a:t>subscriber_friend_cnt</a:t>
            </a:r>
            <a:r>
              <a:rPr lang="en-US"/>
              <a:t>", title="Social proof: premium friends → higher adoption") p4 &lt;- </a:t>
            </a:r>
            <a:r>
              <a:rPr lang="en-US" err="1"/>
              <a:t>plot_adopt_by_bins</a:t>
            </a:r>
            <a:r>
              <a:rPr lang="en-US"/>
              <a:t>(</a:t>
            </a:r>
            <a:r>
              <a:rPr lang="en-US" err="1"/>
              <a:t>train_df</a:t>
            </a:r>
            <a:r>
              <a:rPr lang="en-US"/>
              <a:t>, "tenure", title="Longer tenure → (often) lower adoption propensity") p1; p2; p3; p4</a:t>
            </a:r>
            <a:endParaRPr lang="en-US">
              <a:ea typeface="Calibri"/>
              <a:cs typeface="Calibri"/>
            </a:endParaRPr>
          </a:p>
          <a:p>
            <a:pPr algn="ctr"/>
            <a:endParaRPr lang="en-US"/>
          </a:p>
        </p:txBody>
      </p:sp>
    </p:spTree>
    <p:extLst>
      <p:ext uri="{BB962C8B-B14F-4D97-AF65-F5344CB8AC3E}">
        <p14:creationId xmlns:p14="http://schemas.microsoft.com/office/powerpoint/2010/main" val="3460428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5604A56-9A9C-9FE3-0BB0-2A7D2606353E}"/>
              </a:ext>
            </a:extLst>
          </p:cNvPr>
          <p:cNvGraphicFramePr>
            <a:graphicFrameLocks noGrp="1"/>
          </p:cNvGraphicFramePr>
          <p:nvPr>
            <p:extLst>
              <p:ext uri="{D42A27DB-BD31-4B8C-83A1-F6EECF244321}">
                <p14:modId xmlns:p14="http://schemas.microsoft.com/office/powerpoint/2010/main" val="3565681950"/>
              </p:ext>
            </p:extLst>
          </p:nvPr>
        </p:nvGraphicFramePr>
        <p:xfrm>
          <a:off x="610227" y="2494085"/>
          <a:ext cx="5837444" cy="1333500"/>
        </p:xfrm>
        <a:graphic>
          <a:graphicData uri="http://schemas.openxmlformats.org/drawingml/2006/table">
            <a:tbl>
              <a:tblPr bandRow="1">
                <a:tableStyleId>{BDBED569-4797-4DF1-A0F4-6AAB3CD982D8}</a:tableStyleId>
              </a:tblPr>
              <a:tblGrid>
                <a:gridCol w="1499527">
                  <a:extLst>
                    <a:ext uri="{9D8B030D-6E8A-4147-A177-3AD203B41FA5}">
                      <a16:colId xmlns:a16="http://schemas.microsoft.com/office/drawing/2014/main" val="2817035448"/>
                    </a:ext>
                  </a:extLst>
                </a:gridCol>
                <a:gridCol w="1057702">
                  <a:extLst>
                    <a:ext uri="{9D8B030D-6E8A-4147-A177-3AD203B41FA5}">
                      <a16:colId xmlns:a16="http://schemas.microsoft.com/office/drawing/2014/main" val="143571754"/>
                    </a:ext>
                  </a:extLst>
                </a:gridCol>
                <a:gridCol w="1111256">
                  <a:extLst>
                    <a:ext uri="{9D8B030D-6E8A-4147-A177-3AD203B41FA5}">
                      <a16:colId xmlns:a16="http://schemas.microsoft.com/office/drawing/2014/main" val="4019062234"/>
                    </a:ext>
                  </a:extLst>
                </a:gridCol>
                <a:gridCol w="966107">
                  <a:extLst>
                    <a:ext uri="{9D8B030D-6E8A-4147-A177-3AD203B41FA5}">
                      <a16:colId xmlns:a16="http://schemas.microsoft.com/office/drawing/2014/main" val="1689920404"/>
                    </a:ext>
                  </a:extLst>
                </a:gridCol>
                <a:gridCol w="1202852">
                  <a:extLst>
                    <a:ext uri="{9D8B030D-6E8A-4147-A177-3AD203B41FA5}">
                      <a16:colId xmlns:a16="http://schemas.microsoft.com/office/drawing/2014/main" val="192283836"/>
                    </a:ext>
                  </a:extLst>
                </a:gridCol>
              </a:tblGrid>
              <a:tr h="200025">
                <a:tc>
                  <a:txBody>
                    <a:bodyPr/>
                    <a:lstStyle/>
                    <a:p>
                      <a:pPr algn="ctr" rtl="0" fontAlgn="b">
                        <a:buNone/>
                      </a:pPr>
                      <a:r>
                        <a:rPr lang="en-US" sz="1600">
                          <a:latin typeface="Hedvig Letters Sans"/>
                        </a:rPr>
                        <a:t>Model</a:t>
                      </a:r>
                    </a:p>
                  </a:txBody>
                  <a:tcPr marL="28575" marR="28575" marT="19050" marB="19050" anchor="b"/>
                </a:tc>
                <a:tc>
                  <a:txBody>
                    <a:bodyPr/>
                    <a:lstStyle/>
                    <a:p>
                      <a:pPr algn="ctr" rtl="0" fontAlgn="b">
                        <a:buNone/>
                      </a:pPr>
                      <a:r>
                        <a:rPr lang="en-US" sz="1600">
                          <a:latin typeface="Hedvig Letters Sans"/>
                        </a:rPr>
                        <a:t>Accuracy</a:t>
                      </a:r>
                    </a:p>
                  </a:txBody>
                  <a:tcPr marL="28575" marR="28575" marT="19050" marB="19050" anchor="b"/>
                </a:tc>
                <a:tc>
                  <a:txBody>
                    <a:bodyPr/>
                    <a:lstStyle/>
                    <a:p>
                      <a:pPr algn="ctr" rtl="0" fontAlgn="b">
                        <a:buNone/>
                      </a:pPr>
                      <a:r>
                        <a:rPr lang="en-US" sz="1600">
                          <a:latin typeface="Hedvig Letters Sans"/>
                        </a:rPr>
                        <a:t>Precision</a:t>
                      </a:r>
                    </a:p>
                  </a:txBody>
                  <a:tcPr marL="28575" marR="28575" marT="19050" marB="19050" anchor="b"/>
                </a:tc>
                <a:tc>
                  <a:txBody>
                    <a:bodyPr/>
                    <a:lstStyle/>
                    <a:p>
                      <a:pPr algn="ctr" rtl="0" fontAlgn="b">
                        <a:buNone/>
                      </a:pPr>
                      <a:r>
                        <a:rPr lang="en-US" sz="1600">
                          <a:latin typeface="Hedvig Letters Sans"/>
                        </a:rPr>
                        <a:t>Recall</a:t>
                      </a:r>
                    </a:p>
                  </a:txBody>
                  <a:tcPr marL="28575" marR="28575" marT="19050" marB="19050" anchor="b"/>
                </a:tc>
                <a:tc>
                  <a:txBody>
                    <a:bodyPr/>
                    <a:lstStyle/>
                    <a:p>
                      <a:pPr algn="ctr" rtl="0" fontAlgn="b">
                        <a:buNone/>
                      </a:pPr>
                      <a:r>
                        <a:rPr lang="en-US" sz="1600">
                          <a:latin typeface="Hedvig Letters Sans"/>
                        </a:rPr>
                        <a:t>Specificity</a:t>
                      </a:r>
                    </a:p>
                  </a:txBody>
                  <a:tcPr marL="28575" marR="28575" marT="19050" marB="19050" anchor="b"/>
                </a:tc>
                <a:extLst>
                  <a:ext uri="{0D108BD9-81ED-4DB2-BD59-A6C34878D82A}">
                    <a16:rowId xmlns:a16="http://schemas.microsoft.com/office/drawing/2014/main" val="3610124352"/>
                  </a:ext>
                </a:extLst>
              </a:tr>
              <a:tr h="200025">
                <a:tc>
                  <a:txBody>
                    <a:bodyPr/>
                    <a:lstStyle/>
                    <a:p>
                      <a:pPr algn="ctr" rtl="0" fontAlgn="b">
                        <a:buNone/>
                      </a:pPr>
                      <a:r>
                        <a:rPr lang="en-US" sz="1600">
                          <a:latin typeface="Hedvig Letters Sans"/>
                        </a:rPr>
                        <a:t>Level Logistic (Current)</a:t>
                      </a:r>
                    </a:p>
                  </a:txBody>
                  <a:tcPr marL="28575" marR="28575" marT="19050" marB="19050" anchor="b"/>
                </a:tc>
                <a:tc>
                  <a:txBody>
                    <a:bodyPr/>
                    <a:lstStyle/>
                    <a:p>
                      <a:pPr algn="ctr" rtl="0" fontAlgn="b">
                        <a:buNone/>
                      </a:pPr>
                      <a:r>
                        <a:rPr lang="en-US" sz="1600">
                          <a:latin typeface="Hedvig Letters Sans"/>
                        </a:rPr>
                        <a:t>0.917</a:t>
                      </a:r>
                    </a:p>
                  </a:txBody>
                  <a:tcPr marL="28575" marR="28575" marT="19050" marB="19050" anchor="b"/>
                </a:tc>
                <a:tc>
                  <a:txBody>
                    <a:bodyPr/>
                    <a:lstStyle/>
                    <a:p>
                      <a:pPr algn="ctr" rtl="0" fontAlgn="b">
                        <a:buNone/>
                      </a:pPr>
                      <a:r>
                        <a:rPr lang="en-US" sz="1600">
                          <a:latin typeface="Hedvig Letters Sans"/>
                        </a:rPr>
                        <a:t>0.291</a:t>
                      </a:r>
                    </a:p>
                  </a:txBody>
                  <a:tcPr marL="28575" marR="28575" marT="19050" marB="19050" anchor="b"/>
                </a:tc>
                <a:tc>
                  <a:txBody>
                    <a:bodyPr/>
                    <a:lstStyle/>
                    <a:p>
                      <a:pPr algn="ctr" rtl="0" fontAlgn="b">
                        <a:buNone/>
                      </a:pPr>
                      <a:r>
                        <a:rPr lang="en-US" sz="1600">
                          <a:latin typeface="Hedvig Letters Sans"/>
                        </a:rPr>
                        <a:t>0.159</a:t>
                      </a:r>
                    </a:p>
                  </a:txBody>
                  <a:tcPr marL="28575" marR="28575" marT="19050" marB="19050" anchor="b">
                    <a:solidFill>
                      <a:srgbClr val="ED7D31"/>
                    </a:solidFill>
                  </a:tcPr>
                </a:tc>
                <a:tc>
                  <a:txBody>
                    <a:bodyPr/>
                    <a:lstStyle/>
                    <a:p>
                      <a:pPr algn="ctr" rtl="0" fontAlgn="b">
                        <a:buNone/>
                      </a:pPr>
                      <a:r>
                        <a:rPr lang="en-US" sz="1600">
                          <a:latin typeface="Hedvig Letters Sans"/>
                        </a:rPr>
                        <a:t>0.972</a:t>
                      </a:r>
                    </a:p>
                  </a:txBody>
                  <a:tcPr marL="28575" marR="28575" marT="19050" marB="19050" anchor="b"/>
                </a:tc>
                <a:extLst>
                  <a:ext uri="{0D108BD9-81ED-4DB2-BD59-A6C34878D82A}">
                    <a16:rowId xmlns:a16="http://schemas.microsoft.com/office/drawing/2014/main" val="811575973"/>
                  </a:ext>
                </a:extLst>
              </a:tr>
              <a:tr h="200025">
                <a:tc>
                  <a:txBody>
                    <a:bodyPr/>
                    <a:lstStyle/>
                    <a:p>
                      <a:pPr algn="ctr" rtl="0" fontAlgn="b">
                        <a:buNone/>
                      </a:pPr>
                      <a:r>
                        <a:rPr lang="en-US" sz="1600">
                          <a:latin typeface="Hedvig Letters Sans"/>
                        </a:rPr>
                        <a:t>Delta Logistic (Change)</a:t>
                      </a:r>
                    </a:p>
                  </a:txBody>
                  <a:tcPr marL="28575" marR="28575" marT="19050" marB="19050" anchor="b"/>
                </a:tc>
                <a:tc>
                  <a:txBody>
                    <a:bodyPr/>
                    <a:lstStyle/>
                    <a:p>
                      <a:pPr algn="ctr" rtl="0" fontAlgn="b">
                        <a:buNone/>
                      </a:pPr>
                      <a:r>
                        <a:rPr lang="en-US" sz="1600">
                          <a:latin typeface="Hedvig Letters Sans"/>
                        </a:rPr>
                        <a:t>0.927</a:t>
                      </a:r>
                    </a:p>
                  </a:txBody>
                  <a:tcPr marL="28575" marR="28575" marT="19050" marB="19050" anchor="b">
                    <a:solidFill>
                      <a:srgbClr val="ED7D31"/>
                    </a:solidFill>
                  </a:tcPr>
                </a:tc>
                <a:tc>
                  <a:txBody>
                    <a:bodyPr/>
                    <a:lstStyle/>
                    <a:p>
                      <a:pPr algn="ctr" rtl="0" fontAlgn="b">
                        <a:buNone/>
                      </a:pPr>
                      <a:r>
                        <a:rPr lang="en-US" sz="1600">
                          <a:latin typeface="Hedvig Letters Sans"/>
                        </a:rPr>
                        <a:t>0.294</a:t>
                      </a:r>
                    </a:p>
                  </a:txBody>
                  <a:tcPr marL="28575" marR="28575" marT="19050" marB="19050" anchor="b">
                    <a:solidFill>
                      <a:srgbClr val="ED7D31"/>
                    </a:solidFill>
                  </a:tcPr>
                </a:tc>
                <a:tc>
                  <a:txBody>
                    <a:bodyPr/>
                    <a:lstStyle/>
                    <a:p>
                      <a:pPr algn="ctr" rtl="0" fontAlgn="b">
                        <a:buNone/>
                      </a:pPr>
                      <a:r>
                        <a:rPr lang="en-US" sz="1600">
                          <a:latin typeface="Hedvig Letters Sans"/>
                        </a:rPr>
                        <a:t>0.059</a:t>
                      </a:r>
                    </a:p>
                  </a:txBody>
                  <a:tcPr marL="28575" marR="28575" marT="19050" marB="19050" anchor="b"/>
                </a:tc>
                <a:tc>
                  <a:txBody>
                    <a:bodyPr/>
                    <a:lstStyle/>
                    <a:p>
                      <a:pPr algn="ctr" rtl="0" fontAlgn="b">
                        <a:buNone/>
                      </a:pPr>
                      <a:r>
                        <a:rPr lang="en-US" sz="1600">
                          <a:latin typeface="Hedvig Letters Sans"/>
                        </a:rPr>
                        <a:t>0.99</a:t>
                      </a:r>
                    </a:p>
                  </a:txBody>
                  <a:tcPr marL="28575" marR="28575" marT="19050" marB="19050" anchor="b">
                    <a:solidFill>
                      <a:srgbClr val="ED7D31"/>
                    </a:solidFill>
                  </a:tcPr>
                </a:tc>
                <a:extLst>
                  <a:ext uri="{0D108BD9-81ED-4DB2-BD59-A6C34878D82A}">
                    <a16:rowId xmlns:a16="http://schemas.microsoft.com/office/drawing/2014/main" val="3634628038"/>
                  </a:ext>
                </a:extLst>
              </a:tr>
            </a:tbl>
          </a:graphicData>
        </a:graphic>
      </p:graphicFrame>
      <p:sp>
        <p:nvSpPr>
          <p:cNvPr id="4" name="TextBox 3">
            <a:extLst>
              <a:ext uri="{FF2B5EF4-FFF2-40B4-BE49-F238E27FC236}">
                <a16:creationId xmlns:a16="http://schemas.microsoft.com/office/drawing/2014/main" id="{36EA8451-9FB1-50FB-0E5D-49B5E891958D}"/>
              </a:ext>
            </a:extLst>
          </p:cNvPr>
          <p:cNvSpPr txBox="1"/>
          <p:nvPr/>
        </p:nvSpPr>
        <p:spPr>
          <a:xfrm>
            <a:off x="6639965" y="-3140"/>
            <a:ext cx="5551183" cy="6894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ea typeface="+mn-lt"/>
                <a:cs typeface="+mn-lt"/>
              </a:rPr>
              <a:t>#</a:t>
            </a:r>
            <a:r>
              <a:rPr lang="en-US" sz="600">
                <a:ea typeface="+mn-lt"/>
                <a:cs typeface="+mn-lt"/>
              </a:rPr>
              <a:t># Predicted probabilities</a:t>
            </a:r>
            <a:endParaRPr lang="en-US" sz="600">
              <a:ea typeface="Calibri"/>
              <a:cs typeface="Calibri"/>
            </a:endParaRPr>
          </a:p>
          <a:p>
            <a:r>
              <a:rPr lang="en-US" sz="600" err="1">
                <a:ea typeface="+mn-lt"/>
                <a:cs typeface="+mn-lt"/>
              </a:rPr>
              <a:t>p_level</a:t>
            </a:r>
            <a:r>
              <a:rPr lang="en-US" sz="600">
                <a:ea typeface="+mn-lt"/>
                <a:cs typeface="+mn-lt"/>
              </a:rPr>
              <a:t> &lt;- predict(</a:t>
            </a:r>
          </a:p>
          <a:p>
            <a:r>
              <a:rPr lang="en-US" sz="600">
                <a:ea typeface="+mn-lt"/>
                <a:cs typeface="+mn-lt"/>
              </a:rPr>
              <a:t>  </a:t>
            </a:r>
            <a:r>
              <a:rPr lang="en-US" sz="600" err="1">
                <a:ea typeface="+mn-lt"/>
                <a:cs typeface="+mn-lt"/>
              </a:rPr>
              <a:t>lrmdl</a:t>
            </a:r>
            <a:r>
              <a:rPr lang="en-US" sz="600">
                <a:ea typeface="+mn-lt"/>
                <a:cs typeface="+mn-lt"/>
              </a:rPr>
              <a:t>,</a:t>
            </a:r>
          </a:p>
          <a:p>
            <a:r>
              <a:rPr lang="en-US" sz="600">
                <a:ea typeface="+mn-lt"/>
                <a:cs typeface="+mn-lt"/>
              </a:rPr>
              <a:t>  </a:t>
            </a:r>
            <a:r>
              <a:rPr lang="en-US" sz="600" err="1">
                <a:ea typeface="+mn-lt"/>
                <a:cs typeface="+mn-lt"/>
              </a:rPr>
              <a:t>newdata</a:t>
            </a:r>
            <a:r>
              <a:rPr lang="en-US" sz="600">
                <a:ea typeface="+mn-lt"/>
                <a:cs typeface="+mn-lt"/>
              </a:rPr>
              <a:t> = freemium[</a:t>
            </a:r>
            <a:r>
              <a:rPr lang="en-US" sz="600" err="1">
                <a:ea typeface="+mn-lt"/>
                <a:cs typeface="+mn-lt"/>
              </a:rPr>
              <a:t>validsample</a:t>
            </a:r>
            <a:r>
              <a:rPr lang="en-US" sz="600">
                <a:ea typeface="+mn-lt"/>
                <a:cs typeface="+mn-lt"/>
              </a:rPr>
              <a:t>, ],</a:t>
            </a:r>
          </a:p>
          <a:p>
            <a:r>
              <a:rPr lang="en-US" sz="600">
                <a:ea typeface="+mn-lt"/>
                <a:cs typeface="+mn-lt"/>
              </a:rPr>
              <a:t>  type = "response"</a:t>
            </a:r>
            <a:endParaRPr lang="en-US" sz="600">
              <a:ea typeface="Calibri"/>
              <a:cs typeface="Calibri"/>
            </a:endParaRPr>
          </a:p>
          <a:p>
            <a:r>
              <a:rPr lang="en-US" sz="600">
                <a:ea typeface="+mn-lt"/>
                <a:cs typeface="+mn-lt"/>
              </a:rPr>
              <a:t>)</a:t>
            </a:r>
          </a:p>
          <a:p>
            <a:endParaRPr lang="en-US" sz="600">
              <a:ea typeface="Calibri"/>
              <a:cs typeface="Calibri"/>
            </a:endParaRPr>
          </a:p>
          <a:p>
            <a:r>
              <a:rPr lang="en-US" sz="600" err="1">
                <a:ea typeface="+mn-lt"/>
                <a:cs typeface="+mn-lt"/>
              </a:rPr>
              <a:t>p_delta</a:t>
            </a:r>
            <a:r>
              <a:rPr lang="en-US" sz="600">
                <a:ea typeface="+mn-lt"/>
                <a:cs typeface="+mn-lt"/>
              </a:rPr>
              <a:t> &lt;- predict(</a:t>
            </a:r>
          </a:p>
          <a:p>
            <a:r>
              <a:rPr lang="en-US" sz="600">
                <a:ea typeface="+mn-lt"/>
                <a:cs typeface="+mn-lt"/>
              </a:rPr>
              <a:t>  </a:t>
            </a:r>
            <a:r>
              <a:rPr lang="en-US" sz="600" err="1">
                <a:ea typeface="+mn-lt"/>
                <a:cs typeface="+mn-lt"/>
              </a:rPr>
              <a:t>lr_delta</a:t>
            </a:r>
            <a:r>
              <a:rPr lang="en-US" sz="600">
                <a:ea typeface="+mn-lt"/>
                <a:cs typeface="+mn-lt"/>
              </a:rPr>
              <a:t>,</a:t>
            </a:r>
          </a:p>
          <a:p>
            <a:r>
              <a:rPr lang="en-US" sz="600">
                <a:ea typeface="+mn-lt"/>
                <a:cs typeface="+mn-lt"/>
              </a:rPr>
              <a:t>  </a:t>
            </a:r>
            <a:r>
              <a:rPr lang="en-US" sz="600" err="1">
                <a:ea typeface="+mn-lt"/>
                <a:cs typeface="+mn-lt"/>
              </a:rPr>
              <a:t>newdata</a:t>
            </a:r>
            <a:r>
              <a:rPr lang="en-US" sz="600">
                <a:ea typeface="+mn-lt"/>
                <a:cs typeface="+mn-lt"/>
              </a:rPr>
              <a:t> = freemium[</a:t>
            </a:r>
            <a:r>
              <a:rPr lang="en-US" sz="600" err="1">
                <a:ea typeface="+mn-lt"/>
                <a:cs typeface="+mn-lt"/>
              </a:rPr>
              <a:t>validsample</a:t>
            </a:r>
            <a:r>
              <a:rPr lang="en-US" sz="600">
                <a:ea typeface="+mn-lt"/>
                <a:cs typeface="+mn-lt"/>
              </a:rPr>
              <a:t>, ],</a:t>
            </a:r>
          </a:p>
          <a:p>
            <a:r>
              <a:rPr lang="en-US" sz="600">
                <a:ea typeface="+mn-lt"/>
                <a:cs typeface="+mn-lt"/>
              </a:rPr>
              <a:t>  type = "response"</a:t>
            </a:r>
            <a:endParaRPr lang="en-US" sz="600">
              <a:ea typeface="Calibri"/>
              <a:cs typeface="Calibri"/>
            </a:endParaRPr>
          </a:p>
          <a:p>
            <a:r>
              <a:rPr lang="en-US" sz="600">
                <a:ea typeface="+mn-lt"/>
                <a:cs typeface="+mn-lt"/>
              </a:rPr>
              <a:t>)</a:t>
            </a:r>
            <a:endParaRPr lang="en-US" sz="600">
              <a:ea typeface="Calibri"/>
              <a:cs typeface="Calibri"/>
            </a:endParaRPr>
          </a:p>
          <a:p>
            <a:endParaRPr lang="en-US" sz="600">
              <a:ea typeface="Calibri"/>
              <a:cs typeface="Calibri"/>
            </a:endParaRPr>
          </a:p>
          <a:p>
            <a:r>
              <a:rPr lang="en-US" sz="600">
                <a:ea typeface="+mn-lt"/>
                <a:cs typeface="+mn-lt"/>
              </a:rPr>
              <a:t># True outcomes</a:t>
            </a:r>
            <a:endParaRPr lang="en-US" sz="600">
              <a:ea typeface="Calibri"/>
              <a:cs typeface="Calibri"/>
            </a:endParaRPr>
          </a:p>
          <a:p>
            <a:r>
              <a:rPr lang="en-US" sz="600" err="1">
                <a:ea typeface="+mn-lt"/>
                <a:cs typeface="+mn-lt"/>
              </a:rPr>
              <a:t>y_valid</a:t>
            </a:r>
            <a:r>
              <a:rPr lang="en-US" sz="600">
                <a:ea typeface="+mn-lt"/>
                <a:cs typeface="+mn-lt"/>
              </a:rPr>
              <a:t> &lt;- </a:t>
            </a:r>
            <a:r>
              <a:rPr lang="en-US" sz="600" err="1">
                <a:ea typeface="+mn-lt"/>
                <a:cs typeface="+mn-lt"/>
              </a:rPr>
              <a:t>freemium$adopter</a:t>
            </a:r>
            <a:r>
              <a:rPr lang="en-US" sz="600">
                <a:ea typeface="+mn-lt"/>
                <a:cs typeface="+mn-lt"/>
              </a:rPr>
              <a:t>[</a:t>
            </a:r>
            <a:r>
              <a:rPr lang="en-US" sz="600" err="1">
                <a:ea typeface="+mn-lt"/>
                <a:cs typeface="+mn-lt"/>
              </a:rPr>
              <a:t>validsample</a:t>
            </a:r>
            <a:r>
              <a:rPr lang="en-US" sz="600">
                <a:ea typeface="+mn-lt"/>
                <a:cs typeface="+mn-lt"/>
              </a:rPr>
              <a:t>]</a:t>
            </a:r>
          </a:p>
          <a:p>
            <a:endParaRPr lang="en-US" sz="600">
              <a:ea typeface="Calibri"/>
              <a:cs typeface="Calibri"/>
            </a:endParaRPr>
          </a:p>
          <a:p>
            <a:r>
              <a:rPr lang="en-US" sz="600">
                <a:ea typeface="+mn-lt"/>
                <a:cs typeface="+mn-lt"/>
              </a:rPr>
              <a:t># Classification cutoff</a:t>
            </a:r>
          </a:p>
          <a:p>
            <a:r>
              <a:rPr lang="en-US" sz="600">
                <a:ea typeface="+mn-lt"/>
                <a:cs typeface="+mn-lt"/>
              </a:rPr>
              <a:t>cutoff &lt;- 0.16</a:t>
            </a:r>
          </a:p>
          <a:p>
            <a:endParaRPr lang="en-US" sz="600">
              <a:ea typeface="Calibri"/>
              <a:cs typeface="Calibri"/>
            </a:endParaRPr>
          </a:p>
          <a:p>
            <a:r>
              <a:rPr lang="en-US" sz="600">
                <a:ea typeface="+mn-lt"/>
                <a:cs typeface="+mn-lt"/>
              </a:rPr>
              <a:t># Binary predictions</a:t>
            </a:r>
            <a:endParaRPr lang="en-US" sz="600">
              <a:ea typeface="Calibri"/>
              <a:cs typeface="Calibri"/>
            </a:endParaRPr>
          </a:p>
          <a:p>
            <a:r>
              <a:rPr lang="en-US" sz="600" err="1">
                <a:ea typeface="+mn-lt"/>
                <a:cs typeface="+mn-lt"/>
              </a:rPr>
              <a:t>pred_level</a:t>
            </a:r>
            <a:r>
              <a:rPr lang="en-US" sz="600">
                <a:ea typeface="+mn-lt"/>
                <a:cs typeface="+mn-lt"/>
              </a:rPr>
              <a:t> &lt;- </a:t>
            </a:r>
            <a:r>
              <a:rPr lang="en-US" sz="600" err="1">
                <a:ea typeface="+mn-lt"/>
                <a:cs typeface="+mn-lt"/>
              </a:rPr>
              <a:t>as.integer</a:t>
            </a:r>
            <a:r>
              <a:rPr lang="en-US" sz="600">
                <a:ea typeface="+mn-lt"/>
                <a:cs typeface="+mn-lt"/>
              </a:rPr>
              <a:t>(</a:t>
            </a:r>
            <a:r>
              <a:rPr lang="en-US" sz="600" err="1">
                <a:ea typeface="+mn-lt"/>
                <a:cs typeface="+mn-lt"/>
              </a:rPr>
              <a:t>p_level</a:t>
            </a:r>
            <a:r>
              <a:rPr lang="en-US" sz="600">
                <a:ea typeface="+mn-lt"/>
                <a:cs typeface="+mn-lt"/>
              </a:rPr>
              <a:t> &gt; cutoff)</a:t>
            </a:r>
          </a:p>
          <a:p>
            <a:r>
              <a:rPr lang="en-US" sz="600" err="1">
                <a:ea typeface="+mn-lt"/>
                <a:cs typeface="+mn-lt"/>
              </a:rPr>
              <a:t>pred_delta</a:t>
            </a:r>
            <a:r>
              <a:rPr lang="en-US" sz="600">
                <a:ea typeface="+mn-lt"/>
                <a:cs typeface="+mn-lt"/>
              </a:rPr>
              <a:t> &lt;- </a:t>
            </a:r>
            <a:r>
              <a:rPr lang="en-US" sz="600" err="1">
                <a:ea typeface="+mn-lt"/>
                <a:cs typeface="+mn-lt"/>
              </a:rPr>
              <a:t>as.integer</a:t>
            </a:r>
            <a:r>
              <a:rPr lang="en-US" sz="600">
                <a:ea typeface="+mn-lt"/>
                <a:cs typeface="+mn-lt"/>
              </a:rPr>
              <a:t>(</a:t>
            </a:r>
            <a:r>
              <a:rPr lang="en-US" sz="600" err="1">
                <a:ea typeface="+mn-lt"/>
                <a:cs typeface="+mn-lt"/>
              </a:rPr>
              <a:t>p_delta</a:t>
            </a:r>
            <a:r>
              <a:rPr lang="en-US" sz="600">
                <a:ea typeface="+mn-lt"/>
                <a:cs typeface="+mn-lt"/>
              </a:rPr>
              <a:t> &gt; cutoff)</a:t>
            </a:r>
          </a:p>
          <a:p>
            <a:endParaRPr lang="en-US" sz="600">
              <a:ea typeface="Calibri"/>
              <a:cs typeface="Calibri"/>
            </a:endParaRPr>
          </a:p>
          <a:p>
            <a:r>
              <a:rPr lang="en-US" sz="600">
                <a:ea typeface="+mn-lt"/>
                <a:cs typeface="+mn-lt"/>
              </a:rPr>
              <a:t># Evaluation metrics function</a:t>
            </a:r>
            <a:endParaRPr lang="en-US" sz="600">
              <a:ea typeface="Calibri"/>
              <a:cs typeface="Calibri"/>
            </a:endParaRPr>
          </a:p>
          <a:p>
            <a:r>
              <a:rPr lang="en-US" sz="600">
                <a:ea typeface="+mn-lt"/>
                <a:cs typeface="+mn-lt"/>
              </a:rPr>
              <a:t>metrics &lt;- function(pred, y) {</a:t>
            </a:r>
          </a:p>
          <a:p>
            <a:r>
              <a:rPr lang="en-US" sz="600">
                <a:ea typeface="+mn-lt"/>
                <a:cs typeface="+mn-lt"/>
              </a:rPr>
              <a:t>  tab &lt;- table(pred, y)</a:t>
            </a:r>
          </a:p>
          <a:p>
            <a:r>
              <a:rPr lang="en-US" sz="600">
                <a:ea typeface="+mn-lt"/>
                <a:cs typeface="+mn-lt"/>
              </a:rPr>
              <a:t>  </a:t>
            </a:r>
            <a:endParaRPr lang="en-US" sz="600">
              <a:ea typeface="Calibri"/>
              <a:cs typeface="Calibri"/>
            </a:endParaRPr>
          </a:p>
          <a:p>
            <a:r>
              <a:rPr lang="en-US" sz="600">
                <a:ea typeface="+mn-lt"/>
                <a:cs typeface="+mn-lt"/>
              </a:rPr>
              <a:t>  accuracy  &lt;- sum(</a:t>
            </a:r>
            <a:r>
              <a:rPr lang="en-US" sz="600" err="1">
                <a:ea typeface="+mn-lt"/>
                <a:cs typeface="+mn-lt"/>
              </a:rPr>
              <a:t>diag</a:t>
            </a:r>
            <a:r>
              <a:rPr lang="en-US" sz="600">
                <a:ea typeface="+mn-lt"/>
                <a:cs typeface="+mn-lt"/>
              </a:rPr>
              <a:t>(tab)) / sum(tab)</a:t>
            </a:r>
          </a:p>
          <a:p>
            <a:r>
              <a:rPr lang="en-US" sz="600">
                <a:ea typeface="+mn-lt"/>
                <a:cs typeface="+mn-lt"/>
              </a:rPr>
              <a:t>  precision &lt;- tab["1", "1"] / sum(tab["1", ])</a:t>
            </a:r>
            <a:endParaRPr lang="en-US" sz="600">
              <a:ea typeface="Calibri"/>
              <a:cs typeface="Calibri"/>
            </a:endParaRPr>
          </a:p>
          <a:p>
            <a:r>
              <a:rPr lang="en-US" sz="600">
                <a:ea typeface="+mn-lt"/>
                <a:cs typeface="+mn-lt"/>
              </a:rPr>
              <a:t>  recall    &lt;- tab["1", "1"] / sum(tab[, "1"])   # TPR</a:t>
            </a:r>
          </a:p>
          <a:p>
            <a:r>
              <a:rPr lang="en-US" sz="600">
                <a:ea typeface="+mn-lt"/>
                <a:cs typeface="+mn-lt"/>
              </a:rPr>
              <a:t>  specificity &lt;- tab["0", "0"] / sum(tab[, "0"])</a:t>
            </a:r>
          </a:p>
          <a:p>
            <a:r>
              <a:rPr lang="en-US" sz="600">
                <a:ea typeface="+mn-lt"/>
                <a:cs typeface="+mn-lt"/>
              </a:rPr>
              <a:t>  </a:t>
            </a:r>
            <a:endParaRPr lang="en-US" sz="600">
              <a:ea typeface="Calibri"/>
              <a:cs typeface="Calibri"/>
            </a:endParaRPr>
          </a:p>
          <a:p>
            <a:r>
              <a:rPr lang="en-US" sz="600">
                <a:ea typeface="+mn-lt"/>
                <a:cs typeface="+mn-lt"/>
              </a:rPr>
              <a:t>  return(c(</a:t>
            </a:r>
          </a:p>
          <a:p>
            <a:r>
              <a:rPr lang="en-US" sz="600">
                <a:ea typeface="+mn-lt"/>
                <a:cs typeface="+mn-lt"/>
              </a:rPr>
              <a:t>    Accuracy = accuracy,</a:t>
            </a:r>
          </a:p>
          <a:p>
            <a:r>
              <a:rPr lang="en-US" sz="600">
                <a:ea typeface="+mn-lt"/>
                <a:cs typeface="+mn-lt"/>
              </a:rPr>
              <a:t>    Precision = precision,</a:t>
            </a:r>
          </a:p>
          <a:p>
            <a:r>
              <a:rPr lang="en-US" sz="600">
                <a:ea typeface="+mn-lt"/>
                <a:cs typeface="+mn-lt"/>
              </a:rPr>
              <a:t>    Recall = recall,</a:t>
            </a:r>
          </a:p>
          <a:p>
            <a:r>
              <a:rPr lang="en-US" sz="600">
                <a:ea typeface="+mn-lt"/>
                <a:cs typeface="+mn-lt"/>
              </a:rPr>
              <a:t>    Specificity = specificity</a:t>
            </a:r>
          </a:p>
          <a:p>
            <a:r>
              <a:rPr lang="en-US" sz="600">
                <a:ea typeface="+mn-lt"/>
                <a:cs typeface="+mn-lt"/>
              </a:rPr>
              <a:t>  ))</a:t>
            </a:r>
          </a:p>
          <a:p>
            <a:r>
              <a:rPr lang="en-US" sz="600">
                <a:ea typeface="+mn-lt"/>
                <a:cs typeface="+mn-lt"/>
              </a:rPr>
              <a:t>}</a:t>
            </a:r>
          </a:p>
          <a:p>
            <a:endParaRPr lang="en-US" sz="600">
              <a:ea typeface="Calibri"/>
              <a:cs typeface="Calibri"/>
            </a:endParaRPr>
          </a:p>
          <a:p>
            <a:r>
              <a:rPr lang="en-US" sz="600">
                <a:ea typeface="+mn-lt"/>
                <a:cs typeface="+mn-lt"/>
              </a:rPr>
              <a:t># Compute metrics</a:t>
            </a:r>
          </a:p>
          <a:p>
            <a:r>
              <a:rPr lang="en-US" sz="600" err="1">
                <a:ea typeface="+mn-lt"/>
                <a:cs typeface="+mn-lt"/>
              </a:rPr>
              <a:t>metrics_level</a:t>
            </a:r>
            <a:r>
              <a:rPr lang="en-US" sz="600">
                <a:ea typeface="+mn-lt"/>
                <a:cs typeface="+mn-lt"/>
              </a:rPr>
              <a:t> &lt;- metrics(</a:t>
            </a:r>
            <a:r>
              <a:rPr lang="en-US" sz="600" err="1">
                <a:ea typeface="+mn-lt"/>
                <a:cs typeface="+mn-lt"/>
              </a:rPr>
              <a:t>pred_level</a:t>
            </a:r>
            <a:r>
              <a:rPr lang="en-US" sz="600">
                <a:ea typeface="+mn-lt"/>
                <a:cs typeface="+mn-lt"/>
              </a:rPr>
              <a:t>, </a:t>
            </a:r>
            <a:r>
              <a:rPr lang="en-US" sz="600" err="1">
                <a:ea typeface="+mn-lt"/>
                <a:cs typeface="+mn-lt"/>
              </a:rPr>
              <a:t>y_valid</a:t>
            </a:r>
            <a:r>
              <a:rPr lang="en-US" sz="600">
                <a:ea typeface="+mn-lt"/>
                <a:cs typeface="+mn-lt"/>
              </a:rPr>
              <a:t>)</a:t>
            </a:r>
          </a:p>
          <a:p>
            <a:r>
              <a:rPr lang="en-US" sz="600" err="1">
                <a:ea typeface="+mn-lt"/>
                <a:cs typeface="+mn-lt"/>
              </a:rPr>
              <a:t>metrics_delta</a:t>
            </a:r>
            <a:r>
              <a:rPr lang="en-US" sz="600">
                <a:ea typeface="+mn-lt"/>
                <a:cs typeface="+mn-lt"/>
              </a:rPr>
              <a:t> &lt;- metrics(</a:t>
            </a:r>
            <a:r>
              <a:rPr lang="en-US" sz="600" err="1">
                <a:ea typeface="+mn-lt"/>
                <a:cs typeface="+mn-lt"/>
              </a:rPr>
              <a:t>pred_delta</a:t>
            </a:r>
            <a:r>
              <a:rPr lang="en-US" sz="600">
                <a:ea typeface="+mn-lt"/>
                <a:cs typeface="+mn-lt"/>
              </a:rPr>
              <a:t>, </a:t>
            </a:r>
            <a:r>
              <a:rPr lang="en-US" sz="600" err="1">
                <a:ea typeface="+mn-lt"/>
                <a:cs typeface="+mn-lt"/>
              </a:rPr>
              <a:t>y_valid</a:t>
            </a:r>
            <a:r>
              <a:rPr lang="en-US" sz="600">
                <a:ea typeface="+mn-lt"/>
                <a:cs typeface="+mn-lt"/>
              </a:rPr>
              <a:t>)</a:t>
            </a:r>
          </a:p>
          <a:p>
            <a:endParaRPr lang="en-US" sz="600">
              <a:ea typeface="Calibri"/>
              <a:cs typeface="Calibri"/>
            </a:endParaRPr>
          </a:p>
          <a:p>
            <a:r>
              <a:rPr lang="en-US" sz="600">
                <a:ea typeface="+mn-lt"/>
                <a:cs typeface="+mn-lt"/>
              </a:rPr>
              <a:t># Combine results</a:t>
            </a:r>
            <a:endParaRPr lang="en-US" sz="600">
              <a:ea typeface="Calibri"/>
              <a:cs typeface="Calibri"/>
            </a:endParaRPr>
          </a:p>
          <a:p>
            <a:r>
              <a:rPr lang="en-US" sz="600" err="1">
                <a:ea typeface="+mn-lt"/>
                <a:cs typeface="+mn-lt"/>
              </a:rPr>
              <a:t>accuracy_table</a:t>
            </a:r>
            <a:r>
              <a:rPr lang="en-US" sz="600">
                <a:ea typeface="+mn-lt"/>
                <a:cs typeface="+mn-lt"/>
              </a:rPr>
              <a:t> &lt;- </a:t>
            </a:r>
            <a:r>
              <a:rPr lang="en-US" sz="600" err="1">
                <a:ea typeface="+mn-lt"/>
                <a:cs typeface="+mn-lt"/>
              </a:rPr>
              <a:t>rbind</a:t>
            </a:r>
            <a:r>
              <a:rPr lang="en-US" sz="600">
                <a:ea typeface="+mn-lt"/>
                <a:cs typeface="+mn-lt"/>
              </a:rPr>
              <a:t>(</a:t>
            </a:r>
          </a:p>
          <a:p>
            <a:r>
              <a:rPr lang="en-US" sz="600">
                <a:ea typeface="+mn-lt"/>
                <a:cs typeface="+mn-lt"/>
              </a:rPr>
              <a:t>  "Level Logistic (Current)" = </a:t>
            </a:r>
            <a:r>
              <a:rPr lang="en-US" sz="600" err="1">
                <a:ea typeface="+mn-lt"/>
                <a:cs typeface="+mn-lt"/>
              </a:rPr>
              <a:t>metrics_level</a:t>
            </a:r>
            <a:r>
              <a:rPr lang="en-US" sz="600">
                <a:ea typeface="+mn-lt"/>
                <a:cs typeface="+mn-lt"/>
              </a:rPr>
              <a:t>,</a:t>
            </a:r>
          </a:p>
          <a:p>
            <a:r>
              <a:rPr lang="en-US" sz="600">
                <a:ea typeface="+mn-lt"/>
                <a:cs typeface="+mn-lt"/>
              </a:rPr>
              <a:t>  "Delta Logistic (Change)"  = </a:t>
            </a:r>
            <a:r>
              <a:rPr lang="en-US" sz="600" err="1">
                <a:ea typeface="+mn-lt"/>
                <a:cs typeface="+mn-lt"/>
              </a:rPr>
              <a:t>metrics_delta</a:t>
            </a:r>
            <a:endParaRPr lang="en-US" sz="600">
              <a:ea typeface="+mn-lt"/>
              <a:cs typeface="+mn-lt"/>
            </a:endParaRPr>
          </a:p>
          <a:p>
            <a:r>
              <a:rPr lang="en-US" sz="600">
                <a:ea typeface="+mn-lt"/>
                <a:cs typeface="+mn-lt"/>
              </a:rPr>
              <a:t>)</a:t>
            </a:r>
          </a:p>
          <a:p>
            <a:endParaRPr lang="en-US" sz="600">
              <a:ea typeface="Calibri"/>
              <a:cs typeface="Calibri"/>
            </a:endParaRPr>
          </a:p>
          <a:p>
            <a:r>
              <a:rPr lang="en-US" sz="600">
                <a:ea typeface="+mn-lt"/>
                <a:cs typeface="+mn-lt"/>
              </a:rPr>
              <a:t>round(</a:t>
            </a:r>
            <a:r>
              <a:rPr lang="en-US" sz="600" err="1">
                <a:ea typeface="+mn-lt"/>
                <a:cs typeface="+mn-lt"/>
              </a:rPr>
              <a:t>accuracy_table</a:t>
            </a:r>
            <a:r>
              <a:rPr lang="en-US" sz="600">
                <a:ea typeface="+mn-lt"/>
                <a:cs typeface="+mn-lt"/>
              </a:rPr>
              <a:t>, 3)</a:t>
            </a:r>
          </a:p>
          <a:p>
            <a:r>
              <a:rPr lang="en-US" sz="600">
                <a:ea typeface="+mn-lt"/>
                <a:cs typeface="+mn-lt"/>
              </a:rPr>
              <a:t># AUC comparison</a:t>
            </a:r>
            <a:endParaRPr lang="en-US" sz="600">
              <a:ea typeface="Calibri"/>
              <a:cs typeface="Calibri"/>
            </a:endParaRPr>
          </a:p>
          <a:p>
            <a:r>
              <a:rPr lang="en-US" sz="600">
                <a:ea typeface="+mn-lt"/>
                <a:cs typeface="+mn-lt"/>
              </a:rPr>
              <a:t>library(ROCR)</a:t>
            </a:r>
          </a:p>
          <a:p>
            <a:endParaRPr lang="en-US" sz="600">
              <a:ea typeface="Calibri"/>
              <a:cs typeface="Calibri"/>
            </a:endParaRPr>
          </a:p>
          <a:p>
            <a:r>
              <a:rPr lang="en-US" sz="600" err="1">
                <a:ea typeface="+mn-lt"/>
                <a:cs typeface="+mn-lt"/>
              </a:rPr>
              <a:t>auc_fun</a:t>
            </a:r>
            <a:r>
              <a:rPr lang="en-US" sz="600">
                <a:ea typeface="+mn-lt"/>
                <a:cs typeface="+mn-lt"/>
              </a:rPr>
              <a:t> &lt;- function(p, y) {</a:t>
            </a:r>
          </a:p>
          <a:p>
            <a:r>
              <a:rPr lang="en-US" sz="600">
                <a:ea typeface="+mn-lt"/>
                <a:cs typeface="+mn-lt"/>
              </a:rPr>
              <a:t>  pred &lt;- prediction(p, y)</a:t>
            </a:r>
          </a:p>
          <a:p>
            <a:r>
              <a:rPr lang="en-US" sz="600">
                <a:ea typeface="+mn-lt"/>
                <a:cs typeface="+mn-lt"/>
              </a:rPr>
              <a:t>  </a:t>
            </a:r>
            <a:r>
              <a:rPr lang="en-US" sz="600" err="1">
                <a:ea typeface="+mn-lt"/>
                <a:cs typeface="+mn-lt"/>
              </a:rPr>
              <a:t>as.numeric</a:t>
            </a:r>
            <a:r>
              <a:rPr lang="en-US" sz="600">
                <a:ea typeface="+mn-lt"/>
                <a:cs typeface="+mn-lt"/>
              </a:rPr>
              <a:t>(performance(pred, "</a:t>
            </a:r>
            <a:r>
              <a:rPr lang="en-US" sz="600">
                <a:ea typeface="+mn-lt"/>
                <a:cs typeface="+mn-lt"/>
                <a:hlinkClick r:id="rId2"/>
              </a:rPr>
              <a:t>auc")@y.values</a:t>
            </a:r>
            <a:r>
              <a:rPr lang="en-US" sz="600">
                <a:ea typeface="+mn-lt"/>
                <a:cs typeface="+mn-lt"/>
              </a:rPr>
              <a:t>)</a:t>
            </a:r>
          </a:p>
          <a:p>
            <a:r>
              <a:rPr lang="en-US" sz="600">
                <a:ea typeface="+mn-lt"/>
                <a:cs typeface="+mn-lt"/>
              </a:rPr>
              <a:t>}</a:t>
            </a:r>
          </a:p>
          <a:p>
            <a:endParaRPr lang="en-US" sz="600">
              <a:ea typeface="Calibri"/>
              <a:cs typeface="Calibri"/>
            </a:endParaRPr>
          </a:p>
          <a:p>
            <a:r>
              <a:rPr lang="en-US" sz="600" err="1">
                <a:ea typeface="+mn-lt"/>
                <a:cs typeface="+mn-lt"/>
              </a:rPr>
              <a:t>auc_table</a:t>
            </a:r>
            <a:r>
              <a:rPr lang="en-US" sz="600">
                <a:ea typeface="+mn-lt"/>
                <a:cs typeface="+mn-lt"/>
              </a:rPr>
              <a:t> &lt;- </a:t>
            </a:r>
            <a:r>
              <a:rPr lang="en-US" sz="600" err="1">
                <a:ea typeface="+mn-lt"/>
                <a:cs typeface="+mn-lt"/>
              </a:rPr>
              <a:t>data.frame</a:t>
            </a:r>
            <a:r>
              <a:rPr lang="en-US" sz="600">
                <a:ea typeface="+mn-lt"/>
                <a:cs typeface="+mn-lt"/>
              </a:rPr>
              <a:t>(</a:t>
            </a:r>
          </a:p>
          <a:p>
            <a:r>
              <a:rPr lang="en-US" sz="600">
                <a:ea typeface="+mn-lt"/>
                <a:cs typeface="+mn-lt"/>
              </a:rPr>
              <a:t>  Model = c(</a:t>
            </a:r>
            <a:endParaRPr lang="en-US" sz="600">
              <a:ea typeface="Calibri"/>
              <a:cs typeface="Calibri"/>
            </a:endParaRPr>
          </a:p>
          <a:p>
            <a:r>
              <a:rPr lang="en-US" sz="600">
                <a:ea typeface="+mn-lt"/>
                <a:cs typeface="+mn-lt"/>
              </a:rPr>
              <a:t>    "Level Logistic (Current)",</a:t>
            </a:r>
          </a:p>
          <a:p>
            <a:r>
              <a:rPr lang="en-US" sz="600">
                <a:ea typeface="+mn-lt"/>
                <a:cs typeface="+mn-lt"/>
              </a:rPr>
              <a:t>    "Delta Logistic (Change)"</a:t>
            </a:r>
            <a:endParaRPr lang="en-US" sz="600">
              <a:ea typeface="Calibri"/>
              <a:cs typeface="Calibri"/>
            </a:endParaRPr>
          </a:p>
          <a:p>
            <a:r>
              <a:rPr lang="en-US" sz="600">
                <a:ea typeface="+mn-lt"/>
                <a:cs typeface="+mn-lt"/>
              </a:rPr>
              <a:t>  ),</a:t>
            </a:r>
            <a:endParaRPr lang="en-US" sz="600">
              <a:ea typeface="Calibri"/>
              <a:cs typeface="Calibri"/>
            </a:endParaRPr>
          </a:p>
          <a:p>
            <a:r>
              <a:rPr lang="en-US" sz="600">
                <a:ea typeface="+mn-lt"/>
                <a:cs typeface="+mn-lt"/>
              </a:rPr>
              <a:t>  AUC = c(</a:t>
            </a:r>
          </a:p>
          <a:p>
            <a:r>
              <a:rPr lang="en-US" sz="600">
                <a:ea typeface="+mn-lt"/>
                <a:cs typeface="+mn-lt"/>
              </a:rPr>
              <a:t>    </a:t>
            </a:r>
            <a:r>
              <a:rPr lang="en-US" sz="600" err="1">
                <a:ea typeface="+mn-lt"/>
                <a:cs typeface="+mn-lt"/>
              </a:rPr>
              <a:t>auc_fun</a:t>
            </a:r>
            <a:r>
              <a:rPr lang="en-US" sz="600">
                <a:ea typeface="+mn-lt"/>
                <a:cs typeface="+mn-lt"/>
              </a:rPr>
              <a:t>(</a:t>
            </a:r>
            <a:r>
              <a:rPr lang="en-US" sz="600" err="1">
                <a:ea typeface="+mn-lt"/>
                <a:cs typeface="+mn-lt"/>
              </a:rPr>
              <a:t>p_level</a:t>
            </a:r>
            <a:r>
              <a:rPr lang="en-US" sz="600">
                <a:ea typeface="+mn-lt"/>
                <a:cs typeface="+mn-lt"/>
              </a:rPr>
              <a:t>, </a:t>
            </a:r>
            <a:r>
              <a:rPr lang="en-US" sz="600" err="1">
                <a:ea typeface="+mn-lt"/>
                <a:cs typeface="+mn-lt"/>
              </a:rPr>
              <a:t>y_valid</a:t>
            </a:r>
            <a:r>
              <a:rPr lang="en-US" sz="600">
                <a:ea typeface="+mn-lt"/>
                <a:cs typeface="+mn-lt"/>
              </a:rPr>
              <a:t>),</a:t>
            </a:r>
          </a:p>
          <a:p>
            <a:r>
              <a:rPr lang="en-US" sz="600">
                <a:ea typeface="+mn-lt"/>
                <a:cs typeface="+mn-lt"/>
              </a:rPr>
              <a:t>    </a:t>
            </a:r>
            <a:r>
              <a:rPr lang="en-US" sz="600" err="1">
                <a:ea typeface="+mn-lt"/>
                <a:cs typeface="+mn-lt"/>
              </a:rPr>
              <a:t>auc_fun</a:t>
            </a:r>
            <a:r>
              <a:rPr lang="en-US" sz="600">
                <a:ea typeface="+mn-lt"/>
                <a:cs typeface="+mn-lt"/>
              </a:rPr>
              <a:t>(</a:t>
            </a:r>
            <a:r>
              <a:rPr lang="en-US" sz="600" err="1">
                <a:ea typeface="+mn-lt"/>
                <a:cs typeface="+mn-lt"/>
              </a:rPr>
              <a:t>p_delta</a:t>
            </a:r>
            <a:r>
              <a:rPr lang="en-US" sz="600">
                <a:ea typeface="+mn-lt"/>
                <a:cs typeface="+mn-lt"/>
              </a:rPr>
              <a:t>, </a:t>
            </a:r>
            <a:r>
              <a:rPr lang="en-US" sz="600" err="1">
                <a:ea typeface="+mn-lt"/>
                <a:cs typeface="+mn-lt"/>
              </a:rPr>
              <a:t>y_valid</a:t>
            </a:r>
            <a:r>
              <a:rPr lang="en-US" sz="600">
                <a:ea typeface="+mn-lt"/>
                <a:cs typeface="+mn-lt"/>
              </a:rPr>
              <a:t>)</a:t>
            </a:r>
          </a:p>
          <a:p>
            <a:r>
              <a:rPr lang="en-US" sz="600">
                <a:ea typeface="+mn-lt"/>
                <a:cs typeface="+mn-lt"/>
              </a:rPr>
              <a:t>  )</a:t>
            </a:r>
          </a:p>
          <a:p>
            <a:r>
              <a:rPr lang="en-US" sz="600">
                <a:ea typeface="+mn-lt"/>
                <a:cs typeface="+mn-lt"/>
              </a:rPr>
              <a:t>)</a:t>
            </a:r>
          </a:p>
          <a:p>
            <a:endParaRPr lang="en-US" sz="600">
              <a:ea typeface="Calibri"/>
              <a:cs typeface="Calibri"/>
            </a:endParaRPr>
          </a:p>
          <a:p>
            <a:r>
              <a:rPr lang="en-US" sz="600" err="1">
                <a:ea typeface="+mn-lt"/>
                <a:cs typeface="+mn-lt"/>
              </a:rPr>
              <a:t>auc_table$AUC</a:t>
            </a:r>
            <a:r>
              <a:rPr lang="en-US" sz="600">
                <a:ea typeface="+mn-lt"/>
                <a:cs typeface="+mn-lt"/>
              </a:rPr>
              <a:t> &lt;- round(</a:t>
            </a:r>
            <a:r>
              <a:rPr lang="en-US" sz="600" err="1">
                <a:ea typeface="+mn-lt"/>
                <a:cs typeface="+mn-lt"/>
              </a:rPr>
              <a:t>auc_table$AUC</a:t>
            </a:r>
            <a:r>
              <a:rPr lang="en-US" sz="600">
                <a:ea typeface="+mn-lt"/>
                <a:cs typeface="+mn-lt"/>
              </a:rPr>
              <a:t>, 3)</a:t>
            </a:r>
          </a:p>
          <a:p>
            <a:r>
              <a:rPr lang="en-US" sz="600" err="1">
                <a:ea typeface="+mn-lt"/>
                <a:cs typeface="+mn-lt"/>
              </a:rPr>
              <a:t>auc_table</a:t>
            </a:r>
            <a:endParaRPr lang="en-US" sz="600">
              <a:ea typeface="+mn-lt"/>
              <a:cs typeface="+mn-lt"/>
            </a:endParaRPr>
          </a:p>
          <a:p>
            <a:endParaRPr lang="en-US" sz="800">
              <a:ea typeface="Calibri"/>
              <a:cs typeface="Calibri"/>
            </a:endParaRPr>
          </a:p>
        </p:txBody>
      </p:sp>
    </p:spTree>
    <p:extLst>
      <p:ext uri="{BB962C8B-B14F-4D97-AF65-F5344CB8AC3E}">
        <p14:creationId xmlns:p14="http://schemas.microsoft.com/office/powerpoint/2010/main" val="3642909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line and a red line&#10;&#10;AI-generated content may be incorrect.">
            <a:extLst>
              <a:ext uri="{FF2B5EF4-FFF2-40B4-BE49-F238E27FC236}">
                <a16:creationId xmlns:a16="http://schemas.microsoft.com/office/drawing/2014/main" id="{14095E2C-88AC-2086-204E-512B3DE81C42}"/>
              </a:ext>
            </a:extLst>
          </p:cNvPr>
          <p:cNvPicPr>
            <a:picLocks noChangeAspect="1"/>
          </p:cNvPicPr>
          <p:nvPr/>
        </p:nvPicPr>
        <p:blipFill>
          <a:blip r:embed="rId2"/>
          <a:srcRect t="364" r="169" b="4894"/>
          <a:stretch>
            <a:fillRect/>
          </a:stretch>
        </p:blipFill>
        <p:spPr>
          <a:xfrm>
            <a:off x="370899" y="1496313"/>
            <a:ext cx="5593946" cy="3538752"/>
          </a:xfrm>
          <a:prstGeom prst="rect">
            <a:avLst/>
          </a:prstGeom>
        </p:spPr>
      </p:pic>
      <p:sp>
        <p:nvSpPr>
          <p:cNvPr id="4" name="TextBox 3">
            <a:extLst>
              <a:ext uri="{FF2B5EF4-FFF2-40B4-BE49-F238E27FC236}">
                <a16:creationId xmlns:a16="http://schemas.microsoft.com/office/drawing/2014/main" id="{2716C0C3-E444-7943-77C3-C14FE4299220}"/>
              </a:ext>
            </a:extLst>
          </p:cNvPr>
          <p:cNvSpPr txBox="1"/>
          <p:nvPr/>
        </p:nvSpPr>
        <p:spPr>
          <a:xfrm>
            <a:off x="5963478" y="248479"/>
            <a:ext cx="6096000" cy="6370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 Slide 11: Decile Targeting Curve (Level vs Delta Logistic)</a:t>
            </a:r>
          </a:p>
          <a:p>
            <a:endParaRPr lang="en-US" sz="1200">
              <a:ea typeface="Calibri"/>
              <a:cs typeface="Calibri"/>
            </a:endParaRPr>
          </a:p>
          <a:p>
            <a:r>
              <a:rPr lang="en-US" sz="1200" err="1">
                <a:ea typeface="+mn-lt"/>
                <a:cs typeface="+mn-lt"/>
              </a:rPr>
              <a:t>ggplot</a:t>
            </a:r>
            <a:r>
              <a:rPr lang="en-US" sz="1200">
                <a:ea typeface="+mn-lt"/>
                <a:cs typeface="+mn-lt"/>
              </a:rPr>
              <a:t>(</a:t>
            </a:r>
          </a:p>
          <a:p>
            <a:r>
              <a:rPr lang="en-US" sz="1200">
                <a:ea typeface="+mn-lt"/>
                <a:cs typeface="+mn-lt"/>
              </a:rPr>
              <a:t>  </a:t>
            </a:r>
            <a:r>
              <a:rPr lang="en-US" sz="1200" err="1">
                <a:ea typeface="+mn-lt"/>
                <a:cs typeface="+mn-lt"/>
              </a:rPr>
              <a:t>dc_ld</a:t>
            </a:r>
            <a:r>
              <a:rPr lang="en-US" sz="1200">
                <a:ea typeface="+mn-lt"/>
                <a:cs typeface="+mn-lt"/>
              </a:rPr>
              <a:t>,</a:t>
            </a:r>
          </a:p>
          <a:p>
            <a:r>
              <a:rPr lang="en-US" sz="1200">
                <a:ea typeface="+mn-lt"/>
                <a:cs typeface="+mn-lt"/>
              </a:rPr>
              <a:t>  </a:t>
            </a:r>
            <a:r>
              <a:rPr lang="en-US" sz="1200" err="1">
                <a:ea typeface="+mn-lt"/>
                <a:cs typeface="+mn-lt"/>
              </a:rPr>
              <a:t>aes</a:t>
            </a:r>
            <a:r>
              <a:rPr lang="en-US" sz="1200">
                <a:ea typeface="+mn-lt"/>
                <a:cs typeface="+mn-lt"/>
              </a:rPr>
              <a:t>(</a:t>
            </a:r>
          </a:p>
          <a:p>
            <a:r>
              <a:rPr lang="en-US" sz="1200">
                <a:ea typeface="+mn-lt"/>
                <a:cs typeface="+mn-lt"/>
              </a:rPr>
              <a:t>    x = decile,</a:t>
            </a:r>
          </a:p>
          <a:p>
            <a:r>
              <a:rPr lang="en-US" sz="1200">
                <a:ea typeface="+mn-lt"/>
                <a:cs typeface="+mn-lt"/>
              </a:rPr>
              <a:t>    y = </a:t>
            </a:r>
            <a:r>
              <a:rPr lang="en-US" sz="1200" err="1">
                <a:ea typeface="+mn-lt"/>
                <a:cs typeface="+mn-lt"/>
              </a:rPr>
              <a:t>adopt_rate</a:t>
            </a:r>
            <a:r>
              <a:rPr lang="en-US" sz="1200">
                <a:ea typeface="+mn-lt"/>
                <a:cs typeface="+mn-lt"/>
              </a:rPr>
              <a:t>,</a:t>
            </a:r>
          </a:p>
          <a:p>
            <a:r>
              <a:rPr lang="en-US" sz="1200">
                <a:ea typeface="+mn-lt"/>
                <a:cs typeface="+mn-lt"/>
              </a:rPr>
              <a:t>    color = model,</a:t>
            </a:r>
          </a:p>
          <a:p>
            <a:r>
              <a:rPr lang="en-US" sz="1200">
                <a:ea typeface="+mn-lt"/>
                <a:cs typeface="+mn-lt"/>
              </a:rPr>
              <a:t>    </a:t>
            </a:r>
            <a:r>
              <a:rPr lang="en-US" sz="1200" err="1">
                <a:ea typeface="+mn-lt"/>
                <a:cs typeface="+mn-lt"/>
              </a:rPr>
              <a:t>linetype</a:t>
            </a:r>
            <a:r>
              <a:rPr lang="en-US" sz="1200">
                <a:ea typeface="+mn-lt"/>
                <a:cs typeface="+mn-lt"/>
              </a:rPr>
              <a:t> = model,</a:t>
            </a:r>
          </a:p>
          <a:p>
            <a:r>
              <a:rPr lang="en-US" sz="1200">
                <a:ea typeface="+mn-lt"/>
                <a:cs typeface="+mn-lt"/>
              </a:rPr>
              <a:t>    group = model</a:t>
            </a:r>
          </a:p>
          <a:p>
            <a:r>
              <a:rPr lang="en-US" sz="1200">
                <a:ea typeface="+mn-lt"/>
                <a:cs typeface="+mn-lt"/>
              </a:rPr>
              <a:t>  )</a:t>
            </a:r>
          </a:p>
          <a:p>
            <a:r>
              <a:rPr lang="en-US" sz="1200">
                <a:ea typeface="+mn-lt"/>
                <a:cs typeface="+mn-lt"/>
              </a:rPr>
              <a:t>) +</a:t>
            </a:r>
          </a:p>
          <a:p>
            <a:r>
              <a:rPr lang="en-US" sz="1200">
                <a:ea typeface="+mn-lt"/>
                <a:cs typeface="+mn-lt"/>
              </a:rPr>
              <a:t>  </a:t>
            </a:r>
            <a:r>
              <a:rPr lang="en-US" sz="1200" err="1">
                <a:ea typeface="+mn-lt"/>
                <a:cs typeface="+mn-lt"/>
              </a:rPr>
              <a:t>geom_line</a:t>
            </a:r>
            <a:r>
              <a:rPr lang="en-US" sz="1200">
                <a:ea typeface="+mn-lt"/>
                <a:cs typeface="+mn-lt"/>
              </a:rPr>
              <a:t>(linewidth = 1) +</a:t>
            </a:r>
          </a:p>
          <a:p>
            <a:r>
              <a:rPr lang="en-US" sz="1200">
                <a:ea typeface="+mn-lt"/>
                <a:cs typeface="+mn-lt"/>
              </a:rPr>
              <a:t>  </a:t>
            </a:r>
            <a:r>
              <a:rPr lang="en-US" sz="1200" err="1">
                <a:ea typeface="+mn-lt"/>
                <a:cs typeface="+mn-lt"/>
              </a:rPr>
              <a:t>geom_point</a:t>
            </a:r>
            <a:r>
              <a:rPr lang="en-US" sz="1200">
                <a:ea typeface="+mn-lt"/>
                <a:cs typeface="+mn-lt"/>
              </a:rPr>
              <a:t>(size = 2) +</a:t>
            </a:r>
          </a:p>
          <a:p>
            <a:r>
              <a:rPr lang="en-US" sz="1200">
                <a:ea typeface="+mn-lt"/>
                <a:cs typeface="+mn-lt"/>
              </a:rPr>
              <a:t>  </a:t>
            </a:r>
            <a:r>
              <a:rPr lang="en-US" sz="1200" err="1">
                <a:ea typeface="+mn-lt"/>
                <a:cs typeface="+mn-lt"/>
              </a:rPr>
              <a:t>scale_x_continuous</a:t>
            </a:r>
            <a:r>
              <a:rPr lang="en-US" sz="1200">
                <a:ea typeface="+mn-lt"/>
                <a:cs typeface="+mn-lt"/>
              </a:rPr>
              <a:t>(breaks = 1:10) +</a:t>
            </a:r>
          </a:p>
          <a:p>
            <a:r>
              <a:rPr lang="en-US" sz="1200">
                <a:ea typeface="+mn-lt"/>
                <a:cs typeface="+mn-lt"/>
              </a:rPr>
              <a:t>  </a:t>
            </a:r>
            <a:r>
              <a:rPr lang="en-US" sz="1200" err="1">
                <a:ea typeface="+mn-lt"/>
                <a:cs typeface="+mn-lt"/>
              </a:rPr>
              <a:t>scale_y_continuous</a:t>
            </a:r>
            <a:r>
              <a:rPr lang="en-US" sz="1200">
                <a:ea typeface="+mn-lt"/>
                <a:cs typeface="+mn-lt"/>
              </a:rPr>
              <a:t>(</a:t>
            </a:r>
          </a:p>
          <a:p>
            <a:r>
              <a:rPr lang="en-US" sz="1200">
                <a:ea typeface="+mn-lt"/>
                <a:cs typeface="+mn-lt"/>
              </a:rPr>
              <a:t>    labels = </a:t>
            </a:r>
            <a:r>
              <a:rPr lang="en-US" sz="1200" err="1">
                <a:ea typeface="+mn-lt"/>
                <a:cs typeface="+mn-lt"/>
              </a:rPr>
              <a:t>percent_format</a:t>
            </a:r>
            <a:r>
              <a:rPr lang="en-US" sz="1200">
                <a:ea typeface="+mn-lt"/>
                <a:cs typeface="+mn-lt"/>
              </a:rPr>
              <a:t>(accuracy = 1)</a:t>
            </a:r>
          </a:p>
          <a:p>
            <a:r>
              <a:rPr lang="en-US" sz="1200">
                <a:ea typeface="+mn-lt"/>
                <a:cs typeface="+mn-lt"/>
              </a:rPr>
              <a:t>  ) +</a:t>
            </a:r>
          </a:p>
          <a:p>
            <a:r>
              <a:rPr lang="en-US" sz="1200">
                <a:ea typeface="+mn-lt"/>
                <a:cs typeface="+mn-lt"/>
              </a:rPr>
              <a:t>  labs(</a:t>
            </a:r>
          </a:p>
          <a:p>
            <a:r>
              <a:rPr lang="en-US" sz="1200">
                <a:ea typeface="+mn-lt"/>
                <a:cs typeface="+mn-lt"/>
              </a:rPr>
              <a:t>    title = "Validation: Targeting Curve (Level vs Delta Logistic)",</a:t>
            </a:r>
          </a:p>
          <a:p>
            <a:r>
              <a:rPr lang="en-US" sz="1200">
                <a:ea typeface="+mn-lt"/>
                <a:cs typeface="+mn-lt"/>
              </a:rPr>
              <a:t>    x = "Decile (10 = Highest Predicted Probability)",</a:t>
            </a:r>
          </a:p>
          <a:p>
            <a:r>
              <a:rPr lang="en-US" sz="1200">
                <a:ea typeface="+mn-lt"/>
                <a:cs typeface="+mn-lt"/>
              </a:rPr>
              <a:t>    y = "Observed Adoption Rate",</a:t>
            </a:r>
          </a:p>
          <a:p>
            <a:r>
              <a:rPr lang="en-US" sz="1200">
                <a:ea typeface="+mn-lt"/>
                <a:cs typeface="+mn-lt"/>
              </a:rPr>
              <a:t>    color = "Model",</a:t>
            </a:r>
          </a:p>
          <a:p>
            <a:r>
              <a:rPr lang="en-US" sz="1200">
                <a:ea typeface="+mn-lt"/>
                <a:cs typeface="+mn-lt"/>
              </a:rPr>
              <a:t>    </a:t>
            </a:r>
            <a:r>
              <a:rPr lang="en-US" sz="1200" err="1">
                <a:ea typeface="+mn-lt"/>
                <a:cs typeface="+mn-lt"/>
              </a:rPr>
              <a:t>linetype</a:t>
            </a:r>
            <a:r>
              <a:rPr lang="en-US" sz="1200">
                <a:ea typeface="+mn-lt"/>
                <a:cs typeface="+mn-lt"/>
              </a:rPr>
              <a:t> = "Model",</a:t>
            </a:r>
          </a:p>
          <a:p>
            <a:r>
              <a:rPr lang="en-US" sz="1200">
                <a:ea typeface="+mn-lt"/>
                <a:cs typeface="+mn-lt"/>
              </a:rPr>
              <a:t>    caption = "If the Delta curve closely tracks the Level curve, momentum (PRE → CURRENT change) is nearly as predictive as current levels."</a:t>
            </a:r>
          </a:p>
          <a:p>
            <a:r>
              <a:rPr lang="en-US" sz="1200">
                <a:ea typeface="+mn-lt"/>
                <a:cs typeface="+mn-lt"/>
              </a:rPr>
              <a:t>  ) +</a:t>
            </a:r>
          </a:p>
          <a:p>
            <a:r>
              <a:rPr lang="en-US" sz="1200">
                <a:ea typeface="+mn-lt"/>
                <a:cs typeface="+mn-lt"/>
              </a:rPr>
              <a:t>  </a:t>
            </a:r>
            <a:r>
              <a:rPr lang="en-US" sz="1200" err="1">
                <a:ea typeface="+mn-lt"/>
                <a:cs typeface="+mn-lt"/>
              </a:rPr>
              <a:t>theme_minimal</a:t>
            </a:r>
            <a:r>
              <a:rPr lang="en-US" sz="1200">
                <a:ea typeface="+mn-lt"/>
                <a:cs typeface="+mn-lt"/>
              </a:rPr>
              <a:t>() +</a:t>
            </a:r>
          </a:p>
          <a:p>
            <a:r>
              <a:rPr lang="en-US" sz="1200">
                <a:ea typeface="+mn-lt"/>
                <a:cs typeface="+mn-lt"/>
              </a:rPr>
              <a:t>  theme(</a:t>
            </a:r>
          </a:p>
          <a:p>
            <a:r>
              <a:rPr lang="en-US" sz="1200">
                <a:ea typeface="+mn-lt"/>
                <a:cs typeface="+mn-lt"/>
              </a:rPr>
              <a:t>    </a:t>
            </a:r>
            <a:r>
              <a:rPr lang="en-US" sz="1200" err="1">
                <a:ea typeface="+mn-lt"/>
                <a:cs typeface="+mn-lt"/>
              </a:rPr>
              <a:t>legend.position</a:t>
            </a:r>
            <a:r>
              <a:rPr lang="en-US" sz="1200">
                <a:ea typeface="+mn-lt"/>
                <a:cs typeface="+mn-lt"/>
              </a:rPr>
              <a:t> = "bottom"</a:t>
            </a:r>
          </a:p>
          <a:p>
            <a:r>
              <a:rPr lang="en-US" sz="1200">
                <a:ea typeface="+mn-lt"/>
                <a:cs typeface="+mn-lt"/>
              </a:rPr>
              <a:t>  )</a:t>
            </a:r>
          </a:p>
          <a:p>
            <a:endParaRPr lang="en-US">
              <a:ea typeface="Calibri"/>
              <a:cs typeface="Calibri"/>
            </a:endParaRPr>
          </a:p>
          <a:p>
            <a:pPr algn="ctr"/>
            <a:endParaRPr lang="en-US"/>
          </a:p>
        </p:txBody>
      </p:sp>
    </p:spTree>
    <p:extLst>
      <p:ext uri="{BB962C8B-B14F-4D97-AF65-F5344CB8AC3E}">
        <p14:creationId xmlns:p14="http://schemas.microsoft.com/office/powerpoint/2010/main" val="2973087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logistic regression&#10;&#10;AI-generated content may be incorrect.">
            <a:extLst>
              <a:ext uri="{FF2B5EF4-FFF2-40B4-BE49-F238E27FC236}">
                <a16:creationId xmlns:a16="http://schemas.microsoft.com/office/drawing/2014/main" id="{F1F3B0F6-EF99-1A0F-B8E1-720079D34BA5}"/>
              </a:ext>
            </a:extLst>
          </p:cNvPr>
          <p:cNvPicPr>
            <a:picLocks noChangeAspect="1"/>
          </p:cNvPicPr>
          <p:nvPr/>
        </p:nvPicPr>
        <p:blipFill>
          <a:blip r:embed="rId2"/>
          <a:stretch>
            <a:fillRect/>
          </a:stretch>
        </p:blipFill>
        <p:spPr>
          <a:xfrm>
            <a:off x="6748062" y="3831193"/>
            <a:ext cx="5212119" cy="2992580"/>
          </a:xfrm>
          <a:prstGeom prst="rect">
            <a:avLst/>
          </a:prstGeom>
        </p:spPr>
      </p:pic>
      <p:pic>
        <p:nvPicPr>
          <p:cNvPr id="5" name="Picture 4" descr="A diagram of a tree&#10;&#10;AI-generated content may be incorrect.">
            <a:extLst>
              <a:ext uri="{FF2B5EF4-FFF2-40B4-BE49-F238E27FC236}">
                <a16:creationId xmlns:a16="http://schemas.microsoft.com/office/drawing/2014/main" id="{8AF20477-B6A4-61DF-DB07-E9697F622825}"/>
              </a:ext>
            </a:extLst>
          </p:cNvPr>
          <p:cNvPicPr>
            <a:picLocks noChangeAspect="1"/>
          </p:cNvPicPr>
          <p:nvPr/>
        </p:nvPicPr>
        <p:blipFill>
          <a:blip r:embed="rId3"/>
          <a:stretch>
            <a:fillRect/>
          </a:stretch>
        </p:blipFill>
        <p:spPr>
          <a:xfrm>
            <a:off x="6801534" y="433687"/>
            <a:ext cx="5142766" cy="3391632"/>
          </a:xfrm>
          <a:prstGeom prst="rect">
            <a:avLst/>
          </a:prstGeom>
        </p:spPr>
      </p:pic>
      <p:pic>
        <p:nvPicPr>
          <p:cNvPr id="6" name="Picture 5" descr="A graph with a bar graph&#10;&#10;AI-generated content may be incorrect.">
            <a:extLst>
              <a:ext uri="{FF2B5EF4-FFF2-40B4-BE49-F238E27FC236}">
                <a16:creationId xmlns:a16="http://schemas.microsoft.com/office/drawing/2014/main" id="{B3524B13-C2BD-14C7-FB9D-60EBC4745A9A}"/>
              </a:ext>
            </a:extLst>
          </p:cNvPr>
          <p:cNvPicPr>
            <a:picLocks noChangeAspect="1"/>
          </p:cNvPicPr>
          <p:nvPr/>
        </p:nvPicPr>
        <p:blipFill>
          <a:blip r:embed="rId4"/>
          <a:stretch>
            <a:fillRect/>
          </a:stretch>
        </p:blipFill>
        <p:spPr>
          <a:xfrm>
            <a:off x="220" y="428583"/>
            <a:ext cx="5167615" cy="3401840"/>
          </a:xfrm>
          <a:prstGeom prst="rect">
            <a:avLst/>
          </a:prstGeom>
        </p:spPr>
      </p:pic>
      <p:pic>
        <p:nvPicPr>
          <p:cNvPr id="8" name="Picture 7">
            <a:extLst>
              <a:ext uri="{FF2B5EF4-FFF2-40B4-BE49-F238E27FC236}">
                <a16:creationId xmlns:a16="http://schemas.microsoft.com/office/drawing/2014/main" id="{5EC942E3-E307-03F4-E204-04EDBCAF90DE}"/>
              </a:ext>
            </a:extLst>
          </p:cNvPr>
          <p:cNvPicPr>
            <a:picLocks noChangeAspect="1"/>
          </p:cNvPicPr>
          <p:nvPr/>
        </p:nvPicPr>
        <p:blipFill>
          <a:blip r:embed="rId5"/>
          <a:srcRect t="-55" r="156" b="6635"/>
          <a:stretch>
            <a:fillRect/>
          </a:stretch>
        </p:blipFill>
        <p:spPr>
          <a:xfrm>
            <a:off x="-3259" y="3810751"/>
            <a:ext cx="5465464" cy="3002258"/>
          </a:xfrm>
          <a:prstGeom prst="rect">
            <a:avLst/>
          </a:prstGeom>
        </p:spPr>
      </p:pic>
      <p:sp>
        <p:nvSpPr>
          <p:cNvPr id="3" name="TextBox 2">
            <a:extLst>
              <a:ext uri="{FF2B5EF4-FFF2-40B4-BE49-F238E27FC236}">
                <a16:creationId xmlns:a16="http://schemas.microsoft.com/office/drawing/2014/main" id="{92E4BC76-1DAB-89E9-EE03-F0177A389615}"/>
              </a:ext>
            </a:extLst>
          </p:cNvPr>
          <p:cNvSpPr txBox="1"/>
          <p:nvPr/>
        </p:nvSpPr>
        <p:spPr>
          <a:xfrm>
            <a:off x="0" y="-5861"/>
            <a:ext cx="106445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Logistic Regression vs Decision Tree across interpretability and profit sensitivity</a:t>
            </a:r>
          </a:p>
          <a:p>
            <a:pPr algn="ctr"/>
            <a:endParaRPr lang="en-US"/>
          </a:p>
        </p:txBody>
      </p:sp>
    </p:spTree>
    <p:extLst>
      <p:ext uri="{BB962C8B-B14F-4D97-AF65-F5344CB8AC3E}">
        <p14:creationId xmlns:p14="http://schemas.microsoft.com/office/powerpoint/2010/main" val="363058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5F7"/>
        </a:solidFill>
        <a:effectLst/>
      </p:bgPr>
    </p:bg>
    <p:spTree>
      <p:nvGrpSpPr>
        <p:cNvPr id="1" name="">
          <a:extLst>
            <a:ext uri="{FF2B5EF4-FFF2-40B4-BE49-F238E27FC236}">
              <a16:creationId xmlns:a16="http://schemas.microsoft.com/office/drawing/2014/main" id="{1FF5D58F-815A-E448-17D0-AD6F44A5A0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EBD9B2A-6366-65DB-0465-7DB8BF206790}"/>
              </a:ext>
            </a:extLst>
          </p:cNvPr>
          <p:cNvSpPr/>
          <p:nvPr/>
        </p:nvSpPr>
        <p:spPr>
          <a:xfrm>
            <a:off x="3646833" y="231440"/>
            <a:ext cx="11546125" cy="176952"/>
          </a:xfrm>
          <a:prstGeom prst="rect">
            <a:avLst/>
          </a:prstGeom>
          <a:noFill/>
          <a:ln/>
        </p:spPr>
        <p:txBody>
          <a:bodyPr wrap="square" lIns="0" tIns="0" rIns="0" bIns="0" rtlCol="0" anchor="ctr"/>
          <a:lstStyle/>
          <a:p>
            <a:pPr>
              <a:lnSpc>
                <a:spcPct val="120000"/>
              </a:lnSpc>
            </a:pPr>
            <a:r>
              <a:rPr lang="en-US" sz="975" b="1" kern="0" spc="49">
                <a:solidFill>
                  <a:srgbClr val="0071E3"/>
                </a:solidFill>
                <a:latin typeface="Liter" pitchFamily="34" charset="0"/>
                <a:ea typeface="Liter" pitchFamily="34" charset="-122"/>
                <a:cs typeface="Liter" pitchFamily="34" charset="-120"/>
              </a:rPr>
              <a:t>Validation Framework</a:t>
            </a:r>
            <a:endParaRPr lang="en-US" sz="1600"/>
          </a:p>
        </p:txBody>
      </p:sp>
      <p:sp>
        <p:nvSpPr>
          <p:cNvPr id="3" name="Text 1">
            <a:extLst>
              <a:ext uri="{FF2B5EF4-FFF2-40B4-BE49-F238E27FC236}">
                <a16:creationId xmlns:a16="http://schemas.microsoft.com/office/drawing/2014/main" id="{A3938B37-B070-25FE-3DDF-537FE010085A}"/>
              </a:ext>
            </a:extLst>
          </p:cNvPr>
          <p:cNvSpPr/>
          <p:nvPr/>
        </p:nvSpPr>
        <p:spPr>
          <a:xfrm>
            <a:off x="3646833" y="420558"/>
            <a:ext cx="6714227" cy="588807"/>
          </a:xfrm>
          <a:prstGeom prst="rect">
            <a:avLst/>
          </a:prstGeom>
          <a:noFill/>
          <a:ln/>
        </p:spPr>
        <p:txBody>
          <a:bodyPr wrap="square" lIns="0" tIns="0" rIns="0" bIns="0" rtlCol="0" anchor="ctr"/>
          <a:lstStyle/>
          <a:p>
            <a:pPr>
              <a:lnSpc>
                <a:spcPct val="80000"/>
              </a:lnSpc>
            </a:pPr>
            <a:r>
              <a:rPr lang="en-US" sz="3344" b="1">
                <a:solidFill>
                  <a:srgbClr val="1D1D1F"/>
                </a:solidFill>
                <a:latin typeface="Hedvig Letters Sans" pitchFamily="34" charset="0"/>
                <a:ea typeface="Hedvig Letters Sans" pitchFamily="34" charset="-122"/>
                <a:cs typeface="Hedvig Letters Sans" pitchFamily="34" charset="-120"/>
              </a:rPr>
              <a:t>Model Validation &amp; Credibility</a:t>
            </a:r>
            <a:endParaRPr lang="en-US" sz="1600"/>
          </a:p>
        </p:txBody>
      </p:sp>
      <p:sp>
        <p:nvSpPr>
          <p:cNvPr id="4" name="Text 2">
            <a:extLst>
              <a:ext uri="{FF2B5EF4-FFF2-40B4-BE49-F238E27FC236}">
                <a16:creationId xmlns:a16="http://schemas.microsoft.com/office/drawing/2014/main" id="{833CDDBF-74F1-3E9D-B56D-5BCBE9A27EAA}"/>
              </a:ext>
            </a:extLst>
          </p:cNvPr>
          <p:cNvSpPr/>
          <p:nvPr/>
        </p:nvSpPr>
        <p:spPr>
          <a:xfrm>
            <a:off x="3646833" y="1010029"/>
            <a:ext cx="11572668" cy="247733"/>
          </a:xfrm>
          <a:prstGeom prst="rect">
            <a:avLst/>
          </a:prstGeom>
          <a:noFill/>
          <a:ln/>
        </p:spPr>
        <p:txBody>
          <a:bodyPr wrap="square" lIns="0" tIns="0" rIns="0" bIns="0" rtlCol="0" anchor="ctr"/>
          <a:lstStyle/>
          <a:p>
            <a:pPr>
              <a:lnSpc>
                <a:spcPct val="120000"/>
              </a:lnSpc>
            </a:pPr>
            <a:r>
              <a:rPr lang="en-US" sz="1393">
                <a:solidFill>
                  <a:srgbClr val="86868B"/>
                </a:solidFill>
                <a:latin typeface="Liter" pitchFamily="34" charset="0"/>
                <a:ea typeface="Liter" pitchFamily="34" charset="-122"/>
                <a:cs typeface="Liter" pitchFamily="34" charset="-120"/>
              </a:rPr>
              <a:t>Why management should trust this analysis</a:t>
            </a:r>
            <a:endParaRPr lang="en-US" sz="1600"/>
          </a:p>
        </p:txBody>
      </p:sp>
      <p:sp>
        <p:nvSpPr>
          <p:cNvPr id="5" name="Shape 3">
            <a:extLst>
              <a:ext uri="{FF2B5EF4-FFF2-40B4-BE49-F238E27FC236}">
                <a16:creationId xmlns:a16="http://schemas.microsoft.com/office/drawing/2014/main" id="{8C52EE98-A41D-4865-4A2E-DD0CD2C741E6}"/>
              </a:ext>
            </a:extLst>
          </p:cNvPr>
          <p:cNvSpPr/>
          <p:nvPr/>
        </p:nvSpPr>
        <p:spPr>
          <a:xfrm>
            <a:off x="3649782" y="1437664"/>
            <a:ext cx="4872081" cy="4075797"/>
          </a:xfrm>
          <a:custGeom>
            <a:avLst/>
            <a:gdLst/>
            <a:ahLst/>
            <a:cxnLst/>
            <a:rect l="l" t="t" r="r" b="b"/>
            <a:pathLst>
              <a:path w="4872081" h="4075797">
                <a:moveTo>
                  <a:pt x="141552" y="0"/>
                </a:moveTo>
                <a:lnTo>
                  <a:pt x="4730529" y="0"/>
                </a:lnTo>
                <a:cubicBezTo>
                  <a:pt x="4808706" y="0"/>
                  <a:pt x="4872081" y="63375"/>
                  <a:pt x="4872081" y="141552"/>
                </a:cubicBezTo>
                <a:lnTo>
                  <a:pt x="4872081" y="3934244"/>
                </a:lnTo>
                <a:cubicBezTo>
                  <a:pt x="4872081" y="4012422"/>
                  <a:pt x="4808706" y="4075797"/>
                  <a:pt x="4730529" y="4075797"/>
                </a:cubicBezTo>
                <a:lnTo>
                  <a:pt x="141552" y="4075797"/>
                </a:lnTo>
                <a:cubicBezTo>
                  <a:pt x="63375" y="4075797"/>
                  <a:pt x="0" y="4012422"/>
                  <a:pt x="0" y="3934244"/>
                </a:cubicBezTo>
                <a:lnTo>
                  <a:pt x="0" y="141552"/>
                </a:lnTo>
                <a:cubicBezTo>
                  <a:pt x="0" y="63375"/>
                  <a:pt x="63375" y="0"/>
                  <a:pt x="141552" y="0"/>
                </a:cubicBezTo>
                <a:close/>
              </a:path>
            </a:pathLst>
          </a:custGeom>
          <a:solidFill>
            <a:srgbClr val="FFFFFF"/>
          </a:solidFill>
          <a:ln w="8467">
            <a:solidFill>
              <a:srgbClr val="F3F4F6"/>
            </a:solidFill>
            <a:prstDash val="solid"/>
          </a:ln>
          <a:effectLst>
            <a:outerShdw blurRad="26543" dist="8848" dir="5400000" algn="bl" rotWithShape="0">
              <a:srgbClr val="000000">
                <a:alpha val="10196"/>
              </a:srgbClr>
            </a:outerShdw>
          </a:effectLst>
        </p:spPr>
      </p:sp>
      <p:sp>
        <p:nvSpPr>
          <p:cNvPr id="6" name="Text 4">
            <a:extLst>
              <a:ext uri="{FF2B5EF4-FFF2-40B4-BE49-F238E27FC236}">
                <a16:creationId xmlns:a16="http://schemas.microsoft.com/office/drawing/2014/main" id="{8026DA9F-1B29-93D7-E2DB-3CE3E167E83C}"/>
              </a:ext>
            </a:extLst>
          </p:cNvPr>
          <p:cNvSpPr/>
          <p:nvPr/>
        </p:nvSpPr>
        <p:spPr>
          <a:xfrm>
            <a:off x="3865074" y="1652958"/>
            <a:ext cx="4529974" cy="247733"/>
          </a:xfrm>
          <a:prstGeom prst="rect">
            <a:avLst/>
          </a:prstGeom>
          <a:noFill/>
          <a:ln/>
        </p:spPr>
        <p:txBody>
          <a:bodyPr wrap="square" lIns="0" tIns="0" rIns="0" bIns="0" rtlCol="0" anchor="ctr"/>
          <a:lstStyle/>
          <a:p>
            <a:pPr>
              <a:lnSpc>
                <a:spcPct val="120000"/>
              </a:lnSpc>
            </a:pPr>
            <a:r>
              <a:rPr lang="en-US" sz="1393" b="1">
                <a:solidFill>
                  <a:srgbClr val="1D1D1F"/>
                </a:solidFill>
                <a:latin typeface="Hedvig Letters Sans" pitchFamily="34" charset="0"/>
                <a:ea typeface="Hedvig Letters Sans" pitchFamily="34" charset="-122"/>
                <a:cs typeface="Hedvig Letters Sans" pitchFamily="34" charset="-120"/>
              </a:rPr>
              <a:t>Validation Approach</a:t>
            </a:r>
            <a:endParaRPr lang="en-US" sz="1600"/>
          </a:p>
        </p:txBody>
      </p:sp>
      <p:sp>
        <p:nvSpPr>
          <p:cNvPr id="7" name="Shape 5">
            <a:extLst>
              <a:ext uri="{FF2B5EF4-FFF2-40B4-BE49-F238E27FC236}">
                <a16:creationId xmlns:a16="http://schemas.microsoft.com/office/drawing/2014/main" id="{B779D2E2-60E5-32C3-75AE-6F0C7021BFB2}"/>
              </a:ext>
            </a:extLst>
          </p:cNvPr>
          <p:cNvSpPr/>
          <p:nvPr/>
        </p:nvSpPr>
        <p:spPr>
          <a:xfrm>
            <a:off x="3865074" y="2042253"/>
            <a:ext cx="424685" cy="424685"/>
          </a:xfrm>
          <a:custGeom>
            <a:avLst/>
            <a:gdLst/>
            <a:ahLst/>
            <a:cxnLst/>
            <a:rect l="l" t="t" r="r" b="b"/>
            <a:pathLst>
              <a:path w="424685" h="424685">
                <a:moveTo>
                  <a:pt x="106171" y="0"/>
                </a:moveTo>
                <a:lnTo>
                  <a:pt x="318514" y="0"/>
                </a:lnTo>
                <a:cubicBezTo>
                  <a:pt x="377151" y="0"/>
                  <a:pt x="424685" y="47534"/>
                  <a:pt x="424685" y="106171"/>
                </a:cubicBezTo>
                <a:lnTo>
                  <a:pt x="424685" y="318514"/>
                </a:lnTo>
                <a:cubicBezTo>
                  <a:pt x="424685" y="377151"/>
                  <a:pt x="377151" y="424685"/>
                  <a:pt x="318514" y="424685"/>
                </a:cubicBezTo>
                <a:lnTo>
                  <a:pt x="106171" y="424685"/>
                </a:lnTo>
                <a:cubicBezTo>
                  <a:pt x="47534" y="424685"/>
                  <a:pt x="0" y="377151"/>
                  <a:pt x="0" y="318514"/>
                </a:cubicBezTo>
                <a:lnTo>
                  <a:pt x="0" y="106171"/>
                </a:lnTo>
                <a:cubicBezTo>
                  <a:pt x="0" y="47534"/>
                  <a:pt x="47534" y="0"/>
                  <a:pt x="106171" y="0"/>
                </a:cubicBezTo>
                <a:close/>
              </a:path>
            </a:pathLst>
          </a:custGeom>
          <a:solidFill>
            <a:srgbClr val="0071E3">
              <a:alpha val="10196"/>
            </a:srgbClr>
          </a:solidFill>
          <a:ln/>
        </p:spPr>
      </p:sp>
      <p:sp>
        <p:nvSpPr>
          <p:cNvPr id="8" name="Shape 6">
            <a:extLst>
              <a:ext uri="{FF2B5EF4-FFF2-40B4-BE49-F238E27FC236}">
                <a16:creationId xmlns:a16="http://schemas.microsoft.com/office/drawing/2014/main" id="{B5F97E6B-A642-F815-7A52-117E27140AD0}"/>
              </a:ext>
            </a:extLst>
          </p:cNvPr>
          <p:cNvSpPr/>
          <p:nvPr/>
        </p:nvSpPr>
        <p:spPr>
          <a:xfrm>
            <a:off x="4000000" y="2166119"/>
            <a:ext cx="154833" cy="176952"/>
          </a:xfrm>
          <a:custGeom>
            <a:avLst/>
            <a:gdLst/>
            <a:ahLst/>
            <a:cxnLst/>
            <a:rect l="l" t="t" r="r" b="b"/>
            <a:pathLst>
              <a:path w="154833" h="176952">
                <a:moveTo>
                  <a:pt x="154833" y="71126"/>
                </a:moveTo>
                <a:cubicBezTo>
                  <a:pt x="149718" y="74513"/>
                  <a:pt x="143843" y="77244"/>
                  <a:pt x="137725" y="79421"/>
                </a:cubicBezTo>
                <a:cubicBezTo>
                  <a:pt x="121482" y="85227"/>
                  <a:pt x="100158" y="88476"/>
                  <a:pt x="77417" y="88476"/>
                </a:cubicBezTo>
                <a:cubicBezTo>
                  <a:pt x="54675" y="88476"/>
                  <a:pt x="33317" y="85193"/>
                  <a:pt x="17108" y="79421"/>
                </a:cubicBezTo>
                <a:cubicBezTo>
                  <a:pt x="11025" y="77244"/>
                  <a:pt x="5115" y="74513"/>
                  <a:pt x="0" y="71126"/>
                </a:cubicBezTo>
                <a:lnTo>
                  <a:pt x="0" y="99536"/>
                </a:lnTo>
                <a:cubicBezTo>
                  <a:pt x="0" y="114812"/>
                  <a:pt x="34665" y="127184"/>
                  <a:pt x="77417" y="127184"/>
                </a:cubicBezTo>
                <a:cubicBezTo>
                  <a:pt x="120168" y="127184"/>
                  <a:pt x="154833" y="114812"/>
                  <a:pt x="154833" y="99536"/>
                </a:cubicBezTo>
                <a:lnTo>
                  <a:pt x="154833" y="71126"/>
                </a:lnTo>
                <a:close/>
                <a:moveTo>
                  <a:pt x="154833" y="44238"/>
                </a:moveTo>
                <a:lnTo>
                  <a:pt x="154833" y="27649"/>
                </a:lnTo>
                <a:cubicBezTo>
                  <a:pt x="154833" y="12373"/>
                  <a:pt x="120168" y="0"/>
                  <a:pt x="77417" y="0"/>
                </a:cubicBezTo>
                <a:cubicBezTo>
                  <a:pt x="34665" y="0"/>
                  <a:pt x="0" y="12373"/>
                  <a:pt x="0" y="27649"/>
                </a:cubicBezTo>
                <a:lnTo>
                  <a:pt x="0" y="44238"/>
                </a:lnTo>
                <a:cubicBezTo>
                  <a:pt x="0" y="59514"/>
                  <a:pt x="34665" y="71887"/>
                  <a:pt x="77417" y="71887"/>
                </a:cubicBezTo>
                <a:cubicBezTo>
                  <a:pt x="120168" y="71887"/>
                  <a:pt x="154833" y="59514"/>
                  <a:pt x="154833" y="44238"/>
                </a:cubicBezTo>
                <a:close/>
                <a:moveTo>
                  <a:pt x="137725" y="134719"/>
                </a:moveTo>
                <a:cubicBezTo>
                  <a:pt x="121516" y="140490"/>
                  <a:pt x="100192" y="143774"/>
                  <a:pt x="77417" y="143774"/>
                </a:cubicBezTo>
                <a:cubicBezTo>
                  <a:pt x="54641" y="143774"/>
                  <a:pt x="33317" y="140490"/>
                  <a:pt x="17108" y="134719"/>
                </a:cubicBezTo>
                <a:cubicBezTo>
                  <a:pt x="11025" y="132541"/>
                  <a:pt x="5115" y="129811"/>
                  <a:pt x="0" y="126424"/>
                </a:cubicBezTo>
                <a:lnTo>
                  <a:pt x="0" y="149303"/>
                </a:lnTo>
                <a:cubicBezTo>
                  <a:pt x="0" y="164579"/>
                  <a:pt x="34665" y="176952"/>
                  <a:pt x="77417" y="176952"/>
                </a:cubicBezTo>
                <a:cubicBezTo>
                  <a:pt x="120168" y="176952"/>
                  <a:pt x="154833" y="164579"/>
                  <a:pt x="154833" y="149303"/>
                </a:cubicBezTo>
                <a:lnTo>
                  <a:pt x="154833" y="126424"/>
                </a:lnTo>
                <a:cubicBezTo>
                  <a:pt x="149718" y="129811"/>
                  <a:pt x="143843" y="132541"/>
                  <a:pt x="137725" y="134719"/>
                </a:cubicBezTo>
                <a:close/>
              </a:path>
            </a:pathLst>
          </a:custGeom>
          <a:solidFill>
            <a:srgbClr val="0071E3"/>
          </a:solidFill>
          <a:ln/>
        </p:spPr>
      </p:sp>
      <p:sp>
        <p:nvSpPr>
          <p:cNvPr id="9" name="Text 7">
            <a:extLst>
              <a:ext uri="{FF2B5EF4-FFF2-40B4-BE49-F238E27FC236}">
                <a16:creationId xmlns:a16="http://schemas.microsoft.com/office/drawing/2014/main" id="{609CBA0D-E240-B964-65CC-39020398C155}"/>
              </a:ext>
            </a:extLst>
          </p:cNvPr>
          <p:cNvSpPr/>
          <p:nvPr/>
        </p:nvSpPr>
        <p:spPr>
          <a:xfrm>
            <a:off x="4431321" y="2042253"/>
            <a:ext cx="3954880" cy="247733"/>
          </a:xfrm>
          <a:prstGeom prst="rect">
            <a:avLst/>
          </a:prstGeom>
          <a:noFill/>
          <a:ln/>
        </p:spPr>
        <p:txBody>
          <a:bodyPr wrap="square" lIns="0" tIns="0" rIns="0" bIns="0" rtlCol="0" anchor="ctr"/>
          <a:lstStyle/>
          <a:p>
            <a:pPr>
              <a:lnSpc>
                <a:spcPct val="130000"/>
              </a:lnSpc>
            </a:pPr>
            <a:r>
              <a:rPr lang="en-US" sz="1254" b="1">
                <a:solidFill>
                  <a:srgbClr val="1D1D1F"/>
                </a:solidFill>
                <a:latin typeface="Liter" pitchFamily="34" charset="0"/>
                <a:ea typeface="Liter" pitchFamily="34" charset="-122"/>
                <a:cs typeface="Liter" pitchFamily="34" charset="-120"/>
              </a:rPr>
              <a:t>Holdout Validation</a:t>
            </a:r>
            <a:endParaRPr lang="en-US" sz="1600"/>
          </a:p>
        </p:txBody>
      </p:sp>
      <p:sp>
        <p:nvSpPr>
          <p:cNvPr id="10" name="Text 8">
            <a:extLst>
              <a:ext uri="{FF2B5EF4-FFF2-40B4-BE49-F238E27FC236}">
                <a16:creationId xmlns:a16="http://schemas.microsoft.com/office/drawing/2014/main" id="{5739A92E-A4C2-2427-8AFD-511CD053EF0B}"/>
              </a:ext>
            </a:extLst>
          </p:cNvPr>
          <p:cNvSpPr/>
          <p:nvPr/>
        </p:nvSpPr>
        <p:spPr>
          <a:xfrm>
            <a:off x="4431321" y="2325376"/>
            <a:ext cx="3946032" cy="424685"/>
          </a:xfrm>
          <a:prstGeom prst="rect">
            <a:avLst/>
          </a:prstGeom>
          <a:noFill/>
          <a:ln/>
        </p:spPr>
        <p:txBody>
          <a:bodyPr wrap="square" lIns="0" tIns="0" rIns="0" bIns="0" rtlCol="0" anchor="ctr"/>
          <a:lstStyle/>
          <a:p>
            <a:pPr>
              <a:lnSpc>
                <a:spcPct val="130000"/>
              </a:lnSpc>
            </a:pPr>
            <a:r>
              <a:rPr lang="en-US" sz="1115">
                <a:solidFill>
                  <a:srgbClr val="86868B"/>
                </a:solidFill>
                <a:latin typeface="Liter" pitchFamily="34" charset="0"/>
                <a:ea typeface="Liter" pitchFamily="34" charset="-122"/>
                <a:cs typeface="Liter" pitchFamily="34" charset="-120"/>
              </a:rPr>
              <a:t>Model trained on 70% of data, tested on 30% holdout set to assess generalization</a:t>
            </a:r>
            <a:endParaRPr lang="en-US" sz="1600"/>
          </a:p>
        </p:txBody>
      </p:sp>
      <p:sp>
        <p:nvSpPr>
          <p:cNvPr id="11" name="Shape 9">
            <a:extLst>
              <a:ext uri="{FF2B5EF4-FFF2-40B4-BE49-F238E27FC236}">
                <a16:creationId xmlns:a16="http://schemas.microsoft.com/office/drawing/2014/main" id="{2A9CF8C9-ABFA-9428-8896-5D734F760721}"/>
              </a:ext>
            </a:extLst>
          </p:cNvPr>
          <p:cNvSpPr/>
          <p:nvPr/>
        </p:nvSpPr>
        <p:spPr>
          <a:xfrm>
            <a:off x="3865074" y="2891623"/>
            <a:ext cx="424685" cy="424685"/>
          </a:xfrm>
          <a:custGeom>
            <a:avLst/>
            <a:gdLst/>
            <a:ahLst/>
            <a:cxnLst/>
            <a:rect l="l" t="t" r="r" b="b"/>
            <a:pathLst>
              <a:path w="424685" h="424685">
                <a:moveTo>
                  <a:pt x="106171" y="0"/>
                </a:moveTo>
                <a:lnTo>
                  <a:pt x="318514" y="0"/>
                </a:lnTo>
                <a:cubicBezTo>
                  <a:pt x="377151" y="0"/>
                  <a:pt x="424685" y="47534"/>
                  <a:pt x="424685" y="106171"/>
                </a:cubicBezTo>
                <a:lnTo>
                  <a:pt x="424685" y="318514"/>
                </a:lnTo>
                <a:cubicBezTo>
                  <a:pt x="424685" y="377151"/>
                  <a:pt x="377151" y="424685"/>
                  <a:pt x="318514" y="424685"/>
                </a:cubicBezTo>
                <a:lnTo>
                  <a:pt x="106171" y="424685"/>
                </a:lnTo>
                <a:cubicBezTo>
                  <a:pt x="47534" y="424685"/>
                  <a:pt x="0" y="377151"/>
                  <a:pt x="0" y="318514"/>
                </a:cubicBezTo>
                <a:lnTo>
                  <a:pt x="0" y="106171"/>
                </a:lnTo>
                <a:cubicBezTo>
                  <a:pt x="0" y="47534"/>
                  <a:pt x="47534" y="0"/>
                  <a:pt x="106171" y="0"/>
                </a:cubicBezTo>
                <a:close/>
              </a:path>
            </a:pathLst>
          </a:custGeom>
          <a:solidFill>
            <a:srgbClr val="0071E3">
              <a:alpha val="10196"/>
            </a:srgbClr>
          </a:solidFill>
          <a:ln/>
        </p:spPr>
      </p:sp>
      <p:sp>
        <p:nvSpPr>
          <p:cNvPr id="12" name="Shape 10">
            <a:extLst>
              <a:ext uri="{FF2B5EF4-FFF2-40B4-BE49-F238E27FC236}">
                <a16:creationId xmlns:a16="http://schemas.microsoft.com/office/drawing/2014/main" id="{DAAD23B0-F295-3CF9-DBE1-5BA11E3779A4}"/>
              </a:ext>
            </a:extLst>
          </p:cNvPr>
          <p:cNvSpPr/>
          <p:nvPr/>
        </p:nvSpPr>
        <p:spPr>
          <a:xfrm>
            <a:off x="3988941" y="3015490"/>
            <a:ext cx="176952" cy="176952"/>
          </a:xfrm>
          <a:custGeom>
            <a:avLst/>
            <a:gdLst/>
            <a:ahLst/>
            <a:cxnLst/>
            <a:rect l="l" t="t" r="r" b="b"/>
            <a:pathLst>
              <a:path w="176952" h="176952">
                <a:moveTo>
                  <a:pt x="11060" y="11060"/>
                </a:moveTo>
                <a:cubicBezTo>
                  <a:pt x="17177" y="11060"/>
                  <a:pt x="22119" y="16002"/>
                  <a:pt x="22119" y="22119"/>
                </a:cubicBezTo>
                <a:lnTo>
                  <a:pt x="22119" y="138244"/>
                </a:lnTo>
                <a:cubicBezTo>
                  <a:pt x="22119" y="141285"/>
                  <a:pt x="24607" y="143774"/>
                  <a:pt x="27649" y="143774"/>
                </a:cubicBezTo>
                <a:lnTo>
                  <a:pt x="165893" y="143774"/>
                </a:lnTo>
                <a:cubicBezTo>
                  <a:pt x="172010" y="143774"/>
                  <a:pt x="176952" y="148716"/>
                  <a:pt x="176952" y="154833"/>
                </a:cubicBezTo>
                <a:cubicBezTo>
                  <a:pt x="176952" y="160950"/>
                  <a:pt x="172010" y="165893"/>
                  <a:pt x="165893" y="165893"/>
                </a:cubicBezTo>
                <a:lnTo>
                  <a:pt x="27649" y="165893"/>
                </a:lnTo>
                <a:cubicBezTo>
                  <a:pt x="12373" y="165893"/>
                  <a:pt x="0" y="153520"/>
                  <a:pt x="0" y="138244"/>
                </a:cubicBezTo>
                <a:lnTo>
                  <a:pt x="0" y="22119"/>
                </a:lnTo>
                <a:cubicBezTo>
                  <a:pt x="0" y="16002"/>
                  <a:pt x="4942" y="11060"/>
                  <a:pt x="11060" y="11060"/>
                </a:cubicBezTo>
                <a:close/>
                <a:moveTo>
                  <a:pt x="44238" y="33179"/>
                </a:moveTo>
                <a:cubicBezTo>
                  <a:pt x="44238" y="27061"/>
                  <a:pt x="49180" y="22119"/>
                  <a:pt x="55298" y="22119"/>
                </a:cubicBezTo>
                <a:lnTo>
                  <a:pt x="121655" y="22119"/>
                </a:lnTo>
                <a:cubicBezTo>
                  <a:pt x="127772" y="22119"/>
                  <a:pt x="132714" y="27061"/>
                  <a:pt x="132714" y="33179"/>
                </a:cubicBezTo>
                <a:cubicBezTo>
                  <a:pt x="132714" y="39296"/>
                  <a:pt x="127772" y="44238"/>
                  <a:pt x="121655" y="44238"/>
                </a:cubicBezTo>
                <a:lnTo>
                  <a:pt x="55298" y="44238"/>
                </a:lnTo>
                <a:cubicBezTo>
                  <a:pt x="49180" y="44238"/>
                  <a:pt x="44238" y="39296"/>
                  <a:pt x="44238" y="33179"/>
                </a:cubicBezTo>
                <a:close/>
                <a:moveTo>
                  <a:pt x="55298" y="60827"/>
                </a:moveTo>
                <a:lnTo>
                  <a:pt x="99536" y="60827"/>
                </a:lnTo>
                <a:cubicBezTo>
                  <a:pt x="105653" y="60827"/>
                  <a:pt x="110595" y="65770"/>
                  <a:pt x="110595" y="71887"/>
                </a:cubicBezTo>
                <a:cubicBezTo>
                  <a:pt x="110595" y="78004"/>
                  <a:pt x="105653" y="82946"/>
                  <a:pt x="99536" y="82946"/>
                </a:cubicBezTo>
                <a:lnTo>
                  <a:pt x="55298" y="82946"/>
                </a:lnTo>
                <a:cubicBezTo>
                  <a:pt x="49180" y="82946"/>
                  <a:pt x="44238" y="78004"/>
                  <a:pt x="44238" y="71887"/>
                </a:cubicBezTo>
                <a:cubicBezTo>
                  <a:pt x="44238" y="65770"/>
                  <a:pt x="49180" y="60827"/>
                  <a:pt x="55298" y="60827"/>
                </a:cubicBezTo>
                <a:close/>
                <a:moveTo>
                  <a:pt x="55298" y="99536"/>
                </a:moveTo>
                <a:lnTo>
                  <a:pt x="143774" y="99536"/>
                </a:lnTo>
                <a:cubicBezTo>
                  <a:pt x="149891" y="99536"/>
                  <a:pt x="154833" y="104478"/>
                  <a:pt x="154833" y="110595"/>
                </a:cubicBezTo>
                <a:cubicBezTo>
                  <a:pt x="154833" y="116712"/>
                  <a:pt x="149891" y="121655"/>
                  <a:pt x="143774" y="121655"/>
                </a:cubicBezTo>
                <a:lnTo>
                  <a:pt x="55298" y="121655"/>
                </a:lnTo>
                <a:cubicBezTo>
                  <a:pt x="49180" y="121655"/>
                  <a:pt x="44238" y="116712"/>
                  <a:pt x="44238" y="110595"/>
                </a:cubicBezTo>
                <a:cubicBezTo>
                  <a:pt x="44238" y="104478"/>
                  <a:pt x="49180" y="99536"/>
                  <a:pt x="55298" y="99536"/>
                </a:cubicBezTo>
                <a:close/>
              </a:path>
            </a:pathLst>
          </a:custGeom>
          <a:solidFill>
            <a:srgbClr val="0071E3"/>
          </a:solidFill>
          <a:ln/>
        </p:spPr>
      </p:sp>
      <p:sp>
        <p:nvSpPr>
          <p:cNvPr id="13" name="Text 11">
            <a:extLst>
              <a:ext uri="{FF2B5EF4-FFF2-40B4-BE49-F238E27FC236}">
                <a16:creationId xmlns:a16="http://schemas.microsoft.com/office/drawing/2014/main" id="{9F59FB09-EDDB-3AB6-1417-06D3F379F0C1}"/>
              </a:ext>
            </a:extLst>
          </p:cNvPr>
          <p:cNvSpPr/>
          <p:nvPr/>
        </p:nvSpPr>
        <p:spPr>
          <a:xfrm>
            <a:off x="4431321" y="2891623"/>
            <a:ext cx="3954880" cy="247733"/>
          </a:xfrm>
          <a:prstGeom prst="rect">
            <a:avLst/>
          </a:prstGeom>
          <a:noFill/>
          <a:ln/>
        </p:spPr>
        <p:txBody>
          <a:bodyPr wrap="square" lIns="0" tIns="0" rIns="0" bIns="0" rtlCol="0" anchor="ctr"/>
          <a:lstStyle/>
          <a:p>
            <a:pPr>
              <a:lnSpc>
                <a:spcPct val="130000"/>
              </a:lnSpc>
            </a:pPr>
            <a:r>
              <a:rPr lang="en-US" sz="1254" b="1">
                <a:solidFill>
                  <a:srgbClr val="1D1D1F"/>
                </a:solidFill>
                <a:latin typeface="Liter" pitchFamily="34" charset="0"/>
                <a:ea typeface="Liter" pitchFamily="34" charset="-122"/>
                <a:cs typeface="Liter" pitchFamily="34" charset="-120"/>
              </a:rPr>
              <a:t>Multiple Performance Metrics</a:t>
            </a:r>
            <a:endParaRPr lang="en-US" sz="1600"/>
          </a:p>
        </p:txBody>
      </p:sp>
      <p:sp>
        <p:nvSpPr>
          <p:cNvPr id="14" name="Text 12">
            <a:extLst>
              <a:ext uri="{FF2B5EF4-FFF2-40B4-BE49-F238E27FC236}">
                <a16:creationId xmlns:a16="http://schemas.microsoft.com/office/drawing/2014/main" id="{E2B24933-D033-634F-589E-BBFDB0C790B9}"/>
              </a:ext>
            </a:extLst>
          </p:cNvPr>
          <p:cNvSpPr/>
          <p:nvPr/>
        </p:nvSpPr>
        <p:spPr>
          <a:xfrm>
            <a:off x="4431321" y="3174746"/>
            <a:ext cx="3946032" cy="424685"/>
          </a:xfrm>
          <a:prstGeom prst="rect">
            <a:avLst/>
          </a:prstGeom>
          <a:noFill/>
          <a:ln/>
        </p:spPr>
        <p:txBody>
          <a:bodyPr wrap="square" lIns="0" tIns="0" rIns="0" bIns="0" rtlCol="0" anchor="ctr"/>
          <a:lstStyle/>
          <a:p>
            <a:pPr>
              <a:lnSpc>
                <a:spcPct val="130000"/>
              </a:lnSpc>
            </a:pPr>
            <a:r>
              <a:rPr lang="en-US" sz="1115">
                <a:solidFill>
                  <a:srgbClr val="86868B"/>
                </a:solidFill>
                <a:latin typeface="Liter" pitchFamily="34" charset="0"/>
                <a:ea typeface="Liter" pitchFamily="34" charset="-122"/>
                <a:cs typeface="Liter" pitchFamily="34" charset="-120"/>
              </a:rPr>
              <a:t>AUC, precision, recall, F1-score, and calibration evaluated comprehensively</a:t>
            </a:r>
            <a:endParaRPr lang="en-US" sz="1600"/>
          </a:p>
        </p:txBody>
      </p:sp>
      <p:sp>
        <p:nvSpPr>
          <p:cNvPr id="15" name="Shape 13">
            <a:extLst>
              <a:ext uri="{FF2B5EF4-FFF2-40B4-BE49-F238E27FC236}">
                <a16:creationId xmlns:a16="http://schemas.microsoft.com/office/drawing/2014/main" id="{5324E587-F68C-25F8-6EC0-F019BC236778}"/>
              </a:ext>
            </a:extLst>
          </p:cNvPr>
          <p:cNvSpPr/>
          <p:nvPr/>
        </p:nvSpPr>
        <p:spPr>
          <a:xfrm>
            <a:off x="3865074" y="3740993"/>
            <a:ext cx="424685" cy="424685"/>
          </a:xfrm>
          <a:custGeom>
            <a:avLst/>
            <a:gdLst/>
            <a:ahLst/>
            <a:cxnLst/>
            <a:rect l="l" t="t" r="r" b="b"/>
            <a:pathLst>
              <a:path w="424685" h="424685">
                <a:moveTo>
                  <a:pt x="106171" y="0"/>
                </a:moveTo>
                <a:lnTo>
                  <a:pt x="318514" y="0"/>
                </a:lnTo>
                <a:cubicBezTo>
                  <a:pt x="377151" y="0"/>
                  <a:pt x="424685" y="47534"/>
                  <a:pt x="424685" y="106171"/>
                </a:cubicBezTo>
                <a:lnTo>
                  <a:pt x="424685" y="318514"/>
                </a:lnTo>
                <a:cubicBezTo>
                  <a:pt x="424685" y="377151"/>
                  <a:pt x="377151" y="424685"/>
                  <a:pt x="318514" y="424685"/>
                </a:cubicBezTo>
                <a:lnTo>
                  <a:pt x="106171" y="424685"/>
                </a:lnTo>
                <a:cubicBezTo>
                  <a:pt x="47534" y="424685"/>
                  <a:pt x="0" y="377151"/>
                  <a:pt x="0" y="318514"/>
                </a:cubicBezTo>
                <a:lnTo>
                  <a:pt x="0" y="106171"/>
                </a:lnTo>
                <a:cubicBezTo>
                  <a:pt x="0" y="47534"/>
                  <a:pt x="47534" y="0"/>
                  <a:pt x="106171" y="0"/>
                </a:cubicBezTo>
                <a:close/>
              </a:path>
            </a:pathLst>
          </a:custGeom>
          <a:solidFill>
            <a:srgbClr val="0071E3">
              <a:alpha val="10196"/>
            </a:srgbClr>
          </a:solidFill>
          <a:ln/>
        </p:spPr>
      </p:sp>
      <p:sp>
        <p:nvSpPr>
          <p:cNvPr id="16" name="Shape 14">
            <a:extLst>
              <a:ext uri="{FF2B5EF4-FFF2-40B4-BE49-F238E27FC236}">
                <a16:creationId xmlns:a16="http://schemas.microsoft.com/office/drawing/2014/main" id="{67736B38-0622-6C15-814B-27933FEBF646}"/>
              </a:ext>
            </a:extLst>
          </p:cNvPr>
          <p:cNvSpPr/>
          <p:nvPr/>
        </p:nvSpPr>
        <p:spPr>
          <a:xfrm>
            <a:off x="4022119" y="3864860"/>
            <a:ext cx="110595" cy="176952"/>
          </a:xfrm>
          <a:custGeom>
            <a:avLst/>
            <a:gdLst/>
            <a:ahLst/>
            <a:cxnLst/>
            <a:rect l="l" t="t" r="r" b="b"/>
            <a:pathLst>
              <a:path w="110595" h="176952">
                <a:moveTo>
                  <a:pt x="47003" y="8295"/>
                </a:moveTo>
                <a:cubicBezTo>
                  <a:pt x="47003" y="3698"/>
                  <a:pt x="50701" y="0"/>
                  <a:pt x="55298" y="0"/>
                </a:cubicBezTo>
                <a:cubicBezTo>
                  <a:pt x="59894" y="0"/>
                  <a:pt x="63592" y="3698"/>
                  <a:pt x="63592" y="8295"/>
                </a:cubicBezTo>
                <a:lnTo>
                  <a:pt x="63592" y="22119"/>
                </a:lnTo>
                <a:lnTo>
                  <a:pt x="82946" y="22119"/>
                </a:lnTo>
                <a:cubicBezTo>
                  <a:pt x="89064" y="22119"/>
                  <a:pt x="94006" y="27061"/>
                  <a:pt x="94006" y="33179"/>
                </a:cubicBezTo>
                <a:cubicBezTo>
                  <a:pt x="94006" y="39296"/>
                  <a:pt x="89064" y="44238"/>
                  <a:pt x="82946" y="44238"/>
                </a:cubicBezTo>
                <a:lnTo>
                  <a:pt x="43236" y="44238"/>
                </a:lnTo>
                <a:cubicBezTo>
                  <a:pt x="34630" y="44238"/>
                  <a:pt x="27649" y="51219"/>
                  <a:pt x="27649" y="59825"/>
                </a:cubicBezTo>
                <a:cubicBezTo>
                  <a:pt x="27649" y="67601"/>
                  <a:pt x="33351" y="74168"/>
                  <a:pt x="41024" y="75274"/>
                </a:cubicBezTo>
                <a:lnTo>
                  <a:pt x="72682" y="79801"/>
                </a:lnTo>
                <a:cubicBezTo>
                  <a:pt x="91275" y="82462"/>
                  <a:pt x="105065" y="98360"/>
                  <a:pt x="105065" y="117127"/>
                </a:cubicBezTo>
                <a:cubicBezTo>
                  <a:pt x="105065" y="137967"/>
                  <a:pt x="88165" y="154833"/>
                  <a:pt x="67359" y="154833"/>
                </a:cubicBezTo>
                <a:lnTo>
                  <a:pt x="63592" y="154833"/>
                </a:lnTo>
                <a:lnTo>
                  <a:pt x="63592" y="168657"/>
                </a:lnTo>
                <a:cubicBezTo>
                  <a:pt x="63592" y="173254"/>
                  <a:pt x="59894" y="176952"/>
                  <a:pt x="55298" y="176952"/>
                </a:cubicBezTo>
                <a:cubicBezTo>
                  <a:pt x="50701" y="176952"/>
                  <a:pt x="47003" y="173254"/>
                  <a:pt x="47003" y="168657"/>
                </a:cubicBezTo>
                <a:lnTo>
                  <a:pt x="47003" y="154833"/>
                </a:lnTo>
                <a:lnTo>
                  <a:pt x="22119" y="154833"/>
                </a:lnTo>
                <a:cubicBezTo>
                  <a:pt x="16002" y="154833"/>
                  <a:pt x="11060" y="149891"/>
                  <a:pt x="11060" y="143774"/>
                </a:cubicBezTo>
                <a:cubicBezTo>
                  <a:pt x="11060" y="137656"/>
                  <a:pt x="16002" y="132714"/>
                  <a:pt x="22119" y="132714"/>
                </a:cubicBezTo>
                <a:lnTo>
                  <a:pt x="67359" y="132714"/>
                </a:lnTo>
                <a:cubicBezTo>
                  <a:pt x="75965" y="132714"/>
                  <a:pt x="82946" y="125733"/>
                  <a:pt x="82946" y="117127"/>
                </a:cubicBezTo>
                <a:cubicBezTo>
                  <a:pt x="82946" y="109351"/>
                  <a:pt x="77244" y="102784"/>
                  <a:pt x="69571" y="101678"/>
                </a:cubicBezTo>
                <a:lnTo>
                  <a:pt x="37913" y="97151"/>
                </a:lnTo>
                <a:cubicBezTo>
                  <a:pt x="19320" y="94524"/>
                  <a:pt x="5530" y="78592"/>
                  <a:pt x="5530" y="59825"/>
                </a:cubicBezTo>
                <a:cubicBezTo>
                  <a:pt x="5530" y="39019"/>
                  <a:pt x="22430" y="22119"/>
                  <a:pt x="43236" y="22119"/>
                </a:cubicBezTo>
                <a:lnTo>
                  <a:pt x="47003" y="22119"/>
                </a:lnTo>
                <a:lnTo>
                  <a:pt x="47003" y="8295"/>
                </a:lnTo>
                <a:close/>
              </a:path>
            </a:pathLst>
          </a:custGeom>
          <a:solidFill>
            <a:srgbClr val="0071E3"/>
          </a:solidFill>
          <a:ln/>
        </p:spPr>
      </p:sp>
      <p:sp>
        <p:nvSpPr>
          <p:cNvPr id="17" name="Text 15">
            <a:extLst>
              <a:ext uri="{FF2B5EF4-FFF2-40B4-BE49-F238E27FC236}">
                <a16:creationId xmlns:a16="http://schemas.microsoft.com/office/drawing/2014/main" id="{69578B4D-48F5-3E76-6AD5-B001F5DA770B}"/>
              </a:ext>
            </a:extLst>
          </p:cNvPr>
          <p:cNvSpPr/>
          <p:nvPr/>
        </p:nvSpPr>
        <p:spPr>
          <a:xfrm>
            <a:off x="4431321" y="3740993"/>
            <a:ext cx="3954880" cy="247733"/>
          </a:xfrm>
          <a:prstGeom prst="rect">
            <a:avLst/>
          </a:prstGeom>
          <a:noFill/>
          <a:ln/>
        </p:spPr>
        <p:txBody>
          <a:bodyPr wrap="square" lIns="0" tIns="0" rIns="0" bIns="0" rtlCol="0" anchor="ctr"/>
          <a:lstStyle/>
          <a:p>
            <a:pPr>
              <a:lnSpc>
                <a:spcPct val="130000"/>
              </a:lnSpc>
            </a:pPr>
            <a:r>
              <a:rPr lang="en-US" sz="1254" b="1">
                <a:solidFill>
                  <a:srgbClr val="1D1D1F"/>
                </a:solidFill>
                <a:latin typeface="Liter" pitchFamily="34" charset="0"/>
                <a:ea typeface="Liter" pitchFamily="34" charset="-122"/>
                <a:cs typeface="Liter" pitchFamily="34" charset="-120"/>
              </a:rPr>
              <a:t>Economic Evaluation</a:t>
            </a:r>
            <a:endParaRPr lang="en-US" sz="1600"/>
          </a:p>
        </p:txBody>
      </p:sp>
      <p:sp>
        <p:nvSpPr>
          <p:cNvPr id="18" name="Text 16">
            <a:extLst>
              <a:ext uri="{FF2B5EF4-FFF2-40B4-BE49-F238E27FC236}">
                <a16:creationId xmlns:a16="http://schemas.microsoft.com/office/drawing/2014/main" id="{B09F532F-05DE-6216-D1CD-0904D46F2EC7}"/>
              </a:ext>
            </a:extLst>
          </p:cNvPr>
          <p:cNvSpPr/>
          <p:nvPr/>
        </p:nvSpPr>
        <p:spPr>
          <a:xfrm>
            <a:off x="4431321" y="4024117"/>
            <a:ext cx="3946032" cy="424685"/>
          </a:xfrm>
          <a:prstGeom prst="rect">
            <a:avLst/>
          </a:prstGeom>
          <a:noFill/>
          <a:ln/>
        </p:spPr>
        <p:txBody>
          <a:bodyPr wrap="square" lIns="0" tIns="0" rIns="0" bIns="0" rtlCol="0" anchor="ctr"/>
          <a:lstStyle/>
          <a:p>
            <a:pPr>
              <a:lnSpc>
                <a:spcPct val="130000"/>
              </a:lnSpc>
            </a:pPr>
            <a:r>
              <a:rPr lang="en-US" sz="1115">
                <a:solidFill>
                  <a:srgbClr val="86868B"/>
                </a:solidFill>
                <a:latin typeface="Liter" pitchFamily="34" charset="0"/>
                <a:ea typeface="Liter" pitchFamily="34" charset="-122"/>
                <a:cs typeface="Liter" pitchFamily="34" charset="-120"/>
              </a:rPr>
              <a:t>Profit-based assessment, not just accuracy metrics that ignore business value</a:t>
            </a:r>
            <a:endParaRPr lang="en-US" sz="1600"/>
          </a:p>
        </p:txBody>
      </p:sp>
      <p:sp>
        <p:nvSpPr>
          <p:cNvPr id="19" name="Shape 17">
            <a:extLst>
              <a:ext uri="{FF2B5EF4-FFF2-40B4-BE49-F238E27FC236}">
                <a16:creationId xmlns:a16="http://schemas.microsoft.com/office/drawing/2014/main" id="{5FE8D115-6382-A35B-D02B-715ADE143AEA}"/>
              </a:ext>
            </a:extLst>
          </p:cNvPr>
          <p:cNvSpPr/>
          <p:nvPr/>
        </p:nvSpPr>
        <p:spPr>
          <a:xfrm>
            <a:off x="3865074" y="4590363"/>
            <a:ext cx="424685" cy="424685"/>
          </a:xfrm>
          <a:custGeom>
            <a:avLst/>
            <a:gdLst/>
            <a:ahLst/>
            <a:cxnLst/>
            <a:rect l="l" t="t" r="r" b="b"/>
            <a:pathLst>
              <a:path w="424685" h="424685">
                <a:moveTo>
                  <a:pt x="106171" y="0"/>
                </a:moveTo>
                <a:lnTo>
                  <a:pt x="318514" y="0"/>
                </a:lnTo>
                <a:cubicBezTo>
                  <a:pt x="377151" y="0"/>
                  <a:pt x="424685" y="47534"/>
                  <a:pt x="424685" y="106171"/>
                </a:cubicBezTo>
                <a:lnTo>
                  <a:pt x="424685" y="318514"/>
                </a:lnTo>
                <a:cubicBezTo>
                  <a:pt x="424685" y="377151"/>
                  <a:pt x="377151" y="424685"/>
                  <a:pt x="318514" y="424685"/>
                </a:cubicBezTo>
                <a:lnTo>
                  <a:pt x="106171" y="424685"/>
                </a:lnTo>
                <a:cubicBezTo>
                  <a:pt x="47534" y="424685"/>
                  <a:pt x="0" y="377151"/>
                  <a:pt x="0" y="318514"/>
                </a:cubicBezTo>
                <a:lnTo>
                  <a:pt x="0" y="106171"/>
                </a:lnTo>
                <a:cubicBezTo>
                  <a:pt x="0" y="47534"/>
                  <a:pt x="47534" y="0"/>
                  <a:pt x="106171" y="0"/>
                </a:cubicBezTo>
                <a:close/>
              </a:path>
            </a:pathLst>
          </a:custGeom>
          <a:solidFill>
            <a:srgbClr val="0071E3">
              <a:alpha val="10196"/>
            </a:srgbClr>
          </a:solidFill>
          <a:ln/>
        </p:spPr>
      </p:sp>
      <p:sp>
        <p:nvSpPr>
          <p:cNvPr id="20" name="Shape 18">
            <a:extLst>
              <a:ext uri="{FF2B5EF4-FFF2-40B4-BE49-F238E27FC236}">
                <a16:creationId xmlns:a16="http://schemas.microsoft.com/office/drawing/2014/main" id="{93A1237B-730D-8E30-29B1-239CA13A9A6B}"/>
              </a:ext>
            </a:extLst>
          </p:cNvPr>
          <p:cNvSpPr/>
          <p:nvPr/>
        </p:nvSpPr>
        <p:spPr>
          <a:xfrm>
            <a:off x="3988941" y="4714230"/>
            <a:ext cx="176952" cy="176952"/>
          </a:xfrm>
          <a:custGeom>
            <a:avLst/>
            <a:gdLst/>
            <a:ahLst/>
            <a:cxnLst/>
            <a:rect l="l" t="t" r="r" b="b"/>
            <a:pathLst>
              <a:path w="176952" h="176952">
                <a:moveTo>
                  <a:pt x="11060" y="22119"/>
                </a:moveTo>
                <a:cubicBezTo>
                  <a:pt x="4942" y="22119"/>
                  <a:pt x="0" y="27061"/>
                  <a:pt x="0" y="33179"/>
                </a:cubicBezTo>
                <a:cubicBezTo>
                  <a:pt x="0" y="39296"/>
                  <a:pt x="4942" y="44238"/>
                  <a:pt x="11060" y="44238"/>
                </a:cubicBezTo>
                <a:lnTo>
                  <a:pt x="41024" y="44238"/>
                </a:lnTo>
                <a:cubicBezTo>
                  <a:pt x="45275" y="54019"/>
                  <a:pt x="55021" y="60827"/>
                  <a:pt x="66357" y="60827"/>
                </a:cubicBezTo>
                <a:cubicBezTo>
                  <a:pt x="77693" y="60827"/>
                  <a:pt x="87439" y="54019"/>
                  <a:pt x="91690" y="44238"/>
                </a:cubicBezTo>
                <a:lnTo>
                  <a:pt x="165893" y="44238"/>
                </a:lnTo>
                <a:cubicBezTo>
                  <a:pt x="172010" y="44238"/>
                  <a:pt x="176952" y="39296"/>
                  <a:pt x="176952" y="33179"/>
                </a:cubicBezTo>
                <a:cubicBezTo>
                  <a:pt x="176952" y="27061"/>
                  <a:pt x="172010" y="22119"/>
                  <a:pt x="165893" y="22119"/>
                </a:cubicBezTo>
                <a:lnTo>
                  <a:pt x="91690" y="22119"/>
                </a:lnTo>
                <a:cubicBezTo>
                  <a:pt x="87439" y="12338"/>
                  <a:pt x="77693" y="5530"/>
                  <a:pt x="66357" y="5530"/>
                </a:cubicBezTo>
                <a:cubicBezTo>
                  <a:pt x="55021" y="5530"/>
                  <a:pt x="45275" y="12338"/>
                  <a:pt x="41024" y="22119"/>
                </a:cubicBezTo>
                <a:lnTo>
                  <a:pt x="11060" y="22119"/>
                </a:lnTo>
                <a:close/>
                <a:moveTo>
                  <a:pt x="11060" y="77417"/>
                </a:moveTo>
                <a:cubicBezTo>
                  <a:pt x="4942" y="77417"/>
                  <a:pt x="0" y="82359"/>
                  <a:pt x="0" y="88476"/>
                </a:cubicBezTo>
                <a:cubicBezTo>
                  <a:pt x="0" y="94593"/>
                  <a:pt x="4942" y="99536"/>
                  <a:pt x="11060" y="99536"/>
                </a:cubicBezTo>
                <a:lnTo>
                  <a:pt x="96321" y="99536"/>
                </a:lnTo>
                <a:cubicBezTo>
                  <a:pt x="100572" y="109316"/>
                  <a:pt x="110319" y="116125"/>
                  <a:pt x="121655" y="116125"/>
                </a:cubicBezTo>
                <a:cubicBezTo>
                  <a:pt x="132991" y="116125"/>
                  <a:pt x="142737" y="109316"/>
                  <a:pt x="146988" y="99536"/>
                </a:cubicBezTo>
                <a:lnTo>
                  <a:pt x="165893" y="99536"/>
                </a:lnTo>
                <a:cubicBezTo>
                  <a:pt x="172010" y="99536"/>
                  <a:pt x="176952" y="94593"/>
                  <a:pt x="176952" y="88476"/>
                </a:cubicBezTo>
                <a:cubicBezTo>
                  <a:pt x="176952" y="82359"/>
                  <a:pt x="172010" y="77417"/>
                  <a:pt x="165893" y="77417"/>
                </a:cubicBezTo>
                <a:lnTo>
                  <a:pt x="146988" y="77417"/>
                </a:lnTo>
                <a:cubicBezTo>
                  <a:pt x="142737" y="67636"/>
                  <a:pt x="132991" y="60827"/>
                  <a:pt x="121655" y="60827"/>
                </a:cubicBezTo>
                <a:cubicBezTo>
                  <a:pt x="110319" y="60827"/>
                  <a:pt x="100572" y="67636"/>
                  <a:pt x="96321" y="77417"/>
                </a:cubicBezTo>
                <a:lnTo>
                  <a:pt x="11060" y="77417"/>
                </a:lnTo>
                <a:close/>
                <a:moveTo>
                  <a:pt x="11060" y="132714"/>
                </a:moveTo>
                <a:cubicBezTo>
                  <a:pt x="4942" y="132714"/>
                  <a:pt x="0" y="137656"/>
                  <a:pt x="0" y="143774"/>
                </a:cubicBezTo>
                <a:cubicBezTo>
                  <a:pt x="0" y="149891"/>
                  <a:pt x="4942" y="154833"/>
                  <a:pt x="11060" y="154833"/>
                </a:cubicBezTo>
                <a:lnTo>
                  <a:pt x="29964" y="154833"/>
                </a:lnTo>
                <a:cubicBezTo>
                  <a:pt x="34215" y="164614"/>
                  <a:pt x="43962" y="171422"/>
                  <a:pt x="55298" y="171422"/>
                </a:cubicBezTo>
                <a:cubicBezTo>
                  <a:pt x="66634" y="171422"/>
                  <a:pt x="76380" y="164614"/>
                  <a:pt x="80631" y="154833"/>
                </a:cubicBezTo>
                <a:lnTo>
                  <a:pt x="165893" y="154833"/>
                </a:lnTo>
                <a:cubicBezTo>
                  <a:pt x="172010" y="154833"/>
                  <a:pt x="176952" y="149891"/>
                  <a:pt x="176952" y="143774"/>
                </a:cubicBezTo>
                <a:cubicBezTo>
                  <a:pt x="176952" y="137656"/>
                  <a:pt x="172010" y="132714"/>
                  <a:pt x="165893" y="132714"/>
                </a:cubicBezTo>
                <a:lnTo>
                  <a:pt x="80631" y="132714"/>
                </a:lnTo>
                <a:cubicBezTo>
                  <a:pt x="76380" y="122933"/>
                  <a:pt x="66634" y="116125"/>
                  <a:pt x="55298" y="116125"/>
                </a:cubicBezTo>
                <a:cubicBezTo>
                  <a:pt x="43962" y="116125"/>
                  <a:pt x="34215" y="122933"/>
                  <a:pt x="29964" y="132714"/>
                </a:cubicBezTo>
                <a:lnTo>
                  <a:pt x="11060" y="132714"/>
                </a:lnTo>
                <a:close/>
              </a:path>
            </a:pathLst>
          </a:custGeom>
          <a:solidFill>
            <a:srgbClr val="0071E3"/>
          </a:solidFill>
          <a:ln/>
        </p:spPr>
      </p:sp>
      <p:sp>
        <p:nvSpPr>
          <p:cNvPr id="21" name="Text 19">
            <a:extLst>
              <a:ext uri="{FF2B5EF4-FFF2-40B4-BE49-F238E27FC236}">
                <a16:creationId xmlns:a16="http://schemas.microsoft.com/office/drawing/2014/main" id="{75D110BA-1E8C-ADCD-AF56-016A345D3FCC}"/>
              </a:ext>
            </a:extLst>
          </p:cNvPr>
          <p:cNvSpPr/>
          <p:nvPr/>
        </p:nvSpPr>
        <p:spPr>
          <a:xfrm>
            <a:off x="4431321" y="4590363"/>
            <a:ext cx="3954880" cy="247733"/>
          </a:xfrm>
          <a:prstGeom prst="rect">
            <a:avLst/>
          </a:prstGeom>
          <a:noFill/>
          <a:ln/>
        </p:spPr>
        <p:txBody>
          <a:bodyPr wrap="square" lIns="0" tIns="0" rIns="0" bIns="0" rtlCol="0" anchor="ctr"/>
          <a:lstStyle/>
          <a:p>
            <a:pPr>
              <a:lnSpc>
                <a:spcPct val="130000"/>
              </a:lnSpc>
            </a:pPr>
            <a:r>
              <a:rPr lang="en-US" sz="1254" b="1">
                <a:solidFill>
                  <a:srgbClr val="1D1D1F"/>
                </a:solidFill>
                <a:latin typeface="Liter" pitchFamily="34" charset="0"/>
                <a:ea typeface="Liter" pitchFamily="34" charset="-122"/>
                <a:cs typeface="Liter" pitchFamily="34" charset="-120"/>
              </a:rPr>
              <a:t>Sensitivity Analysis</a:t>
            </a:r>
            <a:endParaRPr lang="en-US" sz="1600"/>
          </a:p>
        </p:txBody>
      </p:sp>
      <p:sp>
        <p:nvSpPr>
          <p:cNvPr id="22" name="Text 20">
            <a:extLst>
              <a:ext uri="{FF2B5EF4-FFF2-40B4-BE49-F238E27FC236}">
                <a16:creationId xmlns:a16="http://schemas.microsoft.com/office/drawing/2014/main" id="{628EEC06-94AF-E358-9872-F7822F3B1BA7}"/>
              </a:ext>
            </a:extLst>
          </p:cNvPr>
          <p:cNvSpPr/>
          <p:nvPr/>
        </p:nvSpPr>
        <p:spPr>
          <a:xfrm>
            <a:off x="4431321" y="4873487"/>
            <a:ext cx="3946032" cy="424685"/>
          </a:xfrm>
          <a:prstGeom prst="rect">
            <a:avLst/>
          </a:prstGeom>
          <a:noFill/>
          <a:ln/>
        </p:spPr>
        <p:txBody>
          <a:bodyPr wrap="square" lIns="0" tIns="0" rIns="0" bIns="0" rtlCol="0" anchor="ctr"/>
          <a:lstStyle/>
          <a:p>
            <a:pPr>
              <a:lnSpc>
                <a:spcPct val="130000"/>
              </a:lnSpc>
            </a:pPr>
            <a:r>
              <a:rPr lang="en-US" sz="1115">
                <a:solidFill>
                  <a:srgbClr val="86868B"/>
                </a:solidFill>
                <a:latin typeface="Liter" pitchFamily="34" charset="0"/>
                <a:ea typeface="Liter" pitchFamily="34" charset="-122"/>
                <a:cs typeface="Liter" pitchFamily="34" charset="-120"/>
              </a:rPr>
              <a:t>Tested across multiple uplift assumptions and targeting scenarios</a:t>
            </a:r>
            <a:endParaRPr lang="en-US" sz="1600"/>
          </a:p>
        </p:txBody>
      </p:sp>
      <p:sp>
        <p:nvSpPr>
          <p:cNvPr id="23" name="Shape 21">
            <a:extLst>
              <a:ext uri="{FF2B5EF4-FFF2-40B4-BE49-F238E27FC236}">
                <a16:creationId xmlns:a16="http://schemas.microsoft.com/office/drawing/2014/main" id="{4606EF78-0EA0-9ED3-BB1E-B8387BD078A6}"/>
              </a:ext>
            </a:extLst>
          </p:cNvPr>
          <p:cNvSpPr/>
          <p:nvPr/>
        </p:nvSpPr>
        <p:spPr>
          <a:xfrm>
            <a:off x="3649782" y="5660926"/>
            <a:ext cx="4872081" cy="1067611"/>
          </a:xfrm>
          <a:custGeom>
            <a:avLst/>
            <a:gdLst/>
            <a:ahLst/>
            <a:cxnLst/>
            <a:rect l="l" t="t" r="r" b="b"/>
            <a:pathLst>
              <a:path w="4872081" h="1067611">
                <a:moveTo>
                  <a:pt x="141565" y="0"/>
                </a:moveTo>
                <a:lnTo>
                  <a:pt x="4730516" y="0"/>
                </a:lnTo>
                <a:cubicBezTo>
                  <a:pt x="4808700" y="0"/>
                  <a:pt x="4872081" y="63381"/>
                  <a:pt x="4872081" y="141565"/>
                </a:cubicBezTo>
                <a:lnTo>
                  <a:pt x="4872081" y="926046"/>
                </a:lnTo>
                <a:cubicBezTo>
                  <a:pt x="4872081" y="1004230"/>
                  <a:pt x="4808700" y="1067611"/>
                  <a:pt x="4730516" y="1067611"/>
                </a:cubicBezTo>
                <a:lnTo>
                  <a:pt x="141565" y="1067611"/>
                </a:lnTo>
                <a:cubicBezTo>
                  <a:pt x="63381" y="1067611"/>
                  <a:pt x="0" y="1004230"/>
                  <a:pt x="0" y="926046"/>
                </a:cubicBezTo>
                <a:lnTo>
                  <a:pt x="0" y="141565"/>
                </a:lnTo>
                <a:cubicBezTo>
                  <a:pt x="0" y="63381"/>
                  <a:pt x="63381" y="0"/>
                  <a:pt x="141565" y="0"/>
                </a:cubicBezTo>
                <a:close/>
              </a:path>
            </a:pathLst>
          </a:custGeom>
          <a:gradFill flip="none" rotWithShape="1">
            <a:gsLst>
              <a:gs pos="0">
                <a:srgbClr val="0071E3">
                  <a:alpha val="10000"/>
                </a:srgbClr>
              </a:gs>
              <a:gs pos="100000">
                <a:srgbClr val="0071E3">
                  <a:alpha val="5000"/>
                </a:srgbClr>
              </a:gs>
            </a:gsLst>
            <a:lin ang="0" scaled="1"/>
          </a:gradFill>
          <a:ln w="8467">
            <a:solidFill>
              <a:srgbClr val="0071E3">
                <a:alpha val="20000"/>
              </a:srgbClr>
            </a:solidFill>
            <a:prstDash val="solid"/>
          </a:ln>
        </p:spPr>
      </p:sp>
      <p:sp>
        <p:nvSpPr>
          <p:cNvPr id="24" name="Shape 22">
            <a:extLst>
              <a:ext uri="{FF2B5EF4-FFF2-40B4-BE49-F238E27FC236}">
                <a16:creationId xmlns:a16="http://schemas.microsoft.com/office/drawing/2014/main" id="{39CFC8C7-A36D-9619-5812-340B14F47C7E}"/>
              </a:ext>
            </a:extLst>
          </p:cNvPr>
          <p:cNvSpPr/>
          <p:nvPr/>
        </p:nvSpPr>
        <p:spPr>
          <a:xfrm>
            <a:off x="3856227" y="5840822"/>
            <a:ext cx="212343" cy="212343"/>
          </a:xfrm>
          <a:custGeom>
            <a:avLst/>
            <a:gdLst/>
            <a:ahLst/>
            <a:cxnLst/>
            <a:rect l="l" t="t" r="r" b="b"/>
            <a:pathLst>
              <a:path w="212343" h="212343">
                <a:moveTo>
                  <a:pt x="106171" y="0"/>
                </a:moveTo>
                <a:cubicBezTo>
                  <a:pt x="108079" y="0"/>
                  <a:pt x="109987" y="415"/>
                  <a:pt x="111729" y="1203"/>
                </a:cubicBezTo>
                <a:lnTo>
                  <a:pt x="189864" y="34340"/>
                </a:lnTo>
                <a:cubicBezTo>
                  <a:pt x="198988" y="38197"/>
                  <a:pt x="205790" y="47196"/>
                  <a:pt x="205748" y="58062"/>
                </a:cubicBezTo>
                <a:cubicBezTo>
                  <a:pt x="205541" y="99204"/>
                  <a:pt x="188620" y="174478"/>
                  <a:pt x="117162" y="208693"/>
                </a:cubicBezTo>
                <a:cubicBezTo>
                  <a:pt x="110236" y="212011"/>
                  <a:pt x="102190" y="212011"/>
                  <a:pt x="95264" y="208693"/>
                </a:cubicBezTo>
                <a:cubicBezTo>
                  <a:pt x="23764" y="174478"/>
                  <a:pt x="6885" y="99204"/>
                  <a:pt x="6677" y="58062"/>
                </a:cubicBezTo>
                <a:cubicBezTo>
                  <a:pt x="6636" y="47196"/>
                  <a:pt x="13437" y="38197"/>
                  <a:pt x="22561" y="34340"/>
                </a:cubicBezTo>
                <a:lnTo>
                  <a:pt x="100655" y="1203"/>
                </a:lnTo>
                <a:cubicBezTo>
                  <a:pt x="102397" y="415"/>
                  <a:pt x="104263" y="0"/>
                  <a:pt x="106171" y="0"/>
                </a:cubicBezTo>
                <a:close/>
                <a:moveTo>
                  <a:pt x="106171" y="27704"/>
                </a:moveTo>
                <a:lnTo>
                  <a:pt x="106171" y="184514"/>
                </a:lnTo>
                <a:cubicBezTo>
                  <a:pt x="163404" y="156810"/>
                  <a:pt x="178791" y="95430"/>
                  <a:pt x="179164" y="58685"/>
                </a:cubicBezTo>
                <a:lnTo>
                  <a:pt x="106171" y="27746"/>
                </a:lnTo>
                <a:lnTo>
                  <a:pt x="106171" y="27746"/>
                </a:lnTo>
                <a:close/>
              </a:path>
            </a:pathLst>
          </a:custGeom>
          <a:solidFill>
            <a:srgbClr val="0071E3"/>
          </a:solidFill>
          <a:ln/>
        </p:spPr>
      </p:sp>
      <p:sp>
        <p:nvSpPr>
          <p:cNvPr id="25" name="Text 23">
            <a:extLst>
              <a:ext uri="{FF2B5EF4-FFF2-40B4-BE49-F238E27FC236}">
                <a16:creationId xmlns:a16="http://schemas.microsoft.com/office/drawing/2014/main" id="{D252427F-6101-C991-8874-1E7B011DBDAC}"/>
              </a:ext>
            </a:extLst>
          </p:cNvPr>
          <p:cNvSpPr/>
          <p:nvPr/>
        </p:nvSpPr>
        <p:spPr>
          <a:xfrm>
            <a:off x="4201283" y="5840822"/>
            <a:ext cx="4220308" cy="247733"/>
          </a:xfrm>
          <a:prstGeom prst="rect">
            <a:avLst/>
          </a:prstGeom>
          <a:noFill/>
          <a:ln/>
        </p:spPr>
        <p:txBody>
          <a:bodyPr wrap="square" lIns="0" tIns="0" rIns="0" bIns="0" rtlCol="0" anchor="ctr"/>
          <a:lstStyle/>
          <a:p>
            <a:pPr>
              <a:lnSpc>
                <a:spcPct val="130000"/>
              </a:lnSpc>
            </a:pPr>
            <a:r>
              <a:rPr lang="en-US" sz="1254" b="1">
                <a:solidFill>
                  <a:srgbClr val="1D1D1F"/>
                </a:solidFill>
                <a:latin typeface="Liter" pitchFamily="34" charset="0"/>
                <a:ea typeface="Liter" pitchFamily="34" charset="-122"/>
                <a:cs typeface="Liter" pitchFamily="34" charset="-120"/>
              </a:rPr>
              <a:t>Robustness Guarantee</a:t>
            </a:r>
            <a:endParaRPr lang="en-US" sz="1600"/>
          </a:p>
        </p:txBody>
      </p:sp>
      <p:sp>
        <p:nvSpPr>
          <p:cNvPr id="26" name="Text 24">
            <a:extLst>
              <a:ext uri="{FF2B5EF4-FFF2-40B4-BE49-F238E27FC236}">
                <a16:creationId xmlns:a16="http://schemas.microsoft.com/office/drawing/2014/main" id="{C7D65F71-602A-8236-3D4D-DCB585EDEEA4}"/>
              </a:ext>
            </a:extLst>
          </p:cNvPr>
          <p:cNvSpPr/>
          <p:nvPr/>
        </p:nvSpPr>
        <p:spPr>
          <a:xfrm>
            <a:off x="4201283" y="6123945"/>
            <a:ext cx="4211460" cy="424685"/>
          </a:xfrm>
          <a:prstGeom prst="rect">
            <a:avLst/>
          </a:prstGeom>
          <a:noFill/>
          <a:ln/>
        </p:spPr>
        <p:txBody>
          <a:bodyPr wrap="square" lIns="0" tIns="0" rIns="0" bIns="0" rtlCol="0" anchor="ctr"/>
          <a:lstStyle/>
          <a:p>
            <a:pPr>
              <a:lnSpc>
                <a:spcPct val="130000"/>
              </a:lnSpc>
            </a:pPr>
            <a:r>
              <a:rPr lang="en-US" sz="1115">
                <a:solidFill>
                  <a:srgbClr val="86868B"/>
                </a:solidFill>
                <a:latin typeface="Liter" pitchFamily="34" charset="0"/>
                <a:ea typeface="Liter" pitchFamily="34" charset="-122"/>
                <a:cs typeface="Liter" pitchFamily="34" charset="-120"/>
              </a:rPr>
              <a:t>Results hold across different time periods, user segments, and model specifications</a:t>
            </a:r>
            <a:endParaRPr lang="en-US" sz="1600"/>
          </a:p>
        </p:txBody>
      </p:sp>
    </p:spTree>
    <p:extLst>
      <p:ext uri="{BB962C8B-B14F-4D97-AF65-F5344CB8AC3E}">
        <p14:creationId xmlns:p14="http://schemas.microsoft.com/office/powerpoint/2010/main" val="855190966"/>
      </p:ext>
    </p:extLst>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26</Slides>
  <Notes>16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Targeting to Increase Paid Subscriptions at High Note</dc:title>
  <dc:subject>Data-Driven Targeting to Increase Paid Subscriptions at High Note</dc:subject>
  <dc:creator>Kimi</dc:creator>
  <cp:lastModifiedBy>Kimi</cp:lastModifiedBy>
  <cp:revision>284</cp:revision>
  <dcterms:created xsi:type="dcterms:W3CDTF">2026-02-08T23:28:36Z</dcterms:created>
  <dcterms:modified xsi:type="dcterms:W3CDTF">2026-02-09T02:43:52Z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{"Label":"Data-Driven Targeting to Increase Paid Subscriptions at High Note","ContentProducer":"001191110108MACG2KBH8F10000","ProduceID":"19c39a63-c882-8aaf-8000-000003602974","ReservedCode1":"","ContentPropagator":"001191110108MACG2KBH8F20000","PropagateID":"19c39a63-c882-8aaf-8000-000003602974","ReservedCode2":""}</vt:lpwstr>
  </property>
</Properties>
</file>